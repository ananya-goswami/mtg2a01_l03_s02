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77" r:id="rId6"/>
    <p:sldId id="260" r:id="rId7"/>
    <p:sldId id="261" r:id="rId8"/>
    <p:sldId id="262" r:id="rId9"/>
    <p:sldId id="278"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E2E61-5E57-4F8F-B81F-D7B924797574}"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60D234-A757-42F9-A568-AA7A891A2FF3}" type="slidenum">
              <a:rPr lang="en-IN" smtClean="0"/>
              <a:t>‹#›</a:t>
            </a:fld>
            <a:endParaRPr lang="en-IN"/>
          </a:p>
        </p:txBody>
      </p:sp>
    </p:spTree>
    <p:extLst>
      <p:ext uri="{BB962C8B-B14F-4D97-AF65-F5344CB8AC3E}">
        <p14:creationId xmlns:p14="http://schemas.microsoft.com/office/powerpoint/2010/main" val="164755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60D234-A757-42F9-A568-AA7A891A2FF3}" type="slidenum">
              <a:rPr lang="en-IN" smtClean="0"/>
              <a:t>6</a:t>
            </a:fld>
            <a:endParaRPr lang="en-IN"/>
          </a:p>
        </p:txBody>
      </p:sp>
    </p:spTree>
    <p:extLst>
      <p:ext uri="{BB962C8B-B14F-4D97-AF65-F5344CB8AC3E}">
        <p14:creationId xmlns:p14="http://schemas.microsoft.com/office/powerpoint/2010/main" val="501136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377440"/>
            <a:ext cx="10728655" cy="2011680"/>
          </a:xfrm>
          <a:prstGeom prst="rect">
            <a:avLst/>
          </a:prstGeom>
          <a:noFill/>
        </p:spPr>
        <p:txBody>
          <a:bodyPr wrap="square">
            <a:spAutoFit/>
          </a:bodyPr>
          <a:lstStyle/>
          <a:p>
            <a:pPr algn="ctr"/>
            <a:r>
              <a:rPr sz="4000" b="1">
                <a:solidFill>
                  <a:srgbClr val="0B3D8C"/>
                </a:solidFill>
              </a:rPr>
              <a:t>MTG2A01_L03_S02 — दस पेंसिलें, एक बंडल!</a:t>
            </a:r>
          </a:p>
          <a:p>
            <a:pPr algn="ctr"/>
            <a:r>
              <a:rPr sz="1800">
                <a:solidFill>
                  <a:srgbClr val="5A6678"/>
                </a:solidFill>
              </a:rPr>
              <a:t>Page-by-page review · 18 pages · SME-revised flow (same pattern as MTG2A01_L03_S01)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911535" cy="822960"/>
          </a:xfrm>
          <a:prstGeom prst="rect">
            <a:avLst/>
          </a:prstGeom>
          <a:noFill/>
        </p:spPr>
        <p:txBody>
          <a:bodyPr wrap="none">
            <a:spAutoFit/>
          </a:bodyPr>
          <a:lstStyle/>
          <a:p>
            <a:r>
              <a:rPr sz="2800" b="1">
                <a:solidFill>
                  <a:srgbClr val="0B3D8C"/>
                </a:solidFill>
              </a:rPr>
              <a:t>Overall recommendations &amp; open questions</a:t>
            </a:r>
          </a:p>
        </p:txBody>
      </p:sp>
      <p:sp>
        <p:nvSpPr>
          <p:cNvPr id="3" name="TextBox 2"/>
          <p:cNvSpPr txBox="1"/>
          <p:nvPr/>
        </p:nvSpPr>
        <p:spPr>
          <a:xfrm>
            <a:off x="822960" y="1463040"/>
            <a:ext cx="10545775" cy="4937760"/>
          </a:xfrm>
          <a:prstGeom prst="rect">
            <a:avLst/>
          </a:prstGeom>
          <a:noFill/>
        </p:spPr>
        <p:txBody>
          <a:bodyPr wrap="square">
            <a:spAutoFit/>
          </a:bodyPr>
          <a:lstStyle/>
          <a:p>
            <a:pPr>
              <a:spcAft>
                <a:spcPts val="800"/>
              </a:spcAft>
            </a:pPr>
            <a:r>
              <a:rPr sz="1700">
                <a:solidFill>
                  <a:srgbClr val="1B2A44"/>
                </a:solidFill>
              </a:rPr>
              <a:t>• MTG2A01_L03_S02 · Add numbers horizontally with regrouping (G2, green-flagged row, not inferred). 17 slides: Tutorial 5 (autonomous) · Guided 4 · Practice 8. Arc = SME pathway [2] pencils/bundles as the spine, opened with pathway [1]'s 23+14 vs 28+15 contrast and closed with pathway [3]'s notation + fade (last two items have no counters). Gestures: pick 7/11 · build (MAKE_SET) 2/11 · drag 2/11. Distractors aim at the sheet's misconception (tens of one + ones of the other) plus forgot-the-new-bundle and wrote-13-in-the-ones errors. ⚠️ STAND-IN ASSETS: no GEMINI_KEY on this machine — art drawn in code, Hindi VO from the Windows 'Kalpana' voice. Both need regeneration + an ear-check before shipping. Please check: Hindi wording (जमा/बराबर), whether the rows-of-ten exchange is clear enough without an animated tie, and the 'डालो N' chip giving away the bundle count.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 · 01_landing.png</a:t>
            </a:r>
          </a:p>
        </p:txBody>
      </p:sp>
      <p:pic>
        <p:nvPicPr>
          <p:cNvPr id="3" name="Picture 2" descr="01_landing.png"/>
          <p:cNvPicPr>
            <a:picLocks noChangeAspect="1"/>
          </p:cNvPicPr>
          <p:nvPr/>
        </p:nvPicPr>
        <p:blipFill>
          <a:blip r:embed="rId2"/>
          <a:stretch>
            <a:fillRect/>
          </a:stretch>
        </p:blipFill>
        <p:spPr>
          <a:xfrm>
            <a:off x="365760" y="731520"/>
            <a:ext cx="7680960" cy="4298571"/>
          </a:xfrm>
          <a:prstGeom prst="rect">
            <a:avLst/>
          </a:prstGeom>
        </p:spPr>
      </p:pic>
      <p:sp>
        <p:nvSpPr>
          <p:cNvPr id="4" name="Rectangle: Rounded Corners 4">
            <a:extLst>
              <a:ext uri="{FF2B5EF4-FFF2-40B4-BE49-F238E27FC236}">
                <a16:creationId xmlns:a16="http://schemas.microsoft.com/office/drawing/2014/main" id="{6A8AADAE-142B-5202-D5B1-85DFE4851760}"/>
              </a:ext>
            </a:extLst>
          </p:cNvPr>
          <p:cNvSpPr/>
          <p:nvPr/>
        </p:nvSpPr>
        <p:spPr>
          <a:xfrm>
            <a:off x="3040380" y="3147113"/>
            <a:ext cx="2331720" cy="394769"/>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800" b="1" dirty="0"/>
              <a:t>26  +  18  =   ?</a:t>
            </a:r>
            <a:endParaRPr lang="en-IN" sz="2800" b="1" dirty="0"/>
          </a:p>
        </p:txBody>
      </p:sp>
      <p:sp>
        <p:nvSpPr>
          <p:cNvPr id="5" name="Recommendations"/>
          <p:cNvSpPr txBox="1"/>
          <p:nvPr/>
        </p:nvSpPr>
        <p:spPr>
          <a:xfrm>
            <a:off x="8229600" y="731520"/>
            <a:ext cx="3593592" cy="2000548"/>
          </a:xfrm>
          <a:prstGeom prst="rect">
            <a:avLst/>
          </a:prstGeom>
          <a:noFill/>
        </p:spPr>
        <p:txBody>
          <a:bodyPr wrap="square">
            <a:spAutoFit/>
          </a:bodyPr>
          <a:lstStyle/>
          <a:p>
            <a:r>
              <a:rPr lang="en-US" sz="1600" b="1" dirty="0">
                <a:solidFill>
                  <a:srgbClr val="0B3D8C"/>
                </a:solidFill>
              </a:rPr>
              <a:t>Recommendations</a:t>
            </a:r>
          </a:p>
          <a:p>
            <a:endParaRPr lang="en-US" sz="1200" dirty="0"/>
          </a:p>
          <a:p>
            <a:r>
              <a:rPr lang="hi-IN" sz="1200" dirty="0"/>
              <a:t>Replace “दस पेंसिलें, एक बंडल!” with “संख्या जोड़ – नई दहाई बनाकर”</a:t>
            </a:r>
          </a:p>
          <a:p>
            <a:r>
              <a:rPr lang="en-US" sz="1200" dirty="0"/>
              <a:t>Visual: Pari and Aru playing with blocks.</a:t>
            </a:r>
          </a:p>
          <a:p>
            <a:r>
              <a:rPr lang="en-US" sz="1200" b="1" dirty="0"/>
              <a:t>Equation: 26 + 18 = ?</a:t>
            </a:r>
            <a:r>
              <a:rPr lang="en-US" sz="1200" dirty="0"/>
              <a:t> </a:t>
            </a:r>
            <a:endParaRPr lang="en-US" sz="1200" i="1" dirty="0"/>
          </a:p>
          <a:p>
            <a:endParaRPr lang="en-US" sz="1200" dirty="0"/>
          </a:p>
          <a:p>
            <a:r>
              <a:rPr lang="en-US" sz="1200" b="1" dirty="0"/>
              <a:t>VO:</a:t>
            </a:r>
            <a:r>
              <a:rPr lang="hi-IN" sz="1200" dirty="0"/>
              <a:t> नमस्ते दोस्त! मैं हूँ स्विफ्टी! आज हम ऐसी संख्याओं को जोड़ना सीखेंगे, जिनमें इकाइयों से नई दहाई बनती 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 · 02_DEMO_COUNT.png</a:t>
            </a:r>
          </a:p>
        </p:txBody>
      </p:sp>
      <p:pic>
        <p:nvPicPr>
          <p:cNvPr id="3" name="Picture 2" descr="02_DEMO_COUNT.png"/>
          <p:cNvPicPr>
            <a:picLocks noChangeAspect="1"/>
          </p:cNvPicPr>
          <p:nvPr/>
        </p:nvPicPr>
        <p:blipFill>
          <a:blip r:embed="rId2"/>
          <a:stretch>
            <a:fillRect/>
          </a:stretch>
        </p:blipFill>
        <p:spPr>
          <a:xfrm>
            <a:off x="96597" y="5349240"/>
            <a:ext cx="2479463" cy="1387606"/>
          </a:xfrm>
          <a:prstGeom prst="rect">
            <a:avLst/>
          </a:prstGeom>
        </p:spPr>
      </p:pic>
      <p:sp>
        <p:nvSpPr>
          <p:cNvPr id="45" name="Rounded Rectangle 44"/>
          <p:cNvSpPr/>
          <p:nvPr/>
        </p:nvSpPr>
        <p:spPr>
          <a:xfrm>
            <a:off x="4974336" y="4562230"/>
            <a:ext cx="1600200" cy="457200"/>
          </a:xfrm>
          <a:prstGeom prst="roundRect">
            <a:avLst>
              <a:gd name="adj" fmla="val 50000"/>
            </a:avLst>
          </a:prstGeom>
          <a:solidFill>
            <a:srgbClr val="F6B41A"/>
          </a:solidFill>
          <a:ln w="15875">
            <a:solidFill>
              <a:srgbClr val="E09A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hi-IN" sz="1500" b="1">
                <a:solidFill>
                  <a:srgbClr val="0B3D8C"/>
                </a:solidFill>
              </a:rPr>
              <a:t>दहाई बनाओ</a:t>
            </a:r>
          </a:p>
        </p:txBody>
      </p:sp>
      <p:sp>
        <p:nvSpPr>
          <p:cNvPr id="47" name="Rectangle: Rounded Corners 5">
            <a:extLst>
              <a:ext uri="{FF2B5EF4-FFF2-40B4-BE49-F238E27FC236}">
                <a16:creationId xmlns:a16="http://schemas.microsoft.com/office/drawing/2014/main" id="{158FFD65-C0CA-4EEB-00B9-D20BF42FB329}"/>
              </a:ext>
            </a:extLst>
          </p:cNvPr>
          <p:cNvSpPr/>
          <p:nvPr/>
        </p:nvSpPr>
        <p:spPr>
          <a:xfrm>
            <a:off x="3678937" y="4836550"/>
            <a:ext cx="566928"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13</a:t>
            </a:r>
            <a:endParaRPr lang="en-IN" b="1" dirty="0"/>
          </a:p>
        </p:txBody>
      </p:sp>
      <p:sp>
        <p:nvSpPr>
          <p:cNvPr id="55" name="Recommendations"/>
          <p:cNvSpPr txBox="1"/>
          <p:nvPr/>
        </p:nvSpPr>
        <p:spPr>
          <a:xfrm>
            <a:off x="7711186" y="512064"/>
            <a:ext cx="4112006" cy="5324535"/>
          </a:xfrm>
          <a:prstGeom prst="rect">
            <a:avLst/>
          </a:prstGeom>
          <a:noFill/>
        </p:spPr>
        <p:txBody>
          <a:bodyPr wrap="square">
            <a:spAutoFit/>
          </a:bodyPr>
          <a:lstStyle/>
          <a:p>
            <a:r>
              <a:rPr lang="en-US" sz="1600" b="1" dirty="0">
                <a:solidFill>
                  <a:srgbClr val="0B3D8C"/>
                </a:solidFill>
              </a:rPr>
              <a:t>Recommendations</a:t>
            </a:r>
          </a:p>
          <a:p>
            <a:r>
              <a:rPr lang="en-US" sz="1200" dirty="0"/>
              <a:t>Replace the entire slide content with the following:</a:t>
            </a:r>
          </a:p>
          <a:p>
            <a:r>
              <a:rPr lang="en-US" sz="1200" b="1" dirty="0"/>
              <a:t>Heading Text:</a:t>
            </a:r>
            <a:r>
              <a:rPr lang="hi-IN" sz="1200" dirty="0"/>
              <a:t> 10 इकाइयाँ = 1 दहाई</a:t>
            </a:r>
          </a:p>
          <a:p>
            <a:r>
              <a:rPr lang="en-IN" sz="1200" b="1" dirty="0"/>
              <a:t>VO1:</a:t>
            </a:r>
            <a:r>
              <a:rPr lang="en-IN" sz="1200" dirty="0"/>
              <a:t> </a:t>
            </a:r>
            <a:r>
              <a:rPr lang="hi-IN" sz="1200" dirty="0"/>
              <a:t>यहाँ कुछ ब्लॉक्स हैं। चलिए, इन्हें गिनते हैं—एक, दो, तीन, चार, पाँच, छह, सात, आठ, नौ, दस।</a:t>
            </a:r>
            <a:br>
              <a:rPr lang="hi-IN" sz="1200" dirty="0"/>
            </a:br>
            <a:r>
              <a:rPr lang="hi-IN" sz="1200" i="1" dirty="0"/>
              <a:t>[</a:t>
            </a:r>
            <a:r>
              <a:rPr lang="en-IN" sz="1200" i="1" dirty="0"/>
              <a:t>Show 13 blocks in the Ones column. Highlight the first 10 blocks one by one in sync with the counting VO. At 10, show an outline around these 10 blocks and display the </a:t>
            </a:r>
            <a:r>
              <a:rPr lang="en-IN" sz="1200" b="1" i="1" dirty="0"/>
              <a:t>“</a:t>
            </a:r>
            <a:r>
              <a:rPr lang="hi-IN" sz="1200" b="1" i="1" dirty="0"/>
              <a:t>दहाई बनाओ”</a:t>
            </a:r>
            <a:r>
              <a:rPr lang="hi-IN" sz="1200" i="1" dirty="0"/>
              <a:t> </a:t>
            </a:r>
            <a:r>
              <a:rPr lang="en-IN" sz="1200" i="1" dirty="0"/>
              <a:t>button.]</a:t>
            </a:r>
            <a:endParaRPr lang="en-IN" sz="1200" dirty="0"/>
          </a:p>
          <a:p>
            <a:r>
              <a:rPr lang="en-IN" sz="1200" b="1" dirty="0"/>
              <a:t>VO2:</a:t>
            </a:r>
            <a:r>
              <a:rPr lang="en-IN" sz="1200" dirty="0"/>
              <a:t> </a:t>
            </a:r>
            <a:r>
              <a:rPr lang="hi-IN" sz="1200" dirty="0"/>
              <a:t>जैसा कि आप जानते हैं, 10 इकाइयाँ मिलकर 1 दहाई बनाती हैं।</a:t>
            </a:r>
            <a:br>
              <a:rPr lang="hi-IN" sz="1200" dirty="0"/>
            </a:br>
            <a:r>
              <a:rPr lang="hi-IN" sz="1200" i="1" dirty="0"/>
              <a:t>[</a:t>
            </a:r>
            <a:r>
              <a:rPr lang="en-IN" sz="1200" i="1" dirty="0"/>
              <a:t>Keep the 10 blocks outlined.]</a:t>
            </a:r>
            <a:endParaRPr lang="en-IN" sz="1200" dirty="0"/>
          </a:p>
          <a:p>
            <a:r>
              <a:rPr lang="en-IN" sz="1200" b="1" dirty="0"/>
              <a:t>VO3:</a:t>
            </a:r>
            <a:r>
              <a:rPr lang="en-IN" sz="1200" dirty="0"/>
              <a:t> </a:t>
            </a:r>
            <a:r>
              <a:rPr lang="hi-IN" sz="1200" dirty="0"/>
              <a:t>इस बटन पर टैप करिए और दहाई बनाइए।</a:t>
            </a:r>
            <a:br>
              <a:rPr lang="hi-IN" sz="1200" dirty="0"/>
            </a:br>
            <a:r>
              <a:rPr lang="hi-IN" sz="1200" i="1" dirty="0"/>
              <a:t>[</a:t>
            </a:r>
            <a:r>
              <a:rPr lang="en-IN" sz="1200" i="1" dirty="0"/>
              <a:t>Pulsate the </a:t>
            </a:r>
            <a:r>
              <a:rPr lang="en-IN" sz="1200" b="1" i="1" dirty="0"/>
              <a:t>“</a:t>
            </a:r>
            <a:r>
              <a:rPr lang="hi-IN" sz="1200" b="1" i="1" dirty="0"/>
              <a:t>दहाई बनाओ”</a:t>
            </a:r>
            <a:r>
              <a:rPr lang="hi-IN" sz="1200" i="1" dirty="0"/>
              <a:t> </a:t>
            </a:r>
            <a:r>
              <a:rPr lang="en-IN" sz="1200" i="1" dirty="0"/>
              <a:t>button. On tap, animate the 10 outlined blocks coming together and transforming into 1 Tens rod.]</a:t>
            </a:r>
            <a:endParaRPr lang="en-IN" sz="1200" dirty="0"/>
          </a:p>
          <a:p>
            <a:r>
              <a:rPr lang="en-IN" sz="1200" b="1" dirty="0"/>
              <a:t>VO4:</a:t>
            </a:r>
            <a:r>
              <a:rPr lang="en-IN" sz="1200" dirty="0"/>
              <a:t> </a:t>
            </a:r>
            <a:r>
              <a:rPr lang="hi-IN" sz="1200" dirty="0"/>
              <a:t>बहुत बढ़िया! 10 इकाइयों से 1 दहाई बन गई।</a:t>
            </a:r>
            <a:br>
              <a:rPr lang="hi-IN" sz="1200" dirty="0"/>
            </a:br>
            <a:r>
              <a:rPr lang="hi-IN" sz="1200" i="1" dirty="0"/>
              <a:t>[</a:t>
            </a:r>
            <a:r>
              <a:rPr lang="en-IN" sz="1200" i="1" dirty="0"/>
              <a:t>Highlight the newly formed Tens rod.]</a:t>
            </a:r>
            <a:endParaRPr lang="en-IN" sz="1200" dirty="0"/>
          </a:p>
          <a:p>
            <a:r>
              <a:rPr lang="en-IN" sz="1200" b="1" dirty="0"/>
              <a:t>VO5:</a:t>
            </a:r>
            <a:r>
              <a:rPr lang="en-IN" sz="1200" dirty="0"/>
              <a:t> </a:t>
            </a:r>
            <a:r>
              <a:rPr lang="hi-IN" sz="1200" dirty="0"/>
              <a:t>अब इस दहाई को दहाई की जगह पर रखते हैं।</a:t>
            </a:r>
            <a:br>
              <a:rPr lang="hi-IN" sz="1200" dirty="0"/>
            </a:br>
            <a:r>
              <a:rPr lang="hi-IN" sz="1200" i="1" dirty="0"/>
              <a:t>[</a:t>
            </a:r>
            <a:r>
              <a:rPr lang="en-IN" sz="1200" i="1" dirty="0"/>
              <a:t>Animate the rod moving from the Ones column to the Tens column.]</a:t>
            </a:r>
            <a:endParaRPr lang="en-IN" sz="1200" dirty="0"/>
          </a:p>
          <a:p>
            <a:r>
              <a:rPr lang="en-IN" sz="1200" b="1" dirty="0"/>
              <a:t>VO6:</a:t>
            </a:r>
            <a:r>
              <a:rPr lang="en-IN" sz="1200" dirty="0"/>
              <a:t> </a:t>
            </a:r>
            <a:r>
              <a:rPr lang="hi-IN" sz="1200" dirty="0"/>
              <a:t>अब बाकी ब्लॉक्स गिनते हैं—एक, दो, तीन।</a:t>
            </a:r>
            <a:br>
              <a:rPr lang="hi-IN" sz="1200" dirty="0"/>
            </a:br>
            <a:r>
              <a:rPr lang="hi-IN" sz="1200" i="1" dirty="0"/>
              <a:t>[</a:t>
            </a:r>
            <a:r>
              <a:rPr lang="en-IN" sz="1200" i="1" dirty="0"/>
              <a:t>Highlight the 3 remaining blocks one by one in sync with the counting VO.]</a:t>
            </a:r>
            <a:endParaRPr lang="en-IN" sz="1200" dirty="0"/>
          </a:p>
          <a:p>
            <a:r>
              <a:rPr lang="en-IN" sz="1200" b="1" dirty="0"/>
              <a:t>VO7:</a:t>
            </a:r>
            <a:r>
              <a:rPr lang="en-IN" sz="1200" dirty="0"/>
              <a:t> </a:t>
            </a:r>
            <a:r>
              <a:rPr lang="hi-IN" sz="1200" dirty="0"/>
              <a:t>हमारे पास </a:t>
            </a:r>
            <a:r>
              <a:rPr lang="en-IN" sz="1200" dirty="0"/>
              <a:t>1 </a:t>
            </a:r>
            <a:r>
              <a:rPr lang="hi-IN" sz="1200" dirty="0"/>
              <a:t>दहाई और </a:t>
            </a:r>
            <a:r>
              <a:rPr lang="en-US" sz="1200" dirty="0"/>
              <a:t>3</a:t>
            </a:r>
            <a:r>
              <a:rPr lang="hi-IN" sz="1200" dirty="0"/>
              <a:t> इकाइयाँ यानी कुल</a:t>
            </a:r>
            <a:r>
              <a:rPr lang="en-US" sz="1200" dirty="0"/>
              <a:t> 13 </a:t>
            </a:r>
            <a:r>
              <a:rPr lang="hi-IN" sz="1200" dirty="0"/>
              <a:t>ब्लॉक्स हैं। </a:t>
            </a:r>
            <a:br>
              <a:rPr lang="hi-IN" sz="1200" dirty="0"/>
            </a:br>
            <a:r>
              <a:rPr lang="hi-IN" sz="1200" i="1" dirty="0"/>
              <a:t>[</a:t>
            </a:r>
            <a:r>
              <a:rPr lang="en-IN" sz="1200" i="1" dirty="0"/>
              <a:t>Highlight </a:t>
            </a:r>
            <a:r>
              <a:rPr lang="en-US" sz="1200" i="1" dirty="0"/>
              <a:t>the </a:t>
            </a:r>
            <a:r>
              <a:rPr lang="en-IN" sz="1200" i="1" dirty="0"/>
              <a:t>rod and the 3 blocks in sync with the VO.</a:t>
            </a:r>
            <a:r>
              <a:rPr lang="hi-IN" sz="1200" i="1" dirty="0"/>
              <a:t> </a:t>
            </a:r>
            <a:r>
              <a:rPr lang="en-US" sz="1200" i="1" dirty="0"/>
              <a:t>Then s</a:t>
            </a:r>
            <a:r>
              <a:rPr lang="en-IN" sz="1200" i="1" dirty="0"/>
              <a:t>how the </a:t>
            </a:r>
            <a:r>
              <a:rPr lang="en-IN" sz="1200" b="1" i="1" dirty="0"/>
              <a:t>13</a:t>
            </a:r>
            <a:r>
              <a:rPr lang="en-IN" sz="1200" i="1" dirty="0"/>
              <a:t> card. ]</a:t>
            </a:r>
            <a:endParaRPr lang="en-IN" sz="1200" dirty="0"/>
          </a:p>
        </p:txBody>
      </p:sp>
      <p:graphicFrame>
        <p:nvGraphicFramePr>
          <p:cNvPr id="4" name="Table 4">
            <a:extLst>
              <a:ext uri="{FF2B5EF4-FFF2-40B4-BE49-F238E27FC236}">
                <a16:creationId xmlns:a16="http://schemas.microsoft.com/office/drawing/2014/main" id="{894F3C96-2D4B-35A1-A8AC-177A0D5972CA}"/>
              </a:ext>
            </a:extLst>
          </p:cNvPr>
          <p:cNvGraphicFramePr>
            <a:graphicFrameLocks noGrp="1"/>
          </p:cNvGraphicFramePr>
          <p:nvPr>
            <p:extLst>
              <p:ext uri="{D42A27DB-BD31-4B8C-83A1-F6EECF244321}">
                <p14:modId xmlns:p14="http://schemas.microsoft.com/office/powerpoint/2010/main" val="745367920"/>
              </p:ext>
            </p:extLst>
          </p:nvPr>
        </p:nvGraphicFramePr>
        <p:xfrm>
          <a:off x="403099" y="1773829"/>
          <a:ext cx="7118604" cy="2691252"/>
        </p:xfrm>
        <a:graphic>
          <a:graphicData uri="http://schemas.openxmlformats.org/drawingml/2006/table">
            <a:tbl>
              <a:tblPr firstRow="1" bandRow="1">
                <a:tableStyleId>{5C22544A-7EE6-4342-B048-85BDC9FD1C3A}</a:tableStyleId>
              </a:tblPr>
              <a:tblGrid>
                <a:gridCol w="3559302">
                  <a:extLst>
                    <a:ext uri="{9D8B030D-6E8A-4147-A177-3AD203B41FA5}">
                      <a16:colId xmlns:a16="http://schemas.microsoft.com/office/drawing/2014/main" val="1758657152"/>
                    </a:ext>
                  </a:extLst>
                </a:gridCol>
                <a:gridCol w="3559302">
                  <a:extLst>
                    <a:ext uri="{9D8B030D-6E8A-4147-A177-3AD203B41FA5}">
                      <a16:colId xmlns:a16="http://schemas.microsoft.com/office/drawing/2014/main" val="4045408627"/>
                    </a:ext>
                  </a:extLst>
                </a:gridCol>
              </a:tblGrid>
              <a:tr h="555614">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2135638">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pic>
        <p:nvPicPr>
          <p:cNvPr id="5" name="Picture 4" descr="A yellow cube with black background&#10;&#10;AI-generated content may be incorrect.">
            <a:extLst>
              <a:ext uri="{FF2B5EF4-FFF2-40B4-BE49-F238E27FC236}">
                <a16:creationId xmlns:a16="http://schemas.microsoft.com/office/drawing/2014/main" id="{A210A1F8-02D5-866C-39A8-9104718408C5}"/>
              </a:ext>
            </a:extLst>
          </p:cNvPr>
          <p:cNvPicPr>
            <a:picLocks noChangeAspect="1"/>
          </p:cNvPicPr>
          <p:nvPr/>
        </p:nvPicPr>
        <p:blipFill>
          <a:blip r:embed="rId3"/>
          <a:stretch>
            <a:fillRect/>
          </a:stretch>
        </p:blipFill>
        <p:spPr>
          <a:xfrm>
            <a:off x="4145533" y="2460000"/>
            <a:ext cx="731351" cy="609461"/>
          </a:xfrm>
          <a:prstGeom prst="rect">
            <a:avLst/>
          </a:prstGeom>
        </p:spPr>
      </p:pic>
      <p:pic>
        <p:nvPicPr>
          <p:cNvPr id="6" name="Picture 5" descr="A yellow cube with black background&#10;&#10;AI-generated content may be incorrect.">
            <a:extLst>
              <a:ext uri="{FF2B5EF4-FFF2-40B4-BE49-F238E27FC236}">
                <a16:creationId xmlns:a16="http://schemas.microsoft.com/office/drawing/2014/main" id="{2B637383-1077-D5DA-BB70-E775EAD73FA4}"/>
              </a:ext>
            </a:extLst>
          </p:cNvPr>
          <p:cNvPicPr>
            <a:picLocks noChangeAspect="1"/>
          </p:cNvPicPr>
          <p:nvPr/>
        </p:nvPicPr>
        <p:blipFill>
          <a:blip r:embed="rId3"/>
          <a:stretch>
            <a:fillRect/>
          </a:stretch>
        </p:blipFill>
        <p:spPr>
          <a:xfrm>
            <a:off x="5364649" y="2460139"/>
            <a:ext cx="731351" cy="609461"/>
          </a:xfrm>
          <a:prstGeom prst="rect">
            <a:avLst/>
          </a:prstGeom>
        </p:spPr>
      </p:pic>
      <p:pic>
        <p:nvPicPr>
          <p:cNvPr id="7" name="Picture 6" descr="A yellow cube with black background&#10;&#10;AI-generated content may be incorrect.">
            <a:extLst>
              <a:ext uri="{FF2B5EF4-FFF2-40B4-BE49-F238E27FC236}">
                <a16:creationId xmlns:a16="http://schemas.microsoft.com/office/drawing/2014/main" id="{451920DE-3489-0F05-8E52-5BB9C0EFE118}"/>
              </a:ext>
            </a:extLst>
          </p:cNvPr>
          <p:cNvPicPr>
            <a:picLocks noChangeAspect="1"/>
          </p:cNvPicPr>
          <p:nvPr/>
        </p:nvPicPr>
        <p:blipFill>
          <a:blip r:embed="rId3"/>
          <a:stretch>
            <a:fillRect/>
          </a:stretch>
        </p:blipFill>
        <p:spPr>
          <a:xfrm>
            <a:off x="4770458" y="2460139"/>
            <a:ext cx="731351" cy="609461"/>
          </a:xfrm>
          <a:prstGeom prst="rect">
            <a:avLst/>
          </a:prstGeom>
        </p:spPr>
      </p:pic>
      <p:pic>
        <p:nvPicPr>
          <p:cNvPr id="8" name="Picture 7" descr="A yellow cube with black background&#10;&#10;AI-generated content may be incorrect.">
            <a:extLst>
              <a:ext uri="{FF2B5EF4-FFF2-40B4-BE49-F238E27FC236}">
                <a16:creationId xmlns:a16="http://schemas.microsoft.com/office/drawing/2014/main" id="{60FC64D0-A206-528C-5637-E3FF047F5372}"/>
              </a:ext>
            </a:extLst>
          </p:cNvPr>
          <p:cNvPicPr>
            <a:picLocks noChangeAspect="1"/>
          </p:cNvPicPr>
          <p:nvPr/>
        </p:nvPicPr>
        <p:blipFill>
          <a:blip r:embed="rId3"/>
          <a:stretch>
            <a:fillRect/>
          </a:stretch>
        </p:blipFill>
        <p:spPr>
          <a:xfrm>
            <a:off x="6522635" y="2460000"/>
            <a:ext cx="731351" cy="609461"/>
          </a:xfrm>
          <a:prstGeom prst="rect">
            <a:avLst/>
          </a:prstGeom>
        </p:spPr>
      </p:pic>
      <p:pic>
        <p:nvPicPr>
          <p:cNvPr id="9" name="Picture 8" descr="A yellow cube with black background&#10;&#10;AI-generated content may be incorrect.">
            <a:extLst>
              <a:ext uri="{FF2B5EF4-FFF2-40B4-BE49-F238E27FC236}">
                <a16:creationId xmlns:a16="http://schemas.microsoft.com/office/drawing/2014/main" id="{C622AAD1-AB5D-022B-B25F-00E783259953}"/>
              </a:ext>
            </a:extLst>
          </p:cNvPr>
          <p:cNvPicPr>
            <a:picLocks noChangeAspect="1"/>
          </p:cNvPicPr>
          <p:nvPr/>
        </p:nvPicPr>
        <p:blipFill>
          <a:blip r:embed="rId3"/>
          <a:stretch>
            <a:fillRect/>
          </a:stretch>
        </p:blipFill>
        <p:spPr>
          <a:xfrm>
            <a:off x="5959009" y="2460139"/>
            <a:ext cx="731351" cy="609461"/>
          </a:xfrm>
          <a:prstGeom prst="rect">
            <a:avLst/>
          </a:prstGeom>
        </p:spPr>
      </p:pic>
      <p:pic>
        <p:nvPicPr>
          <p:cNvPr id="10" name="Picture 9" descr="A yellow cube with black background&#10;&#10;AI-generated content may be incorrect.">
            <a:extLst>
              <a:ext uri="{FF2B5EF4-FFF2-40B4-BE49-F238E27FC236}">
                <a16:creationId xmlns:a16="http://schemas.microsoft.com/office/drawing/2014/main" id="{09C046F4-D400-9435-6D0D-3D63FBB494F2}"/>
              </a:ext>
            </a:extLst>
          </p:cNvPr>
          <p:cNvPicPr>
            <a:picLocks noChangeAspect="1"/>
          </p:cNvPicPr>
          <p:nvPr/>
        </p:nvPicPr>
        <p:blipFill>
          <a:blip r:embed="rId3"/>
          <a:stretch>
            <a:fillRect/>
          </a:stretch>
        </p:blipFill>
        <p:spPr>
          <a:xfrm>
            <a:off x="4145533" y="3069600"/>
            <a:ext cx="731351" cy="609461"/>
          </a:xfrm>
          <a:prstGeom prst="rect">
            <a:avLst/>
          </a:prstGeom>
        </p:spPr>
      </p:pic>
      <p:pic>
        <p:nvPicPr>
          <p:cNvPr id="11" name="Picture 10" descr="A yellow cube with black background&#10;&#10;AI-generated content may be incorrect.">
            <a:extLst>
              <a:ext uri="{FF2B5EF4-FFF2-40B4-BE49-F238E27FC236}">
                <a16:creationId xmlns:a16="http://schemas.microsoft.com/office/drawing/2014/main" id="{863DA870-7419-CE4C-DAB1-26B26906A378}"/>
              </a:ext>
            </a:extLst>
          </p:cNvPr>
          <p:cNvPicPr>
            <a:picLocks noChangeAspect="1"/>
          </p:cNvPicPr>
          <p:nvPr/>
        </p:nvPicPr>
        <p:blipFill>
          <a:blip r:embed="rId3"/>
          <a:stretch>
            <a:fillRect/>
          </a:stretch>
        </p:blipFill>
        <p:spPr>
          <a:xfrm>
            <a:off x="5364649" y="3069739"/>
            <a:ext cx="731351" cy="609461"/>
          </a:xfrm>
          <a:prstGeom prst="rect">
            <a:avLst/>
          </a:prstGeom>
        </p:spPr>
      </p:pic>
      <p:pic>
        <p:nvPicPr>
          <p:cNvPr id="12" name="Picture 11" descr="A yellow cube with black background&#10;&#10;AI-generated content may be incorrect.">
            <a:extLst>
              <a:ext uri="{FF2B5EF4-FFF2-40B4-BE49-F238E27FC236}">
                <a16:creationId xmlns:a16="http://schemas.microsoft.com/office/drawing/2014/main" id="{28B182A0-13B9-79E4-E286-3BCAB078F5A7}"/>
              </a:ext>
            </a:extLst>
          </p:cNvPr>
          <p:cNvPicPr>
            <a:picLocks noChangeAspect="1"/>
          </p:cNvPicPr>
          <p:nvPr/>
        </p:nvPicPr>
        <p:blipFill>
          <a:blip r:embed="rId3"/>
          <a:stretch>
            <a:fillRect/>
          </a:stretch>
        </p:blipFill>
        <p:spPr>
          <a:xfrm>
            <a:off x="4770458" y="3069739"/>
            <a:ext cx="731351" cy="609461"/>
          </a:xfrm>
          <a:prstGeom prst="rect">
            <a:avLst/>
          </a:prstGeom>
        </p:spPr>
      </p:pic>
      <p:pic>
        <p:nvPicPr>
          <p:cNvPr id="13" name="Picture 12" descr="A yellow cube with black background&#10;&#10;AI-generated content may be incorrect.">
            <a:extLst>
              <a:ext uri="{FF2B5EF4-FFF2-40B4-BE49-F238E27FC236}">
                <a16:creationId xmlns:a16="http://schemas.microsoft.com/office/drawing/2014/main" id="{21F4EC51-6703-503C-911D-B398A360E3B0}"/>
              </a:ext>
            </a:extLst>
          </p:cNvPr>
          <p:cNvPicPr>
            <a:picLocks noChangeAspect="1"/>
          </p:cNvPicPr>
          <p:nvPr/>
        </p:nvPicPr>
        <p:blipFill>
          <a:blip r:embed="rId3"/>
          <a:stretch>
            <a:fillRect/>
          </a:stretch>
        </p:blipFill>
        <p:spPr>
          <a:xfrm>
            <a:off x="6614499" y="3094268"/>
            <a:ext cx="731351" cy="609461"/>
          </a:xfrm>
          <a:prstGeom prst="rect">
            <a:avLst/>
          </a:prstGeom>
        </p:spPr>
      </p:pic>
      <p:pic>
        <p:nvPicPr>
          <p:cNvPr id="14" name="Picture 13" descr="A yellow cube with black background&#10;&#10;AI-generated content may be incorrect.">
            <a:extLst>
              <a:ext uri="{FF2B5EF4-FFF2-40B4-BE49-F238E27FC236}">
                <a16:creationId xmlns:a16="http://schemas.microsoft.com/office/drawing/2014/main" id="{0C620D89-0195-A66C-A091-1E0C707D1FD5}"/>
              </a:ext>
            </a:extLst>
          </p:cNvPr>
          <p:cNvPicPr>
            <a:picLocks noChangeAspect="1"/>
          </p:cNvPicPr>
          <p:nvPr/>
        </p:nvPicPr>
        <p:blipFill>
          <a:blip r:embed="rId3"/>
          <a:stretch>
            <a:fillRect/>
          </a:stretch>
        </p:blipFill>
        <p:spPr>
          <a:xfrm>
            <a:off x="5989574" y="3069739"/>
            <a:ext cx="731351" cy="609461"/>
          </a:xfrm>
          <a:prstGeom prst="rect">
            <a:avLst/>
          </a:prstGeom>
        </p:spPr>
      </p:pic>
      <p:pic>
        <p:nvPicPr>
          <p:cNvPr id="15" name="Picture 14" descr="A yellow cube with black background&#10;&#10;AI-generated content may be incorrect.">
            <a:extLst>
              <a:ext uri="{FF2B5EF4-FFF2-40B4-BE49-F238E27FC236}">
                <a16:creationId xmlns:a16="http://schemas.microsoft.com/office/drawing/2014/main" id="{928EE5CB-936C-7BCD-8255-A38F4511EDCB}"/>
              </a:ext>
            </a:extLst>
          </p:cNvPr>
          <p:cNvPicPr>
            <a:picLocks noChangeAspect="1"/>
          </p:cNvPicPr>
          <p:nvPr/>
        </p:nvPicPr>
        <p:blipFill>
          <a:blip r:embed="rId3"/>
          <a:stretch>
            <a:fillRect/>
          </a:stretch>
        </p:blipFill>
        <p:spPr>
          <a:xfrm>
            <a:off x="4145533" y="3703590"/>
            <a:ext cx="731351" cy="609461"/>
          </a:xfrm>
          <a:prstGeom prst="rect">
            <a:avLst/>
          </a:prstGeom>
        </p:spPr>
      </p:pic>
      <p:pic>
        <p:nvPicPr>
          <p:cNvPr id="16" name="Picture 15" descr="A yellow cube with black background&#10;&#10;AI-generated content may be incorrect.">
            <a:extLst>
              <a:ext uri="{FF2B5EF4-FFF2-40B4-BE49-F238E27FC236}">
                <a16:creationId xmlns:a16="http://schemas.microsoft.com/office/drawing/2014/main" id="{4E8C6A7A-F5DA-266C-2F93-A18D90873455}"/>
              </a:ext>
            </a:extLst>
          </p:cNvPr>
          <p:cNvPicPr>
            <a:picLocks noChangeAspect="1"/>
          </p:cNvPicPr>
          <p:nvPr/>
        </p:nvPicPr>
        <p:blipFill>
          <a:blip r:embed="rId3"/>
          <a:stretch>
            <a:fillRect/>
          </a:stretch>
        </p:blipFill>
        <p:spPr>
          <a:xfrm>
            <a:off x="5364649" y="3703729"/>
            <a:ext cx="731351" cy="609461"/>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9719EE5A-F813-1E0F-00E6-4F572ED99B87}"/>
              </a:ext>
            </a:extLst>
          </p:cNvPr>
          <p:cNvPicPr>
            <a:picLocks noChangeAspect="1"/>
          </p:cNvPicPr>
          <p:nvPr/>
        </p:nvPicPr>
        <p:blipFill>
          <a:blip r:embed="rId3"/>
          <a:stretch>
            <a:fillRect/>
          </a:stretch>
        </p:blipFill>
        <p:spPr>
          <a:xfrm>
            <a:off x="4770458" y="3703729"/>
            <a:ext cx="731351" cy="609461"/>
          </a:xfrm>
          <a:prstGeom prst="rect">
            <a:avLst/>
          </a:prstGeom>
        </p:spPr>
      </p:pic>
      <p:sp>
        <p:nvSpPr>
          <p:cNvPr id="18" name="Rounded Rectangle 43"/>
          <p:cNvSpPr/>
          <p:nvPr/>
        </p:nvSpPr>
        <p:spPr>
          <a:xfrm>
            <a:off x="4127244" y="2469144"/>
            <a:ext cx="3200317" cy="1219061"/>
          </a:xfrm>
          <a:prstGeom prst="roundRect">
            <a:avLst>
              <a:gd name="adj" fmla="val 12000"/>
            </a:avLst>
          </a:prstGeom>
          <a:noFill/>
          <a:ln w="22225">
            <a:solidFill>
              <a:srgbClr val="1F6F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6" descr="A green rectangular object with black background&#10;&#10;AI-generated content may be incorrect.">
            <a:extLst>
              <a:ext uri="{FF2B5EF4-FFF2-40B4-BE49-F238E27FC236}">
                <a16:creationId xmlns:a16="http://schemas.microsoft.com/office/drawing/2014/main" id="{2D4BFFA1-5C9E-CFD7-2BB6-6D83F2EA312C}"/>
              </a:ext>
            </a:extLst>
          </p:cNvPr>
          <p:cNvPicPr>
            <a:picLocks noChangeAspect="1"/>
          </p:cNvPicPr>
          <p:nvPr/>
        </p:nvPicPr>
        <p:blipFill>
          <a:blip r:embed="rId4"/>
          <a:stretch>
            <a:fillRect/>
          </a:stretch>
        </p:blipFill>
        <p:spPr>
          <a:xfrm>
            <a:off x="1422477" y="2375981"/>
            <a:ext cx="1412586" cy="2106037"/>
          </a:xfrm>
          <a:prstGeom prst="rect">
            <a:avLst/>
          </a:prstGeom>
        </p:spPr>
      </p:pic>
      <p:sp>
        <p:nvSpPr>
          <p:cNvPr id="21" name="Rectangle: Rounded Corners 20">
            <a:extLst>
              <a:ext uri="{FF2B5EF4-FFF2-40B4-BE49-F238E27FC236}">
                <a16:creationId xmlns:a16="http://schemas.microsoft.com/office/drawing/2014/main" id="{8EB3D1C1-DC15-0E61-6F83-D118D1C20FFA}"/>
              </a:ext>
            </a:extLst>
          </p:cNvPr>
          <p:cNvSpPr/>
          <p:nvPr/>
        </p:nvSpPr>
        <p:spPr>
          <a:xfrm>
            <a:off x="2629028" y="986094"/>
            <a:ext cx="2666746" cy="48744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hi-IN" b="1" dirty="0">
                <a:solidFill>
                  <a:schemeClr val="tx2"/>
                </a:solidFill>
              </a:rPr>
              <a:t>10 इकाइयाँ = 1 दहाई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nodeType="clickEffect">
                                  <p:stCondLst>
                                    <p:cond delay="0"/>
                                  </p:stCondLst>
                                  <p:childTnLst>
                                    <p:animEffect transition="out" filter="fade">
                                      <p:cBhvr>
                                        <p:cTn id="26" dur="500" tmFilter="0, 0; .2, .5; .8, .5; 1, 0"/>
                                        <p:tgtEl>
                                          <p:spTgt spid="8"/>
                                        </p:tgtEl>
                                      </p:cBhvr>
                                    </p:animEffect>
                                    <p:animScale>
                                      <p:cBhvr>
                                        <p:cTn id="27" dur="250" autoRev="1" fill="hold"/>
                                        <p:tgtEl>
                                          <p:spTgt spid="8"/>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10"/>
                                        </p:tgtEl>
                                      </p:cBhvr>
                                    </p:animEffect>
                                    <p:animScale>
                                      <p:cBhvr>
                                        <p:cTn id="32" dur="250" autoRev="1" fill="hold"/>
                                        <p:tgtEl>
                                          <p:spTgt spid="10"/>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nodeType="clickEffect">
                                  <p:stCondLst>
                                    <p:cond delay="0"/>
                                  </p:stCondLst>
                                  <p:childTnLst>
                                    <p:animEffect transition="out" filter="fade">
                                      <p:cBhvr>
                                        <p:cTn id="36" dur="500" tmFilter="0, 0; .2, .5; .8, .5; 1, 0"/>
                                        <p:tgtEl>
                                          <p:spTgt spid="12"/>
                                        </p:tgtEl>
                                      </p:cBhvr>
                                    </p:animEffect>
                                    <p:animScale>
                                      <p:cBhvr>
                                        <p:cTn id="37" dur="250" autoRev="1" fill="hold"/>
                                        <p:tgtEl>
                                          <p:spTgt spid="12"/>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26" presetClass="emph" presetSubtype="0" fill="hold" nodeType="clickEffect">
                                  <p:stCondLst>
                                    <p:cond delay="0"/>
                                  </p:stCondLst>
                                  <p:childTnLst>
                                    <p:animEffect transition="out" filter="fade">
                                      <p:cBhvr>
                                        <p:cTn id="41" dur="500" tmFilter="0, 0; .2, .5; .8, .5; 1, 0"/>
                                        <p:tgtEl>
                                          <p:spTgt spid="11"/>
                                        </p:tgtEl>
                                      </p:cBhvr>
                                    </p:animEffect>
                                    <p:animScale>
                                      <p:cBhvr>
                                        <p:cTn id="42" dur="250" autoRev="1" fill="hold"/>
                                        <p:tgtEl>
                                          <p:spTgt spid="11"/>
                                        </p:tgtEl>
                                      </p:cBhvr>
                                      <p:by x="105000" y="105000"/>
                                    </p:animScale>
                                  </p:childTnLst>
                                </p:cTn>
                              </p:par>
                            </p:childTnLst>
                          </p:cTn>
                        </p:par>
                      </p:childTnLst>
                    </p:cTn>
                  </p:par>
                  <p:par>
                    <p:cTn id="43" fill="hold">
                      <p:stCondLst>
                        <p:cond delay="indefinite"/>
                      </p:stCondLst>
                      <p:childTnLst>
                        <p:par>
                          <p:cTn id="44" fill="hold">
                            <p:stCondLst>
                              <p:cond delay="0"/>
                            </p:stCondLst>
                            <p:childTnLst>
                              <p:par>
                                <p:cTn id="45" presetID="26" presetClass="emph" presetSubtype="0" fill="hold" nodeType="clickEffect">
                                  <p:stCondLst>
                                    <p:cond delay="0"/>
                                  </p:stCondLst>
                                  <p:childTnLst>
                                    <p:animEffect transition="out" filter="fade">
                                      <p:cBhvr>
                                        <p:cTn id="46" dur="500" tmFilter="0, 0; .2, .5; .8, .5; 1, 0"/>
                                        <p:tgtEl>
                                          <p:spTgt spid="14"/>
                                        </p:tgtEl>
                                      </p:cBhvr>
                                    </p:animEffect>
                                    <p:animScale>
                                      <p:cBhvr>
                                        <p:cTn id="47" dur="250" autoRev="1" fill="hold"/>
                                        <p:tgtEl>
                                          <p:spTgt spid="14"/>
                                        </p:tgtEl>
                                      </p:cBhvr>
                                      <p:by x="105000" y="105000"/>
                                    </p:animScale>
                                  </p:childTnLst>
                                </p:cTn>
                              </p:par>
                            </p:childTnLst>
                          </p:cTn>
                        </p:par>
                      </p:childTnLst>
                    </p:cTn>
                  </p:par>
                  <p:par>
                    <p:cTn id="48" fill="hold">
                      <p:stCondLst>
                        <p:cond delay="indefinite"/>
                      </p:stCondLst>
                      <p:childTnLst>
                        <p:par>
                          <p:cTn id="49" fill="hold">
                            <p:stCondLst>
                              <p:cond delay="0"/>
                            </p:stCondLst>
                            <p:childTnLst>
                              <p:par>
                                <p:cTn id="50" presetID="26" presetClass="emph" presetSubtype="0" fill="hold" nodeType="clickEffect">
                                  <p:stCondLst>
                                    <p:cond delay="0"/>
                                  </p:stCondLst>
                                  <p:childTnLst>
                                    <p:animEffect transition="out" filter="fade">
                                      <p:cBhvr>
                                        <p:cTn id="51" dur="500" tmFilter="0, 0; .2, .5; .8, .5; 1, 0"/>
                                        <p:tgtEl>
                                          <p:spTgt spid="13"/>
                                        </p:tgtEl>
                                      </p:cBhvr>
                                    </p:animEffect>
                                    <p:animScale>
                                      <p:cBhvr>
                                        <p:cTn id="52" dur="250" autoRev="1" fill="hold"/>
                                        <p:tgtEl>
                                          <p:spTgt spid="13"/>
                                        </p:tgtEl>
                                      </p:cBhvr>
                                      <p:by x="105000" y="105000"/>
                                    </p:animScale>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2b · NEW slide (story hook, after Page 2)</a:t>
            </a:r>
          </a:p>
        </p:txBody>
      </p:sp>
      <p:pic>
        <p:nvPicPr>
          <p:cNvPr id="3" name="Picture 2" descr="frame_demo_crop.png"/>
          <p:cNvPicPr>
            <a:picLocks noChangeAspect="1"/>
          </p:cNvPicPr>
          <p:nvPr/>
        </p:nvPicPr>
        <p:blipFill>
          <a:blip r:embed="rId2"/>
          <a:stretch>
            <a:fillRect/>
          </a:stretch>
        </p:blipFill>
        <p:spPr>
          <a:xfrm>
            <a:off x="365760" y="731520"/>
            <a:ext cx="7680960" cy="4532034"/>
          </a:xfrm>
          <a:prstGeom prst="rect">
            <a:avLst/>
          </a:prstGeom>
        </p:spPr>
      </p:pic>
      <p:sp>
        <p:nvSpPr>
          <p:cNvPr id="4" name="TextBox 3"/>
          <p:cNvSpPr txBox="1"/>
          <p:nvPr/>
        </p:nvSpPr>
        <p:spPr>
          <a:xfrm>
            <a:off x="914400" y="960120"/>
            <a:ext cx="6583680" cy="548640"/>
          </a:xfrm>
          <a:prstGeom prst="rect">
            <a:avLst/>
          </a:prstGeom>
          <a:noFill/>
        </p:spPr>
        <p:txBody>
          <a:bodyPr wrap="square" lIns="0" tIns="0" rIns="0" bIns="0" anchor="ctr">
            <a:spAutoFit/>
          </a:bodyPr>
          <a:lstStyle/>
          <a:p>
            <a:pPr algn="ctr"/>
            <a:r>
              <a:rPr lang="hi-IN" sz="2800" b="1" i="0">
                <a:solidFill>
                  <a:srgbClr val="0B3D8C"/>
                </a:solidFill>
              </a:rPr>
              <a:t>कुल कितने ब्लॉक्स?</a:t>
            </a:r>
          </a:p>
        </p:txBody>
      </p:sp>
      <p:sp>
        <p:nvSpPr>
          <p:cNvPr id="5" name="Oval 13">
            <a:extLst>
              <a:ext uri="{FF2B5EF4-FFF2-40B4-BE49-F238E27FC236}">
                <a16:creationId xmlns:a16="http://schemas.microsoft.com/office/drawing/2014/main" id="{ADB89B0C-C73F-1D3A-40CC-D4BB7CB9E6C5}"/>
              </a:ext>
            </a:extLst>
          </p:cNvPr>
          <p:cNvSpPr/>
          <p:nvPr/>
        </p:nvSpPr>
        <p:spPr>
          <a:xfrm>
            <a:off x="2199132" y="1783080"/>
            <a:ext cx="868680"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Pari’s Photo</a:t>
            </a:r>
            <a:endParaRPr lang="en-IN" sz="1200" dirty="0"/>
          </a:p>
        </p:txBody>
      </p:sp>
      <p:sp>
        <p:nvSpPr>
          <p:cNvPr id="6" name="Oval 13">
            <a:extLst>
              <a:ext uri="{FF2B5EF4-FFF2-40B4-BE49-F238E27FC236}">
                <a16:creationId xmlns:a16="http://schemas.microsoft.com/office/drawing/2014/main" id="{ADB89B0C-C73F-1D3A-40CC-D4BB7CB9E6C5}"/>
              </a:ext>
            </a:extLst>
          </p:cNvPr>
          <p:cNvSpPr/>
          <p:nvPr/>
        </p:nvSpPr>
        <p:spPr>
          <a:xfrm>
            <a:off x="3497578" y="1783080"/>
            <a:ext cx="946405"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Aaru’s Photo</a:t>
            </a:r>
            <a:endParaRPr lang="en-IN" sz="1200" dirty="0"/>
          </a:p>
        </p:txBody>
      </p:sp>
      <p:sp>
        <p:nvSpPr>
          <p:cNvPr id="7" name="Rectangle 15">
            <a:extLst>
              <a:ext uri="{FF2B5EF4-FFF2-40B4-BE49-F238E27FC236}">
                <a16:creationId xmlns:a16="http://schemas.microsoft.com/office/drawing/2014/main" id="{6AD85519-59DF-58C7-F584-7BC6536CEFA5}"/>
              </a:ext>
            </a:extLst>
          </p:cNvPr>
          <p:cNvSpPr/>
          <p:nvPr/>
        </p:nvSpPr>
        <p:spPr>
          <a:xfrm>
            <a:off x="2052828" y="2697480"/>
            <a:ext cx="1161288" cy="8229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Pari’s 27 blocks</a:t>
            </a:r>
            <a:endParaRPr lang="en-IN" dirty="0"/>
          </a:p>
        </p:txBody>
      </p:sp>
      <p:sp>
        <p:nvSpPr>
          <p:cNvPr id="8" name="Rectangle 15">
            <a:extLst>
              <a:ext uri="{FF2B5EF4-FFF2-40B4-BE49-F238E27FC236}">
                <a16:creationId xmlns:a16="http://schemas.microsoft.com/office/drawing/2014/main" id="{6AD85519-59DF-58C7-F584-7BC6536CEFA5}"/>
              </a:ext>
            </a:extLst>
          </p:cNvPr>
          <p:cNvSpPr/>
          <p:nvPr/>
        </p:nvSpPr>
        <p:spPr>
          <a:xfrm>
            <a:off x="3351276" y="2697480"/>
            <a:ext cx="1161288" cy="8229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Aaru’s 15 blocks</a:t>
            </a:r>
            <a:endParaRPr lang="en-IN" dirty="0"/>
          </a:p>
        </p:txBody>
      </p:sp>
      <p:sp>
        <p:nvSpPr>
          <p:cNvPr id="9" name="Rectangle: Rounded Corners 6">
            <a:extLst>
              <a:ext uri="{FF2B5EF4-FFF2-40B4-BE49-F238E27FC236}">
                <a16:creationId xmlns:a16="http://schemas.microsoft.com/office/drawing/2014/main" id="{EEBDDA85-157F-E276-8CD4-82943AD3EFD7}"/>
              </a:ext>
            </a:extLst>
          </p:cNvPr>
          <p:cNvSpPr/>
          <p:nvPr/>
        </p:nvSpPr>
        <p:spPr>
          <a:xfrm>
            <a:off x="2253996" y="370332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27</a:t>
            </a:r>
            <a:endParaRPr lang="en-IN" sz="2800" b="1" dirty="0"/>
          </a:p>
        </p:txBody>
      </p:sp>
      <p:sp>
        <p:nvSpPr>
          <p:cNvPr id="10" name="Rectangle: Rounded Corners 6">
            <a:extLst>
              <a:ext uri="{FF2B5EF4-FFF2-40B4-BE49-F238E27FC236}">
                <a16:creationId xmlns:a16="http://schemas.microsoft.com/office/drawing/2014/main" id="{EEBDDA85-157F-E276-8CD4-82943AD3EFD7}"/>
              </a:ext>
            </a:extLst>
          </p:cNvPr>
          <p:cNvSpPr/>
          <p:nvPr/>
        </p:nvSpPr>
        <p:spPr>
          <a:xfrm>
            <a:off x="3552444" y="370332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15</a:t>
            </a:r>
            <a:endParaRPr lang="en-IN" sz="2800" b="1" dirty="0"/>
          </a:p>
        </p:txBody>
      </p:sp>
      <p:sp>
        <p:nvSpPr>
          <p:cNvPr id="11" name="Rectangle: Rounded Corners 6">
            <a:extLst>
              <a:ext uri="{FF2B5EF4-FFF2-40B4-BE49-F238E27FC236}">
                <a16:creationId xmlns:a16="http://schemas.microsoft.com/office/drawing/2014/main" id="{EEBDDA85-157F-E276-8CD4-82943AD3EFD7}"/>
              </a:ext>
            </a:extLst>
          </p:cNvPr>
          <p:cNvSpPr/>
          <p:nvPr/>
        </p:nvSpPr>
        <p:spPr>
          <a:xfrm>
            <a:off x="5399532" y="370332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a:t>
            </a:r>
            <a:endParaRPr lang="en-IN" sz="2800" b="1" dirty="0"/>
          </a:p>
        </p:txBody>
      </p:sp>
      <p:sp>
        <p:nvSpPr>
          <p:cNvPr id="12" name="TextBox 11">
            <a:extLst>
              <a:ext uri="{FF2B5EF4-FFF2-40B4-BE49-F238E27FC236}">
                <a16:creationId xmlns:a16="http://schemas.microsoft.com/office/drawing/2014/main" id="{AE2BDAC4-4AD8-FA83-D665-53753E748874}"/>
              </a:ext>
            </a:extLst>
          </p:cNvPr>
          <p:cNvSpPr txBox="1"/>
          <p:nvPr/>
        </p:nvSpPr>
        <p:spPr>
          <a:xfrm>
            <a:off x="3150108" y="3703320"/>
            <a:ext cx="265176" cy="521207"/>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TextBox 12">
            <a:extLst>
              <a:ext uri="{FF2B5EF4-FFF2-40B4-BE49-F238E27FC236}">
                <a16:creationId xmlns:a16="http://schemas.microsoft.com/office/drawing/2014/main" id="{A572C760-7841-855D-0533-9246DDDB7E68}"/>
              </a:ext>
            </a:extLst>
          </p:cNvPr>
          <p:cNvSpPr txBox="1"/>
          <p:nvPr/>
        </p:nvSpPr>
        <p:spPr>
          <a:xfrm>
            <a:off x="4722876" y="3703320"/>
            <a:ext cx="265176" cy="521207"/>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4" name="Recommendations"/>
          <p:cNvSpPr txBox="1"/>
          <p:nvPr/>
        </p:nvSpPr>
        <p:spPr>
          <a:xfrm>
            <a:off x="8229600" y="731520"/>
            <a:ext cx="3593592" cy="2185214"/>
          </a:xfrm>
          <a:prstGeom prst="rect">
            <a:avLst/>
          </a:prstGeom>
          <a:noFill/>
        </p:spPr>
        <p:txBody>
          <a:bodyPr wrap="square">
            <a:spAutoFit/>
          </a:bodyPr>
          <a:lstStyle/>
          <a:p>
            <a:r>
              <a:rPr lang="en-US" sz="1600" b="1" dirty="0">
                <a:solidFill>
                  <a:srgbClr val="0B3D8C"/>
                </a:solidFill>
              </a:rPr>
              <a:t>Recommendations</a:t>
            </a:r>
          </a:p>
          <a:p>
            <a:r>
              <a:rPr lang="en-US" sz="1200" dirty="0"/>
              <a:t>Add a new slide after Page 2:</a:t>
            </a:r>
          </a:p>
          <a:p>
            <a:r>
              <a:rPr lang="en-US" sz="1200" b="1" dirty="0"/>
              <a:t>Heading Text:</a:t>
            </a:r>
            <a:r>
              <a:rPr lang="hi-IN" sz="1200" dirty="0"/>
              <a:t> कुल कितने ब्लॉक्स?</a:t>
            </a:r>
          </a:p>
          <a:p>
            <a:r>
              <a:rPr lang="en-US" sz="1200" b="1" dirty="0"/>
              <a:t>Visuals:</a:t>
            </a:r>
            <a:r>
              <a:rPr lang="en-US" sz="1200" dirty="0"/>
              <a:t> Pari and Aaru with their blocks and the number of blocks .</a:t>
            </a:r>
          </a:p>
          <a:p>
            <a:endParaRPr lang="en-US" sz="1200" dirty="0"/>
          </a:p>
          <a:p>
            <a:r>
              <a:rPr lang="en-US" sz="1200" b="1" dirty="0"/>
              <a:t>VO:</a:t>
            </a:r>
            <a:r>
              <a:rPr lang="hi-IN" sz="1200" dirty="0"/>
              <a:t> परी और आरु ब्लॉक्स से घर बना रहे हैं। परी के पास 27 ब्लॉक्स हैं और आरु के पास 15 ब्लॉक्स हैं। चलिए पता करते हैं, दोनों के पास मिलाकर कुल कितने ब्लॉक्स हैं?</a:t>
            </a:r>
            <a:endParaRPr lang="en-US" sz="1200" dirty="0"/>
          </a:p>
          <a:p>
            <a:r>
              <a:rPr lang="en-US" sz="1200" dirty="0"/>
              <a:t>Equation completes in sync with VO.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3 · 03_DEMO_COUNT.png</a:t>
            </a:r>
          </a:p>
        </p:txBody>
      </p:sp>
      <p:pic>
        <p:nvPicPr>
          <p:cNvPr id="3" name="Picture 2" descr="03_DEMO_COUNT.png"/>
          <p:cNvPicPr>
            <a:picLocks noChangeAspect="1"/>
          </p:cNvPicPr>
          <p:nvPr/>
        </p:nvPicPr>
        <p:blipFill>
          <a:blip r:embed="rId3"/>
          <a:stretch>
            <a:fillRect/>
          </a:stretch>
        </p:blipFill>
        <p:spPr>
          <a:xfrm>
            <a:off x="-1" y="5472114"/>
            <a:ext cx="2476389" cy="1385886"/>
          </a:xfrm>
          <a:prstGeom prst="rect">
            <a:avLst/>
          </a:prstGeom>
        </p:spPr>
      </p:pic>
      <p:sp>
        <p:nvSpPr>
          <p:cNvPr id="4" name="TextBox 3"/>
          <p:cNvSpPr txBox="1"/>
          <p:nvPr/>
        </p:nvSpPr>
        <p:spPr>
          <a:xfrm>
            <a:off x="6635957" y="312762"/>
            <a:ext cx="5586203" cy="6232475"/>
          </a:xfrm>
          <a:prstGeom prst="rect">
            <a:avLst/>
          </a:prstGeom>
          <a:noFill/>
        </p:spPr>
        <p:txBody>
          <a:bodyPr wrap="square">
            <a:spAutoFit/>
          </a:bodyPr>
          <a:lstStyle/>
          <a:p>
            <a:r>
              <a:rPr sz="1400" b="1" dirty="0">
                <a:solidFill>
                  <a:srgbClr val="0B3D8C"/>
                </a:solidFill>
              </a:rPr>
              <a:t>Recommendations</a:t>
            </a:r>
          </a:p>
          <a:p>
            <a:r>
              <a:rPr lang="en-US" altLang="en-US" sz="1100" dirty="0"/>
              <a:t>Replace the entire slide content with the following:</a:t>
            </a:r>
            <a:endParaRPr lang="hi-IN" sz="1100" b="1" dirty="0">
              <a:solidFill>
                <a:srgbClr val="0B3D8C"/>
              </a:solidFill>
            </a:endParaRPr>
          </a:p>
          <a:p>
            <a:r>
              <a:rPr lang="en-US" sz="1100" dirty="0"/>
              <a:t>Heading Text:</a:t>
            </a:r>
            <a:r>
              <a:rPr lang="hi-IN" sz="1100" dirty="0"/>
              <a:t> आइए, </a:t>
            </a:r>
            <a:r>
              <a:rPr lang="en-US" sz="1100" dirty="0"/>
              <a:t>27</a:t>
            </a:r>
            <a:r>
              <a:rPr lang="hi-IN" sz="1100" dirty="0"/>
              <a:t> और </a:t>
            </a:r>
            <a:r>
              <a:rPr lang="en-US" sz="1100" dirty="0"/>
              <a:t>15</a:t>
            </a:r>
            <a:r>
              <a:rPr lang="hi-IN" sz="1100" dirty="0"/>
              <a:t> को जोड़ते हैं। </a:t>
            </a:r>
          </a:p>
          <a:p>
            <a:r>
              <a:rPr lang="en-US" sz="1100" dirty="0"/>
              <a:t>Heading VO: </a:t>
            </a:r>
            <a:r>
              <a:rPr lang="hi-IN" sz="1100" dirty="0"/>
              <a:t>आइए,</a:t>
            </a:r>
            <a:r>
              <a:rPr lang="en-US" sz="1100" dirty="0"/>
              <a:t> 27</a:t>
            </a:r>
            <a:r>
              <a:rPr lang="hi-IN" sz="1100" dirty="0"/>
              <a:t> और </a:t>
            </a:r>
            <a:r>
              <a:rPr lang="en-US" sz="1100" dirty="0"/>
              <a:t>15</a:t>
            </a:r>
            <a:r>
              <a:rPr lang="hi-IN" sz="1100" dirty="0"/>
              <a:t> को जोड़ते हैं।</a:t>
            </a:r>
          </a:p>
          <a:p>
            <a:r>
              <a:rPr lang="en-US" sz="1100" b="1" dirty="0"/>
              <a:t>VO1: </a:t>
            </a:r>
            <a:r>
              <a:rPr lang="hi-IN" sz="1100" dirty="0"/>
              <a:t>सबसे पहले ब्लॉक्स की सहायता से दोनों संख्याएँ बनाते हैं।</a:t>
            </a:r>
          </a:p>
          <a:p>
            <a:r>
              <a:rPr lang="en-US" sz="1100" b="1" dirty="0"/>
              <a:t>VO2: </a:t>
            </a:r>
            <a:r>
              <a:rPr lang="en-US" sz="1100" dirty="0"/>
              <a:t>27</a:t>
            </a:r>
            <a:r>
              <a:rPr lang="hi-IN" sz="1100" dirty="0"/>
              <a:t> में </a:t>
            </a:r>
            <a:r>
              <a:rPr lang="en-US" sz="1100" dirty="0"/>
              <a:t>2</a:t>
            </a:r>
            <a:r>
              <a:rPr lang="hi-IN" sz="1100" dirty="0"/>
              <a:t> दहाई और </a:t>
            </a:r>
            <a:r>
              <a:rPr lang="en-US" sz="1100" dirty="0"/>
              <a:t>7</a:t>
            </a:r>
            <a:r>
              <a:rPr lang="hi-IN" sz="1100" dirty="0"/>
              <a:t> इकाई हैं।</a:t>
            </a:r>
            <a:r>
              <a:rPr lang="en-US" sz="1100" dirty="0"/>
              <a:t> </a:t>
            </a:r>
            <a:r>
              <a:rPr lang="en-US" sz="1100" i="1" dirty="0"/>
              <a:t>[PV table appears below 27 and highlight digit 2 → Tens column and digit 7 → Ones column in sync with the VO.]</a:t>
            </a:r>
            <a:endParaRPr lang="en-US" sz="1100" dirty="0"/>
          </a:p>
          <a:p>
            <a:r>
              <a:rPr lang="en-US" sz="1100" b="1" dirty="0"/>
              <a:t>VO3: </a:t>
            </a:r>
            <a:r>
              <a:rPr lang="hi-IN" sz="1100" dirty="0"/>
              <a:t>पहले </a:t>
            </a:r>
            <a:r>
              <a:rPr lang="en-US" sz="1100" dirty="0"/>
              <a:t>2</a:t>
            </a:r>
            <a:r>
              <a:rPr lang="hi-IN" sz="1100" dirty="0"/>
              <a:t> दहाई के लिए </a:t>
            </a:r>
            <a:r>
              <a:rPr lang="en-US" sz="1100" dirty="0"/>
              <a:t>2</a:t>
            </a:r>
            <a:r>
              <a:rPr lang="hi-IN" sz="1100" dirty="0"/>
              <a:t> बंडल रखते हैं।</a:t>
            </a:r>
            <a:r>
              <a:rPr lang="en-US" sz="1100" dirty="0"/>
              <a:t> </a:t>
            </a:r>
            <a:r>
              <a:rPr lang="en-US" sz="1100" i="1" dirty="0"/>
              <a:t>[</a:t>
            </a:r>
            <a:r>
              <a:rPr lang="en-US" sz="1100" i="1" dirty="0" err="1"/>
              <a:t>Swiftee</a:t>
            </a:r>
            <a:r>
              <a:rPr lang="en-US" sz="1100" i="1" dirty="0"/>
              <a:t> taps the Tens + button twice. Two Tens rods appear one by one.]</a:t>
            </a:r>
            <a:endParaRPr lang="en-US" sz="1100" dirty="0"/>
          </a:p>
          <a:p>
            <a:r>
              <a:rPr lang="en-US" sz="1100" b="1" dirty="0"/>
              <a:t>VO4: </a:t>
            </a:r>
            <a:r>
              <a:rPr lang="hi-IN" sz="1100" dirty="0"/>
              <a:t>अब </a:t>
            </a:r>
            <a:r>
              <a:rPr lang="en-US" sz="1100" dirty="0"/>
              <a:t>7 </a:t>
            </a:r>
            <a:r>
              <a:rPr lang="hi-IN" sz="1100" dirty="0"/>
              <a:t>इकाइयों के लिए </a:t>
            </a:r>
            <a:r>
              <a:rPr lang="en-US" sz="1100" dirty="0"/>
              <a:t>7</a:t>
            </a:r>
            <a:r>
              <a:rPr lang="hi-IN" sz="1100" dirty="0"/>
              <a:t> ब्लॉक रखते हैं।</a:t>
            </a:r>
            <a:r>
              <a:rPr lang="en-US" sz="1100" dirty="0"/>
              <a:t> </a:t>
            </a:r>
            <a:r>
              <a:rPr lang="en-US" sz="1100" i="1" dirty="0" err="1"/>
              <a:t>[Swiftee</a:t>
            </a:r>
            <a:r>
              <a:rPr lang="en-US" sz="1100" i="1" dirty="0"/>
              <a:t> taps the Ones + button 7 times. Seven blocks appear one by one.]</a:t>
            </a:r>
            <a:endParaRPr lang="hi-IN" sz="1100" i="1" dirty="0"/>
          </a:p>
          <a:p>
            <a:r>
              <a:rPr lang="en-US" sz="1100" b="1" dirty="0"/>
              <a:t>VO5:</a:t>
            </a:r>
            <a:r>
              <a:rPr lang="en-US" sz="1100" dirty="0"/>
              <a:t> </a:t>
            </a:r>
            <a:r>
              <a:rPr lang="hi-IN" sz="1100" dirty="0"/>
              <a:t>इसी तरह, </a:t>
            </a:r>
            <a:r>
              <a:rPr lang="en-US" sz="1100" dirty="0"/>
              <a:t>15</a:t>
            </a:r>
            <a:r>
              <a:rPr lang="hi-IN" sz="1100" dirty="0"/>
              <a:t> में </a:t>
            </a:r>
            <a:r>
              <a:rPr lang="en-US" sz="1100" dirty="0"/>
              <a:t>1</a:t>
            </a:r>
            <a:r>
              <a:rPr lang="hi-IN" sz="1100" dirty="0"/>
              <a:t> दहाई और </a:t>
            </a:r>
            <a:r>
              <a:rPr lang="en-US" sz="1100" dirty="0"/>
              <a:t>5</a:t>
            </a:r>
            <a:r>
              <a:rPr lang="hi-IN" sz="1100" dirty="0"/>
              <a:t> इकाई हैं। </a:t>
            </a:r>
            <a:r>
              <a:rPr lang="en-US" sz="1100" i="1" dirty="0"/>
              <a:t>[PV table appears below 15 and highlight digit 1 → Tens and digit 5 → Ones in sync with VO.]</a:t>
            </a:r>
            <a:endParaRPr lang="hi-IN" sz="1100" dirty="0"/>
          </a:p>
          <a:p>
            <a:r>
              <a:rPr lang="en-US" sz="1100" b="1" dirty="0"/>
              <a:t>VO6:</a:t>
            </a:r>
            <a:r>
              <a:rPr lang="en-US" sz="1100" dirty="0"/>
              <a:t> </a:t>
            </a:r>
            <a:r>
              <a:rPr lang="hi-IN" sz="1100" dirty="0"/>
              <a:t>अब आप ब्लॉक्स की सहायता से </a:t>
            </a:r>
            <a:r>
              <a:rPr lang="en-US" sz="1100" dirty="0"/>
              <a:t>15</a:t>
            </a:r>
            <a:r>
              <a:rPr lang="hi-IN" sz="1100" dirty="0"/>
              <a:t> बनाइए।</a:t>
            </a:r>
            <a:r>
              <a:rPr lang="en-US" sz="1100" i="1" dirty="0"/>
              <a:t>[Pulsate the Tens </a:t>
            </a:r>
            <a:r>
              <a:rPr lang="en-US" sz="1100" b="1" i="1" dirty="0"/>
              <a:t>+</a:t>
            </a:r>
            <a:r>
              <a:rPr lang="en-US" sz="1100" i="1" dirty="0"/>
              <a:t> button; disable after 1 tap. Then pulsate the Ones </a:t>
            </a:r>
            <a:r>
              <a:rPr lang="en-US" sz="1100" b="1" i="1" dirty="0"/>
              <a:t>+</a:t>
            </a:r>
            <a:r>
              <a:rPr lang="en-US" sz="1100" i="1" dirty="0"/>
              <a:t> button; disable after 5 taps. If idle after 1 tap, pulsate again until 5 blocks are added.]</a:t>
            </a:r>
            <a:endParaRPr lang="hi-IN" sz="1100" i="1" dirty="0"/>
          </a:p>
          <a:p>
            <a:r>
              <a:rPr lang="en-US" sz="1100" b="1" dirty="0"/>
              <a:t>VO7: </a:t>
            </a:r>
            <a:r>
              <a:rPr lang="hi-IN" sz="1100" dirty="0"/>
              <a:t>बहुत बढ़िया! अब दोनों संख्याओं को जोड़ते हैं।</a:t>
            </a:r>
            <a:r>
              <a:rPr lang="en-US" sz="1100" dirty="0"/>
              <a:t>[Remove the Tens and Ones source buttons, then show the place-value table below for the sum.]</a:t>
            </a:r>
            <a:endParaRPr lang="hi-IN" sz="1100" dirty="0"/>
          </a:p>
          <a:p>
            <a:r>
              <a:rPr lang="en-US" sz="1100" b="1" dirty="0"/>
              <a:t>VO8: </a:t>
            </a:r>
            <a:r>
              <a:rPr lang="hi-IN" sz="1100" dirty="0"/>
              <a:t>पहले इकाइयों को जोड़ते हैं।</a:t>
            </a:r>
            <a:r>
              <a:rPr lang="en-US" sz="1100" dirty="0"/>
              <a:t> </a:t>
            </a:r>
            <a:r>
              <a:rPr lang="en-US" sz="1100" i="1" dirty="0"/>
              <a:t>[Tens are disabled. Pulsate the Ones blocks until all are tapped; each tapped block moves to the sum card, leaving a greyed-out image behind.]</a:t>
            </a:r>
            <a:endParaRPr lang="en-US" sz="1100" dirty="0"/>
          </a:p>
          <a:p>
            <a:r>
              <a:rPr lang="en-US" sz="1100" b="1" dirty="0"/>
              <a:t>VO9: </a:t>
            </a:r>
            <a:r>
              <a:rPr lang="hi-IN" sz="1100" dirty="0"/>
              <a:t>7 इकाइयाँ और 5 इकाइयाँ मिलाकर हुईं 12 इकाइयाँ।</a:t>
            </a:r>
            <a:r>
              <a:rPr lang="en-US" sz="1100" i="1" dirty="0"/>
              <a:t> [Highlights the blocks on the sum card in sync with the VO.]</a:t>
            </a:r>
            <a:endParaRPr lang="hi-IN" sz="1100" dirty="0"/>
          </a:p>
          <a:p>
            <a:r>
              <a:rPr lang="en-US" sz="1100" b="1" dirty="0"/>
              <a:t>VO10: </a:t>
            </a:r>
            <a:r>
              <a:rPr lang="hi-IN" sz="1100" dirty="0"/>
              <a:t>जैसा कि आपको पता है </a:t>
            </a:r>
            <a:r>
              <a:rPr lang="en-US" sz="1100" dirty="0"/>
              <a:t>10 </a:t>
            </a:r>
            <a:r>
              <a:rPr lang="hi-IN" sz="1100" dirty="0"/>
              <a:t>इकाइयाँ मिलकर </a:t>
            </a:r>
            <a:r>
              <a:rPr lang="en-US" sz="1100" dirty="0"/>
              <a:t>1 </a:t>
            </a:r>
            <a:r>
              <a:rPr lang="hi-IN" sz="1100" dirty="0"/>
              <a:t>दहाई बनाती हैं। </a:t>
            </a:r>
            <a:r>
              <a:rPr lang="en-US" sz="1100" dirty="0"/>
              <a:t>[</a:t>
            </a:r>
            <a:r>
              <a:rPr lang="en-US" sz="1100" i="1" dirty="0"/>
              <a:t>An outline  appears on 10 blocks.</a:t>
            </a:r>
            <a:r>
              <a:rPr lang="hi-IN" sz="1100" dirty="0"/>
              <a:t>]</a:t>
            </a:r>
            <a:r>
              <a:rPr lang="en-US" sz="1100" dirty="0"/>
              <a:t> </a:t>
            </a:r>
          </a:p>
          <a:p>
            <a:r>
              <a:rPr lang="en-US" sz="1100" b="1" dirty="0"/>
              <a:t>VO11: </a:t>
            </a:r>
            <a:r>
              <a:rPr lang="hi-IN" sz="1100" dirty="0"/>
              <a:t>इस</a:t>
            </a:r>
            <a:r>
              <a:rPr lang="hi-IN" sz="1100" b="1" dirty="0"/>
              <a:t> </a:t>
            </a:r>
            <a:r>
              <a:rPr lang="hi-IN" sz="1100" dirty="0"/>
              <a:t>बटन पर टैप करिए और दहाई बनाइए। [</a:t>
            </a:r>
            <a:r>
              <a:rPr lang="en-US" sz="1100" dirty="0"/>
              <a:t>A button </a:t>
            </a:r>
            <a:r>
              <a:rPr lang="hi-IN" sz="1100" dirty="0"/>
              <a:t>“</a:t>
            </a:r>
            <a:r>
              <a:rPr lang="hi-IN" sz="1100" b="1" dirty="0"/>
              <a:t>दहाई बनाओ” </a:t>
            </a:r>
            <a:r>
              <a:rPr lang="en-US" sz="1100" dirty="0"/>
              <a:t>appears below and pulsate.</a:t>
            </a:r>
            <a:r>
              <a:rPr lang="en-US" sz="1100" i="1" dirty="0"/>
              <a:t> As the child taps it, blocks animate to a rod.]</a:t>
            </a:r>
            <a:endParaRPr lang="hi-IN" sz="1100" dirty="0"/>
          </a:p>
          <a:p>
            <a:r>
              <a:rPr lang="en-US" sz="1100" b="1" dirty="0"/>
              <a:t>VO12:</a:t>
            </a:r>
            <a:r>
              <a:rPr lang="hi-IN" sz="1100" dirty="0"/>
              <a:t> नई दहाई को दहाई की जगह</a:t>
            </a:r>
            <a:r>
              <a:rPr lang="en-US" sz="1100" dirty="0"/>
              <a:t> </a:t>
            </a:r>
            <a:r>
              <a:rPr lang="hi-IN" sz="1100" dirty="0"/>
              <a:t>रखिए। </a:t>
            </a:r>
            <a:r>
              <a:rPr lang="en-US" sz="1100" i="1" dirty="0"/>
              <a:t>[Pulsate the new Tens rod and show a target tile in the Tens column. </a:t>
            </a:r>
            <a:r>
              <a:rPr lang="en-IN" sz="1100" dirty="0"/>
              <a:t>Ghost-drag animation </a:t>
            </a:r>
            <a:r>
              <a:rPr lang="en-US" sz="1100" dirty="0"/>
              <a:t>from the new Ten to the Tens column.</a:t>
            </a:r>
            <a:r>
              <a:rPr lang="en-US" sz="1100" i="1" dirty="0"/>
              <a:t>]</a:t>
            </a:r>
            <a:br>
              <a:rPr lang="hi-IN" sz="1100" dirty="0"/>
            </a:br>
            <a:r>
              <a:rPr lang="en-US" sz="1100" b="1" dirty="0"/>
              <a:t>VO13:</a:t>
            </a:r>
            <a:r>
              <a:rPr lang="en-US" sz="1100" dirty="0"/>
              <a:t> </a:t>
            </a:r>
            <a:r>
              <a:rPr lang="hi-IN" sz="1100" dirty="0"/>
              <a:t>अब</a:t>
            </a:r>
            <a:r>
              <a:rPr lang="en-US" sz="1100" dirty="0"/>
              <a:t> </a:t>
            </a:r>
            <a:r>
              <a:rPr lang="hi-IN" sz="1100" dirty="0"/>
              <a:t>दहाइयों को जोड़ते हैं। </a:t>
            </a:r>
            <a:r>
              <a:rPr lang="en-US" sz="1100" i="1" dirty="0"/>
              <a:t>[Pulsate the Tens rods until all are tapped; each tapped rod moves to the sum card, leaving a greyed-out image behind.]</a:t>
            </a:r>
          </a:p>
          <a:p>
            <a:r>
              <a:rPr lang="en-IN" sz="1100" b="1" dirty="0"/>
              <a:t>VO14:</a:t>
            </a:r>
            <a:r>
              <a:rPr lang="en-IN" sz="1100" dirty="0"/>
              <a:t> 2 </a:t>
            </a:r>
            <a:r>
              <a:rPr lang="hi-IN" sz="1100" dirty="0"/>
              <a:t>दहाई, </a:t>
            </a:r>
            <a:r>
              <a:rPr lang="en-US" sz="1100" dirty="0"/>
              <a:t>1</a:t>
            </a:r>
            <a:r>
              <a:rPr lang="hi-IN" sz="1100" dirty="0"/>
              <a:t> दहाई और </a:t>
            </a:r>
            <a:r>
              <a:rPr lang="en-US" sz="1100" dirty="0"/>
              <a:t>1</a:t>
            </a:r>
            <a:r>
              <a:rPr lang="hi-IN" sz="1100" dirty="0"/>
              <a:t> नई दहाई मिलाकर हुईं </a:t>
            </a:r>
            <a:r>
              <a:rPr lang="en-US" sz="1100" dirty="0"/>
              <a:t>4</a:t>
            </a:r>
            <a:r>
              <a:rPr lang="hi-IN" sz="1100" dirty="0"/>
              <a:t> दहाइयाँ।</a:t>
            </a:r>
            <a:r>
              <a:rPr lang="en-US" sz="1100" dirty="0"/>
              <a:t> </a:t>
            </a:r>
            <a:r>
              <a:rPr lang="en-US" sz="1100" i="1" dirty="0"/>
              <a:t>[Highlight the rods on the sum card in sync with the VO.]</a:t>
            </a:r>
            <a:endParaRPr lang="hi-IN" sz="1100" dirty="0"/>
          </a:p>
          <a:p>
            <a:r>
              <a:rPr lang="en-US" sz="1100" b="1" dirty="0"/>
              <a:t>VO15:</a:t>
            </a:r>
            <a:r>
              <a:rPr lang="en-IN" sz="1100" dirty="0"/>
              <a:t> </a:t>
            </a:r>
            <a:r>
              <a:rPr lang="hi-IN" sz="1100" dirty="0"/>
              <a:t>अब हमारे पास</a:t>
            </a:r>
            <a:r>
              <a:rPr lang="en-US" sz="1100" dirty="0"/>
              <a:t> </a:t>
            </a:r>
            <a:r>
              <a:rPr lang="hi-IN" sz="1100" dirty="0"/>
              <a:t>कुल </a:t>
            </a:r>
            <a:r>
              <a:rPr lang="en-US" sz="1100" dirty="0"/>
              <a:t>4</a:t>
            </a:r>
            <a:r>
              <a:rPr lang="hi-IN" sz="1100" dirty="0"/>
              <a:t> दहाइयाँ और </a:t>
            </a:r>
            <a:r>
              <a:rPr lang="en-US" sz="1100" dirty="0"/>
              <a:t>2</a:t>
            </a:r>
            <a:r>
              <a:rPr lang="hi-IN" sz="1100" dirty="0"/>
              <a:t> इकाइयाँ हैं, यानी </a:t>
            </a:r>
            <a:r>
              <a:rPr lang="en-US" sz="1100" dirty="0"/>
              <a:t>42</a:t>
            </a:r>
            <a:r>
              <a:rPr lang="hi-IN" sz="1100" dirty="0"/>
              <a:t> </a:t>
            </a:r>
            <a:r>
              <a:rPr lang="en-US" sz="1100" i="1" dirty="0"/>
              <a:t>[Highlight the rods, blocks, digits on the card and the number 42 in sync with the VO.]</a:t>
            </a:r>
            <a:endParaRPr lang="hi-IN" sz="1100" i="1" dirty="0"/>
          </a:p>
          <a:p>
            <a:r>
              <a:rPr lang="en-IN" sz="1100" b="1" dirty="0"/>
              <a:t>Completion VO:</a:t>
            </a:r>
            <a:r>
              <a:rPr lang="en-IN" sz="1100" dirty="0"/>
              <a:t> </a:t>
            </a:r>
            <a:r>
              <a:rPr lang="hi-IN" sz="1100" dirty="0"/>
              <a:t>शाबाश! </a:t>
            </a:r>
            <a:r>
              <a:rPr lang="en-US" sz="1100" dirty="0"/>
              <a:t>27</a:t>
            </a:r>
            <a:r>
              <a:rPr lang="hi-IN" sz="1100" dirty="0"/>
              <a:t> और </a:t>
            </a:r>
            <a:r>
              <a:rPr lang="en-US" sz="1100" dirty="0"/>
              <a:t>15</a:t>
            </a:r>
            <a:r>
              <a:rPr lang="hi-IN" sz="1100" dirty="0"/>
              <a:t> को जोड़ने पर</a:t>
            </a:r>
            <a:r>
              <a:rPr lang="en-US" sz="1100" dirty="0"/>
              <a:t> 42</a:t>
            </a:r>
            <a:r>
              <a:rPr lang="hi-IN" sz="1100" dirty="0"/>
              <a:t> मिलता है।</a:t>
            </a:r>
          </a:p>
        </p:txBody>
      </p:sp>
      <p:graphicFrame>
        <p:nvGraphicFramePr>
          <p:cNvPr id="5" name="Table 4">
            <a:extLst>
              <a:ext uri="{FF2B5EF4-FFF2-40B4-BE49-F238E27FC236}">
                <a16:creationId xmlns:a16="http://schemas.microsoft.com/office/drawing/2014/main" id="{894F3C96-2D4B-35A1-A8AC-177A0D5972CA}"/>
              </a:ext>
            </a:extLst>
          </p:cNvPr>
          <p:cNvGraphicFramePr>
            <a:graphicFrameLocks noGrp="1"/>
          </p:cNvGraphicFramePr>
          <p:nvPr>
            <p:extLst>
              <p:ext uri="{D42A27DB-BD31-4B8C-83A1-F6EECF244321}">
                <p14:modId xmlns:p14="http://schemas.microsoft.com/office/powerpoint/2010/main" val="2674308157"/>
              </p:ext>
            </p:extLst>
          </p:nvPr>
        </p:nvGraphicFramePr>
        <p:xfrm>
          <a:off x="532888" y="1472923"/>
          <a:ext cx="2777744" cy="1260542"/>
        </p:xfrm>
        <a:graphic>
          <a:graphicData uri="http://schemas.openxmlformats.org/drawingml/2006/table">
            <a:tbl>
              <a:tblPr firstRow="1" bandRow="1">
                <a:tableStyleId>{5C22544A-7EE6-4342-B048-85BDC9FD1C3A}</a:tableStyleId>
              </a:tblPr>
              <a:tblGrid>
                <a:gridCol w="1388872">
                  <a:extLst>
                    <a:ext uri="{9D8B030D-6E8A-4147-A177-3AD203B41FA5}">
                      <a16:colId xmlns:a16="http://schemas.microsoft.com/office/drawing/2014/main" val="1758657152"/>
                    </a:ext>
                  </a:extLst>
                </a:gridCol>
                <a:gridCol w="1388872">
                  <a:extLst>
                    <a:ext uri="{9D8B030D-6E8A-4147-A177-3AD203B41FA5}">
                      <a16:colId xmlns:a16="http://schemas.microsoft.com/office/drawing/2014/main" val="4045408627"/>
                    </a:ext>
                  </a:extLst>
                </a:gridCol>
              </a:tblGrid>
              <a:tr h="225041">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1001462">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sp>
        <p:nvSpPr>
          <p:cNvPr id="6" name="Rectangle: Rounded Corners 5">
            <a:extLst>
              <a:ext uri="{FF2B5EF4-FFF2-40B4-BE49-F238E27FC236}">
                <a16:creationId xmlns:a16="http://schemas.microsoft.com/office/drawing/2014/main" id="{158FFD65-C0CA-4EEB-00B9-D20BF42FB329}"/>
              </a:ext>
            </a:extLst>
          </p:cNvPr>
          <p:cNvSpPr/>
          <p:nvPr/>
        </p:nvSpPr>
        <p:spPr>
          <a:xfrm>
            <a:off x="1638296" y="1012164"/>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27</a:t>
            </a:r>
            <a:endParaRPr lang="en-IN" b="1" dirty="0"/>
          </a:p>
        </p:txBody>
      </p:sp>
      <p:pic>
        <p:nvPicPr>
          <p:cNvPr id="7" name="Picture 6" descr="A green rectangular object with black background&#10;&#10;AI-generated content may be incorrect.">
            <a:extLst>
              <a:ext uri="{FF2B5EF4-FFF2-40B4-BE49-F238E27FC236}">
                <a16:creationId xmlns:a16="http://schemas.microsoft.com/office/drawing/2014/main" id="{2D4BFFA1-5C9E-CFD7-2BB6-6D83F2EA312C}"/>
              </a:ext>
            </a:extLst>
          </p:cNvPr>
          <p:cNvPicPr>
            <a:picLocks noChangeAspect="1"/>
          </p:cNvPicPr>
          <p:nvPr/>
        </p:nvPicPr>
        <p:blipFill>
          <a:blip r:embed="rId4"/>
          <a:stretch>
            <a:fillRect/>
          </a:stretch>
        </p:blipFill>
        <p:spPr>
          <a:xfrm>
            <a:off x="835850" y="1861782"/>
            <a:ext cx="501194" cy="751791"/>
          </a:xfrm>
          <a:prstGeom prst="rect">
            <a:avLst/>
          </a:prstGeom>
        </p:spPr>
      </p:pic>
      <p:pic>
        <p:nvPicPr>
          <p:cNvPr id="8" name="Picture 7" descr="A green rectangular object with black background&#10;&#10;AI-generated content may be incorrect.">
            <a:extLst>
              <a:ext uri="{FF2B5EF4-FFF2-40B4-BE49-F238E27FC236}">
                <a16:creationId xmlns:a16="http://schemas.microsoft.com/office/drawing/2014/main" id="{5B1A3DB5-6EC4-28A9-7D8F-E3B6DEB9E0DD}"/>
              </a:ext>
            </a:extLst>
          </p:cNvPr>
          <p:cNvPicPr>
            <a:picLocks noChangeAspect="1"/>
          </p:cNvPicPr>
          <p:nvPr/>
        </p:nvPicPr>
        <p:blipFill>
          <a:blip r:embed="rId4"/>
          <a:stretch>
            <a:fillRect/>
          </a:stretch>
        </p:blipFill>
        <p:spPr>
          <a:xfrm>
            <a:off x="988250" y="1861781"/>
            <a:ext cx="501194" cy="751791"/>
          </a:xfrm>
          <a:prstGeom prst="rect">
            <a:avLst/>
          </a:prstGeom>
        </p:spPr>
      </p:pic>
      <p:pic>
        <p:nvPicPr>
          <p:cNvPr id="9" name="Picture 8" descr="A yellow cube with black background&#10;&#10;AI-generated content may be incorrect.">
            <a:extLst>
              <a:ext uri="{FF2B5EF4-FFF2-40B4-BE49-F238E27FC236}">
                <a16:creationId xmlns:a16="http://schemas.microsoft.com/office/drawing/2014/main" id="{CDC9C69F-38D8-52F9-37AA-0A986FA5DAF5}"/>
              </a:ext>
            </a:extLst>
          </p:cNvPr>
          <p:cNvPicPr>
            <a:picLocks noChangeAspect="1"/>
          </p:cNvPicPr>
          <p:nvPr/>
        </p:nvPicPr>
        <p:blipFill>
          <a:blip r:embed="rId5"/>
          <a:stretch>
            <a:fillRect/>
          </a:stretch>
        </p:blipFill>
        <p:spPr>
          <a:xfrm>
            <a:off x="2229269" y="2051864"/>
            <a:ext cx="188427" cy="157023"/>
          </a:xfrm>
          <a:prstGeom prst="rect">
            <a:avLst/>
          </a:prstGeom>
        </p:spPr>
      </p:pic>
      <p:pic>
        <p:nvPicPr>
          <p:cNvPr id="10" name="Picture 9" descr="A yellow cube with black background&#10;&#10;AI-generated content may be incorrect.">
            <a:extLst>
              <a:ext uri="{FF2B5EF4-FFF2-40B4-BE49-F238E27FC236}">
                <a16:creationId xmlns:a16="http://schemas.microsoft.com/office/drawing/2014/main" id="{7F27A757-8D87-A7B6-F361-985F6BB54004}"/>
              </a:ext>
            </a:extLst>
          </p:cNvPr>
          <p:cNvPicPr>
            <a:picLocks noChangeAspect="1"/>
          </p:cNvPicPr>
          <p:nvPr/>
        </p:nvPicPr>
        <p:blipFill>
          <a:blip r:embed="rId5"/>
          <a:stretch>
            <a:fillRect/>
          </a:stretch>
        </p:blipFill>
        <p:spPr>
          <a:xfrm>
            <a:off x="2417696" y="2053668"/>
            <a:ext cx="188427" cy="157023"/>
          </a:xfrm>
          <a:prstGeom prst="rect">
            <a:avLst/>
          </a:prstGeom>
        </p:spPr>
      </p:pic>
      <p:pic>
        <p:nvPicPr>
          <p:cNvPr id="11" name="Picture 10" descr="A yellow cube with black background&#10;&#10;AI-generated content may be incorrect.">
            <a:extLst>
              <a:ext uri="{FF2B5EF4-FFF2-40B4-BE49-F238E27FC236}">
                <a16:creationId xmlns:a16="http://schemas.microsoft.com/office/drawing/2014/main" id="{380EC2BD-6715-1787-9110-1CCCF5ACDAC5}"/>
              </a:ext>
            </a:extLst>
          </p:cNvPr>
          <p:cNvPicPr>
            <a:picLocks noChangeAspect="1"/>
          </p:cNvPicPr>
          <p:nvPr/>
        </p:nvPicPr>
        <p:blipFill>
          <a:blip r:embed="rId5"/>
          <a:stretch>
            <a:fillRect/>
          </a:stretch>
        </p:blipFill>
        <p:spPr>
          <a:xfrm>
            <a:off x="2606123" y="2054965"/>
            <a:ext cx="188427" cy="157023"/>
          </a:xfrm>
          <a:prstGeom prst="rect">
            <a:avLst/>
          </a:prstGeom>
        </p:spPr>
      </p:pic>
      <p:graphicFrame>
        <p:nvGraphicFramePr>
          <p:cNvPr id="12" name="Table 11">
            <a:extLst>
              <a:ext uri="{FF2B5EF4-FFF2-40B4-BE49-F238E27FC236}">
                <a16:creationId xmlns:a16="http://schemas.microsoft.com/office/drawing/2014/main" id="{D4BCD083-06A4-B6FA-F72D-6A250BC40CA9}"/>
              </a:ext>
            </a:extLst>
          </p:cNvPr>
          <p:cNvGraphicFramePr>
            <a:graphicFrameLocks noGrp="1"/>
          </p:cNvGraphicFramePr>
          <p:nvPr>
            <p:extLst>
              <p:ext uri="{D42A27DB-BD31-4B8C-83A1-F6EECF244321}">
                <p14:modId xmlns:p14="http://schemas.microsoft.com/office/powerpoint/2010/main" val="359279211"/>
              </p:ext>
            </p:extLst>
          </p:nvPr>
        </p:nvGraphicFramePr>
        <p:xfrm>
          <a:off x="3765994" y="1472923"/>
          <a:ext cx="2777744" cy="1260542"/>
        </p:xfrm>
        <a:graphic>
          <a:graphicData uri="http://schemas.openxmlformats.org/drawingml/2006/table">
            <a:tbl>
              <a:tblPr firstRow="1" bandRow="1">
                <a:tableStyleId>{5C22544A-7EE6-4342-B048-85BDC9FD1C3A}</a:tableStyleId>
              </a:tblPr>
              <a:tblGrid>
                <a:gridCol w="1388872">
                  <a:extLst>
                    <a:ext uri="{9D8B030D-6E8A-4147-A177-3AD203B41FA5}">
                      <a16:colId xmlns:a16="http://schemas.microsoft.com/office/drawing/2014/main" val="1758657152"/>
                    </a:ext>
                  </a:extLst>
                </a:gridCol>
                <a:gridCol w="1388872">
                  <a:extLst>
                    <a:ext uri="{9D8B030D-6E8A-4147-A177-3AD203B41FA5}">
                      <a16:colId xmlns:a16="http://schemas.microsoft.com/office/drawing/2014/main" val="4045408627"/>
                    </a:ext>
                  </a:extLst>
                </a:gridCol>
              </a:tblGrid>
              <a:tr h="225041">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1001462">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sp>
        <p:nvSpPr>
          <p:cNvPr id="13" name="Rectangle: Rounded Corners 12">
            <a:extLst>
              <a:ext uri="{FF2B5EF4-FFF2-40B4-BE49-F238E27FC236}">
                <a16:creationId xmlns:a16="http://schemas.microsoft.com/office/drawing/2014/main" id="{4E6A36D1-D27C-65D2-E171-064A2AFB790C}"/>
              </a:ext>
            </a:extLst>
          </p:cNvPr>
          <p:cNvSpPr/>
          <p:nvPr/>
        </p:nvSpPr>
        <p:spPr>
          <a:xfrm>
            <a:off x="4871402" y="1012164"/>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15</a:t>
            </a:r>
            <a:endParaRPr lang="en-IN" b="1" dirty="0"/>
          </a:p>
        </p:txBody>
      </p:sp>
      <p:pic>
        <p:nvPicPr>
          <p:cNvPr id="14" name="Picture 13" descr="A yellow cube with black background&#10;&#10;AI-generated content may be incorrect.">
            <a:extLst>
              <a:ext uri="{FF2B5EF4-FFF2-40B4-BE49-F238E27FC236}">
                <a16:creationId xmlns:a16="http://schemas.microsoft.com/office/drawing/2014/main" id="{B7C106C9-B926-BC61-F0E3-7AECE3229AE0}"/>
              </a:ext>
            </a:extLst>
          </p:cNvPr>
          <p:cNvPicPr>
            <a:picLocks noChangeAspect="1"/>
          </p:cNvPicPr>
          <p:nvPr/>
        </p:nvPicPr>
        <p:blipFill>
          <a:blip r:embed="rId5"/>
          <a:stretch>
            <a:fillRect/>
          </a:stretch>
        </p:blipFill>
        <p:spPr>
          <a:xfrm>
            <a:off x="2949043" y="2070152"/>
            <a:ext cx="188427" cy="157023"/>
          </a:xfrm>
          <a:prstGeom prst="rect">
            <a:avLst/>
          </a:prstGeom>
        </p:spPr>
      </p:pic>
      <p:pic>
        <p:nvPicPr>
          <p:cNvPr id="15" name="Picture 14" descr="A yellow cube with black background&#10;&#10;AI-generated content may be incorrect.">
            <a:extLst>
              <a:ext uri="{FF2B5EF4-FFF2-40B4-BE49-F238E27FC236}">
                <a16:creationId xmlns:a16="http://schemas.microsoft.com/office/drawing/2014/main" id="{EBC61256-324B-9710-F07C-735796B75AC3}"/>
              </a:ext>
            </a:extLst>
          </p:cNvPr>
          <p:cNvPicPr>
            <a:picLocks noChangeAspect="1"/>
          </p:cNvPicPr>
          <p:nvPr/>
        </p:nvPicPr>
        <p:blipFill>
          <a:blip r:embed="rId5"/>
          <a:stretch>
            <a:fillRect/>
          </a:stretch>
        </p:blipFill>
        <p:spPr>
          <a:xfrm>
            <a:off x="2777583" y="2054965"/>
            <a:ext cx="188427" cy="157023"/>
          </a:xfrm>
          <a:prstGeom prst="rect">
            <a:avLst/>
          </a:prstGeom>
        </p:spPr>
      </p:pic>
      <p:pic>
        <p:nvPicPr>
          <p:cNvPr id="16" name="Picture 15" descr="A yellow cube with black background&#10;&#10;AI-generated content may be incorrect.">
            <a:extLst>
              <a:ext uri="{FF2B5EF4-FFF2-40B4-BE49-F238E27FC236}">
                <a16:creationId xmlns:a16="http://schemas.microsoft.com/office/drawing/2014/main" id="{3F01C68F-93D9-C4D0-9C5C-7E9BA961D0F2}"/>
              </a:ext>
            </a:extLst>
          </p:cNvPr>
          <p:cNvPicPr>
            <a:picLocks noChangeAspect="1"/>
          </p:cNvPicPr>
          <p:nvPr/>
        </p:nvPicPr>
        <p:blipFill>
          <a:blip r:embed="rId5"/>
          <a:stretch>
            <a:fillRect/>
          </a:stretch>
        </p:blipFill>
        <p:spPr>
          <a:xfrm>
            <a:off x="2229269" y="2220011"/>
            <a:ext cx="188427" cy="157023"/>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8AE26D5A-474E-8CE3-A008-47F53D1B390F}"/>
              </a:ext>
            </a:extLst>
          </p:cNvPr>
          <p:cNvPicPr>
            <a:picLocks noChangeAspect="1"/>
          </p:cNvPicPr>
          <p:nvPr/>
        </p:nvPicPr>
        <p:blipFill>
          <a:blip r:embed="rId5"/>
          <a:stretch>
            <a:fillRect/>
          </a:stretch>
        </p:blipFill>
        <p:spPr>
          <a:xfrm>
            <a:off x="2417696" y="2221815"/>
            <a:ext cx="188427" cy="157023"/>
          </a:xfrm>
          <a:prstGeom prst="rect">
            <a:avLst/>
          </a:prstGeom>
        </p:spPr>
      </p:pic>
      <p:pic>
        <p:nvPicPr>
          <p:cNvPr id="18" name="Picture 17" descr="A green rectangular object with black background&#10;&#10;AI-generated content may be incorrect.">
            <a:extLst>
              <a:ext uri="{FF2B5EF4-FFF2-40B4-BE49-F238E27FC236}">
                <a16:creationId xmlns:a16="http://schemas.microsoft.com/office/drawing/2014/main" id="{395FA73E-5550-EFB8-26EE-BFDD9C7080C5}"/>
              </a:ext>
            </a:extLst>
          </p:cNvPr>
          <p:cNvPicPr>
            <a:picLocks noChangeAspect="1"/>
          </p:cNvPicPr>
          <p:nvPr/>
        </p:nvPicPr>
        <p:blipFill>
          <a:blip r:embed="rId4"/>
          <a:stretch>
            <a:fillRect/>
          </a:stretch>
        </p:blipFill>
        <p:spPr>
          <a:xfrm>
            <a:off x="4191869" y="1869805"/>
            <a:ext cx="501194" cy="751791"/>
          </a:xfrm>
          <a:prstGeom prst="rect">
            <a:avLst/>
          </a:prstGeom>
        </p:spPr>
      </p:pic>
      <p:pic>
        <p:nvPicPr>
          <p:cNvPr id="20" name="Picture 19" descr="A yellow cube with black background&#10;&#10;AI-generated content may be incorrect.">
            <a:extLst>
              <a:ext uri="{FF2B5EF4-FFF2-40B4-BE49-F238E27FC236}">
                <a16:creationId xmlns:a16="http://schemas.microsoft.com/office/drawing/2014/main" id="{1CF6492D-7C4D-3BD8-2654-2AF4A16D761B}"/>
              </a:ext>
            </a:extLst>
          </p:cNvPr>
          <p:cNvPicPr>
            <a:picLocks noChangeAspect="1"/>
          </p:cNvPicPr>
          <p:nvPr/>
        </p:nvPicPr>
        <p:blipFill>
          <a:blip r:embed="rId5"/>
          <a:stretch>
            <a:fillRect/>
          </a:stretch>
        </p:blipFill>
        <p:spPr>
          <a:xfrm>
            <a:off x="5449937" y="2163857"/>
            <a:ext cx="188427" cy="157023"/>
          </a:xfrm>
          <a:prstGeom prst="rect">
            <a:avLst/>
          </a:prstGeom>
        </p:spPr>
      </p:pic>
      <p:pic>
        <p:nvPicPr>
          <p:cNvPr id="21" name="Picture 20" descr="A yellow cube with black background&#10;&#10;AI-generated content may be incorrect.">
            <a:extLst>
              <a:ext uri="{FF2B5EF4-FFF2-40B4-BE49-F238E27FC236}">
                <a16:creationId xmlns:a16="http://schemas.microsoft.com/office/drawing/2014/main" id="{FE7AE685-B688-FC9A-5CB9-92D43E6A778D}"/>
              </a:ext>
            </a:extLst>
          </p:cNvPr>
          <p:cNvPicPr>
            <a:picLocks noChangeAspect="1"/>
          </p:cNvPicPr>
          <p:nvPr/>
        </p:nvPicPr>
        <p:blipFill>
          <a:blip r:embed="rId5"/>
          <a:stretch>
            <a:fillRect/>
          </a:stretch>
        </p:blipFill>
        <p:spPr>
          <a:xfrm>
            <a:off x="5638364" y="2165661"/>
            <a:ext cx="188427" cy="157023"/>
          </a:xfrm>
          <a:prstGeom prst="rect">
            <a:avLst/>
          </a:prstGeom>
        </p:spPr>
      </p:pic>
      <p:pic>
        <p:nvPicPr>
          <p:cNvPr id="22" name="Picture 21" descr="A yellow cube with black background&#10;&#10;AI-generated content may be incorrect.">
            <a:extLst>
              <a:ext uri="{FF2B5EF4-FFF2-40B4-BE49-F238E27FC236}">
                <a16:creationId xmlns:a16="http://schemas.microsoft.com/office/drawing/2014/main" id="{FCA88BB7-BF50-9B84-A35C-73DAD7A1B9FC}"/>
              </a:ext>
            </a:extLst>
          </p:cNvPr>
          <p:cNvPicPr>
            <a:picLocks noChangeAspect="1"/>
          </p:cNvPicPr>
          <p:nvPr/>
        </p:nvPicPr>
        <p:blipFill>
          <a:blip r:embed="rId5"/>
          <a:stretch>
            <a:fillRect/>
          </a:stretch>
        </p:blipFill>
        <p:spPr>
          <a:xfrm>
            <a:off x="5826791" y="2166958"/>
            <a:ext cx="188427" cy="157023"/>
          </a:xfrm>
          <a:prstGeom prst="rect">
            <a:avLst/>
          </a:prstGeom>
        </p:spPr>
      </p:pic>
      <p:pic>
        <p:nvPicPr>
          <p:cNvPr id="23" name="Picture 22" descr="A yellow cube with black background&#10;&#10;AI-generated content may be incorrect.">
            <a:extLst>
              <a:ext uri="{FF2B5EF4-FFF2-40B4-BE49-F238E27FC236}">
                <a16:creationId xmlns:a16="http://schemas.microsoft.com/office/drawing/2014/main" id="{C55AB5C3-E1EE-F14D-70F1-C9992FC8F34B}"/>
              </a:ext>
            </a:extLst>
          </p:cNvPr>
          <p:cNvPicPr>
            <a:picLocks noChangeAspect="1"/>
          </p:cNvPicPr>
          <p:nvPr/>
        </p:nvPicPr>
        <p:blipFill>
          <a:blip r:embed="rId5"/>
          <a:stretch>
            <a:fillRect/>
          </a:stretch>
        </p:blipFill>
        <p:spPr>
          <a:xfrm>
            <a:off x="6169711" y="2182145"/>
            <a:ext cx="188427" cy="157023"/>
          </a:xfrm>
          <a:prstGeom prst="rect">
            <a:avLst/>
          </a:prstGeom>
        </p:spPr>
      </p:pic>
      <p:pic>
        <p:nvPicPr>
          <p:cNvPr id="24" name="Picture 23" descr="A yellow cube with black background&#10;&#10;AI-generated content may be incorrect.">
            <a:extLst>
              <a:ext uri="{FF2B5EF4-FFF2-40B4-BE49-F238E27FC236}">
                <a16:creationId xmlns:a16="http://schemas.microsoft.com/office/drawing/2014/main" id="{962F0147-2FE4-6438-0FFB-94731B6F6C8D}"/>
              </a:ext>
            </a:extLst>
          </p:cNvPr>
          <p:cNvPicPr>
            <a:picLocks noChangeAspect="1"/>
          </p:cNvPicPr>
          <p:nvPr/>
        </p:nvPicPr>
        <p:blipFill>
          <a:blip r:embed="rId5"/>
          <a:stretch>
            <a:fillRect/>
          </a:stretch>
        </p:blipFill>
        <p:spPr>
          <a:xfrm>
            <a:off x="5998251" y="2166958"/>
            <a:ext cx="188427" cy="157023"/>
          </a:xfrm>
          <a:prstGeom prst="rect">
            <a:avLst/>
          </a:prstGeom>
        </p:spPr>
      </p:pic>
      <p:grpSp>
        <p:nvGrpSpPr>
          <p:cNvPr id="27" name="Group 26">
            <a:extLst>
              <a:ext uri="{FF2B5EF4-FFF2-40B4-BE49-F238E27FC236}">
                <a16:creationId xmlns:a16="http://schemas.microsoft.com/office/drawing/2014/main" id="{D0F0708D-FACA-C98D-7C16-9771DEA5C7B6}"/>
              </a:ext>
            </a:extLst>
          </p:cNvPr>
          <p:cNvGrpSpPr/>
          <p:nvPr/>
        </p:nvGrpSpPr>
        <p:grpSpPr>
          <a:xfrm>
            <a:off x="1921760" y="3018478"/>
            <a:ext cx="3215951" cy="546689"/>
            <a:chOff x="2607251" y="3803709"/>
            <a:chExt cx="3215951" cy="554777"/>
          </a:xfrm>
        </p:grpSpPr>
        <p:cxnSp>
          <p:nvCxnSpPr>
            <p:cNvPr id="28" name="Straight Connector 27">
              <a:extLst>
                <a:ext uri="{FF2B5EF4-FFF2-40B4-BE49-F238E27FC236}">
                  <a16:creationId xmlns:a16="http://schemas.microsoft.com/office/drawing/2014/main" id="{19893DFD-181A-2551-20DE-5FCE300A9CF8}"/>
                </a:ext>
              </a:extLst>
            </p:cNvPr>
            <p:cNvCxnSpPr>
              <a:cxnSpLocks/>
            </p:cNvCxnSpPr>
            <p:nvPr/>
          </p:nvCxnSpPr>
          <p:spPr>
            <a:xfrm>
              <a:off x="2607251" y="3811442"/>
              <a:ext cx="1598483" cy="54704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A099FE2-B6B9-E287-F347-7F208652A989}"/>
                </a:ext>
              </a:extLst>
            </p:cNvPr>
            <p:cNvCxnSpPr>
              <a:cxnSpLocks/>
            </p:cNvCxnSpPr>
            <p:nvPr/>
          </p:nvCxnSpPr>
          <p:spPr>
            <a:xfrm flipH="1">
              <a:off x="4196590" y="3803709"/>
              <a:ext cx="1626612" cy="554777"/>
            </a:xfrm>
            <a:prstGeom prst="line">
              <a:avLst/>
            </a:prstGeom>
          </p:spPr>
          <p:style>
            <a:lnRef idx="2">
              <a:schemeClr val="accent1"/>
            </a:lnRef>
            <a:fillRef idx="0">
              <a:schemeClr val="accent1"/>
            </a:fillRef>
            <a:effectRef idx="1">
              <a:schemeClr val="accent1"/>
            </a:effectRef>
            <a:fontRef idx="minor">
              <a:schemeClr val="tx1"/>
            </a:fontRef>
          </p:style>
        </p:cxnSp>
      </p:grpSp>
      <p:graphicFrame>
        <p:nvGraphicFramePr>
          <p:cNvPr id="30" name="Table 29">
            <a:extLst>
              <a:ext uri="{FF2B5EF4-FFF2-40B4-BE49-F238E27FC236}">
                <a16:creationId xmlns:a16="http://schemas.microsoft.com/office/drawing/2014/main" id="{D19396FF-F072-8C63-149A-9DC165BC81A2}"/>
              </a:ext>
            </a:extLst>
          </p:cNvPr>
          <p:cNvGraphicFramePr>
            <a:graphicFrameLocks noGrp="1"/>
          </p:cNvGraphicFramePr>
          <p:nvPr>
            <p:extLst>
              <p:ext uri="{D42A27DB-BD31-4B8C-83A1-F6EECF244321}">
                <p14:modId xmlns:p14="http://schemas.microsoft.com/office/powerpoint/2010/main" val="3263715957"/>
              </p:ext>
            </p:extLst>
          </p:nvPr>
        </p:nvGraphicFramePr>
        <p:xfrm>
          <a:off x="1141787" y="3874530"/>
          <a:ext cx="4756912" cy="1385885"/>
        </p:xfrm>
        <a:graphic>
          <a:graphicData uri="http://schemas.openxmlformats.org/drawingml/2006/table">
            <a:tbl>
              <a:tblPr firstRow="1" bandRow="1">
                <a:tableStyleId>{5C22544A-7EE6-4342-B048-85BDC9FD1C3A}</a:tableStyleId>
              </a:tblPr>
              <a:tblGrid>
                <a:gridCol w="2378456">
                  <a:extLst>
                    <a:ext uri="{9D8B030D-6E8A-4147-A177-3AD203B41FA5}">
                      <a16:colId xmlns:a16="http://schemas.microsoft.com/office/drawing/2014/main" val="1758657152"/>
                    </a:ext>
                  </a:extLst>
                </a:gridCol>
                <a:gridCol w="2378456">
                  <a:extLst>
                    <a:ext uri="{9D8B030D-6E8A-4147-A177-3AD203B41FA5}">
                      <a16:colId xmlns:a16="http://schemas.microsoft.com/office/drawing/2014/main" val="4045408627"/>
                    </a:ext>
                  </a:extLst>
                </a:gridCol>
              </a:tblGrid>
              <a:tr h="223302">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1126805">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pic>
        <p:nvPicPr>
          <p:cNvPr id="31" name="Picture 30" descr="A green rectangular object with black background&#10;&#10;AI-generated content may be incorrect.">
            <a:extLst>
              <a:ext uri="{FF2B5EF4-FFF2-40B4-BE49-F238E27FC236}">
                <a16:creationId xmlns:a16="http://schemas.microsoft.com/office/drawing/2014/main" id="{608131ED-4762-E412-9C67-A594F93840B9}"/>
              </a:ext>
            </a:extLst>
          </p:cNvPr>
          <p:cNvPicPr>
            <a:picLocks noChangeAspect="1"/>
          </p:cNvPicPr>
          <p:nvPr/>
        </p:nvPicPr>
        <p:blipFill>
          <a:blip r:embed="rId4"/>
          <a:stretch>
            <a:fillRect/>
          </a:stretch>
        </p:blipFill>
        <p:spPr>
          <a:xfrm>
            <a:off x="1978672" y="4346569"/>
            <a:ext cx="501194" cy="751791"/>
          </a:xfrm>
          <a:prstGeom prst="rect">
            <a:avLst/>
          </a:prstGeom>
        </p:spPr>
      </p:pic>
      <p:pic>
        <p:nvPicPr>
          <p:cNvPr id="32" name="Picture 31" descr="A green rectangular object with black background&#10;&#10;AI-generated content may be incorrect.">
            <a:extLst>
              <a:ext uri="{FF2B5EF4-FFF2-40B4-BE49-F238E27FC236}">
                <a16:creationId xmlns:a16="http://schemas.microsoft.com/office/drawing/2014/main" id="{4A625181-4F8B-2C70-17A0-F1C8029CA750}"/>
              </a:ext>
            </a:extLst>
          </p:cNvPr>
          <p:cNvPicPr>
            <a:picLocks noChangeAspect="1"/>
          </p:cNvPicPr>
          <p:nvPr/>
        </p:nvPicPr>
        <p:blipFill>
          <a:blip r:embed="rId4"/>
          <a:stretch>
            <a:fillRect/>
          </a:stretch>
        </p:blipFill>
        <p:spPr>
          <a:xfrm>
            <a:off x="2141593" y="4346568"/>
            <a:ext cx="501194" cy="751791"/>
          </a:xfrm>
          <a:prstGeom prst="rect">
            <a:avLst/>
          </a:prstGeom>
        </p:spPr>
      </p:pic>
      <p:pic>
        <p:nvPicPr>
          <p:cNvPr id="33" name="Picture 32" descr="A yellow cube with black background&#10;&#10;AI-generated content may be incorrect.">
            <a:extLst>
              <a:ext uri="{FF2B5EF4-FFF2-40B4-BE49-F238E27FC236}">
                <a16:creationId xmlns:a16="http://schemas.microsoft.com/office/drawing/2014/main" id="{7ED40D74-3833-2CFB-E0F7-81FCFAEF1158}"/>
              </a:ext>
            </a:extLst>
          </p:cNvPr>
          <p:cNvPicPr>
            <a:picLocks noChangeAspect="1"/>
          </p:cNvPicPr>
          <p:nvPr/>
        </p:nvPicPr>
        <p:blipFill>
          <a:blip r:embed="rId5"/>
          <a:stretch>
            <a:fillRect/>
          </a:stretch>
        </p:blipFill>
        <p:spPr>
          <a:xfrm>
            <a:off x="4242513" y="4484513"/>
            <a:ext cx="188427" cy="157023"/>
          </a:xfrm>
          <a:prstGeom prst="rect">
            <a:avLst/>
          </a:prstGeom>
        </p:spPr>
      </p:pic>
      <p:pic>
        <p:nvPicPr>
          <p:cNvPr id="34" name="Picture 33" descr="A yellow cube with black background&#10;&#10;AI-generated content may be incorrect.">
            <a:extLst>
              <a:ext uri="{FF2B5EF4-FFF2-40B4-BE49-F238E27FC236}">
                <a16:creationId xmlns:a16="http://schemas.microsoft.com/office/drawing/2014/main" id="{AD70FF9B-0481-E293-2FB1-435299BEFADF}"/>
              </a:ext>
            </a:extLst>
          </p:cNvPr>
          <p:cNvPicPr>
            <a:picLocks noChangeAspect="1"/>
          </p:cNvPicPr>
          <p:nvPr/>
        </p:nvPicPr>
        <p:blipFill>
          <a:blip r:embed="rId5"/>
          <a:stretch>
            <a:fillRect/>
          </a:stretch>
        </p:blipFill>
        <p:spPr>
          <a:xfrm>
            <a:off x="4430940" y="4486317"/>
            <a:ext cx="188427" cy="157023"/>
          </a:xfrm>
          <a:prstGeom prst="rect">
            <a:avLst/>
          </a:prstGeom>
        </p:spPr>
      </p:pic>
      <p:pic>
        <p:nvPicPr>
          <p:cNvPr id="35" name="Picture 34" descr="A yellow cube with black background&#10;&#10;AI-generated content may be incorrect.">
            <a:extLst>
              <a:ext uri="{FF2B5EF4-FFF2-40B4-BE49-F238E27FC236}">
                <a16:creationId xmlns:a16="http://schemas.microsoft.com/office/drawing/2014/main" id="{A949A8A5-512A-E04F-9A64-171E4AF2004C}"/>
              </a:ext>
            </a:extLst>
          </p:cNvPr>
          <p:cNvPicPr>
            <a:picLocks noChangeAspect="1"/>
          </p:cNvPicPr>
          <p:nvPr/>
        </p:nvPicPr>
        <p:blipFill>
          <a:blip r:embed="rId5"/>
          <a:stretch>
            <a:fillRect/>
          </a:stretch>
        </p:blipFill>
        <p:spPr>
          <a:xfrm>
            <a:off x="4619367" y="4487614"/>
            <a:ext cx="188427" cy="157023"/>
          </a:xfrm>
          <a:prstGeom prst="rect">
            <a:avLst/>
          </a:prstGeom>
        </p:spPr>
      </p:pic>
      <p:pic>
        <p:nvPicPr>
          <p:cNvPr id="36" name="Picture 35" descr="A green rectangular object with black background&#10;&#10;AI-generated content may be incorrect.">
            <a:extLst>
              <a:ext uri="{FF2B5EF4-FFF2-40B4-BE49-F238E27FC236}">
                <a16:creationId xmlns:a16="http://schemas.microsoft.com/office/drawing/2014/main" id="{92EA125F-832E-D08F-181D-EC78F5769CDD}"/>
              </a:ext>
            </a:extLst>
          </p:cNvPr>
          <p:cNvPicPr>
            <a:picLocks noChangeAspect="1"/>
          </p:cNvPicPr>
          <p:nvPr/>
        </p:nvPicPr>
        <p:blipFill>
          <a:blip r:embed="rId4"/>
          <a:stretch>
            <a:fillRect/>
          </a:stretch>
        </p:blipFill>
        <p:spPr>
          <a:xfrm>
            <a:off x="2293993" y="4346569"/>
            <a:ext cx="501194" cy="751791"/>
          </a:xfrm>
          <a:prstGeom prst="rect">
            <a:avLst/>
          </a:prstGeom>
        </p:spPr>
      </p:pic>
      <p:pic>
        <p:nvPicPr>
          <p:cNvPr id="37" name="Picture 36" descr="A yellow cube with black background&#10;&#10;AI-generated content may be incorrect.">
            <a:extLst>
              <a:ext uri="{FF2B5EF4-FFF2-40B4-BE49-F238E27FC236}">
                <a16:creationId xmlns:a16="http://schemas.microsoft.com/office/drawing/2014/main" id="{153DAC7D-10EC-2CC6-C70F-159D118898DF}"/>
              </a:ext>
            </a:extLst>
          </p:cNvPr>
          <p:cNvPicPr>
            <a:picLocks noChangeAspect="1"/>
          </p:cNvPicPr>
          <p:nvPr/>
        </p:nvPicPr>
        <p:blipFill>
          <a:blip r:embed="rId5"/>
          <a:stretch>
            <a:fillRect/>
          </a:stretch>
        </p:blipFill>
        <p:spPr>
          <a:xfrm>
            <a:off x="4807794" y="4487614"/>
            <a:ext cx="188427" cy="157023"/>
          </a:xfrm>
          <a:prstGeom prst="rect">
            <a:avLst/>
          </a:prstGeom>
        </p:spPr>
      </p:pic>
      <p:pic>
        <p:nvPicPr>
          <p:cNvPr id="38" name="Picture 37" descr="A yellow cube with black background&#10;&#10;AI-generated content may be incorrect.">
            <a:extLst>
              <a:ext uri="{FF2B5EF4-FFF2-40B4-BE49-F238E27FC236}">
                <a16:creationId xmlns:a16="http://schemas.microsoft.com/office/drawing/2014/main" id="{BD8C36B8-C3E3-AF21-C40A-3C3A87B05B0F}"/>
              </a:ext>
            </a:extLst>
          </p:cNvPr>
          <p:cNvPicPr>
            <a:picLocks noChangeAspect="1"/>
          </p:cNvPicPr>
          <p:nvPr/>
        </p:nvPicPr>
        <p:blipFill>
          <a:blip r:embed="rId5"/>
          <a:stretch>
            <a:fillRect/>
          </a:stretch>
        </p:blipFill>
        <p:spPr>
          <a:xfrm>
            <a:off x="4996221" y="4487614"/>
            <a:ext cx="188427" cy="157023"/>
          </a:xfrm>
          <a:prstGeom prst="rect">
            <a:avLst/>
          </a:prstGeom>
        </p:spPr>
      </p:pic>
      <p:pic>
        <p:nvPicPr>
          <p:cNvPr id="39" name="Picture 38" descr="A yellow cube with black background&#10;&#10;AI-generated content may be incorrect.">
            <a:extLst>
              <a:ext uri="{FF2B5EF4-FFF2-40B4-BE49-F238E27FC236}">
                <a16:creationId xmlns:a16="http://schemas.microsoft.com/office/drawing/2014/main" id="{FE1CDB26-5F27-3584-8D51-F5B016A109E6}"/>
              </a:ext>
            </a:extLst>
          </p:cNvPr>
          <p:cNvPicPr>
            <a:picLocks noChangeAspect="1"/>
          </p:cNvPicPr>
          <p:nvPr/>
        </p:nvPicPr>
        <p:blipFill>
          <a:blip r:embed="rId5"/>
          <a:stretch>
            <a:fillRect/>
          </a:stretch>
        </p:blipFill>
        <p:spPr>
          <a:xfrm>
            <a:off x="4239013" y="4644637"/>
            <a:ext cx="188427" cy="157023"/>
          </a:xfrm>
          <a:prstGeom prst="rect">
            <a:avLst/>
          </a:prstGeom>
        </p:spPr>
      </p:pic>
      <p:pic>
        <p:nvPicPr>
          <p:cNvPr id="40" name="Picture 39" descr="A yellow cube with black background&#10;&#10;AI-generated content may be incorrect.">
            <a:extLst>
              <a:ext uri="{FF2B5EF4-FFF2-40B4-BE49-F238E27FC236}">
                <a16:creationId xmlns:a16="http://schemas.microsoft.com/office/drawing/2014/main" id="{5842BE94-9825-0B6F-B66A-3EED9B6E4E6E}"/>
              </a:ext>
            </a:extLst>
          </p:cNvPr>
          <p:cNvPicPr>
            <a:picLocks noChangeAspect="1"/>
          </p:cNvPicPr>
          <p:nvPr/>
        </p:nvPicPr>
        <p:blipFill>
          <a:blip r:embed="rId5"/>
          <a:stretch>
            <a:fillRect/>
          </a:stretch>
        </p:blipFill>
        <p:spPr>
          <a:xfrm>
            <a:off x="4427440" y="4646441"/>
            <a:ext cx="188427" cy="157023"/>
          </a:xfrm>
          <a:prstGeom prst="rect">
            <a:avLst/>
          </a:prstGeom>
        </p:spPr>
      </p:pic>
      <p:pic>
        <p:nvPicPr>
          <p:cNvPr id="41" name="Picture 40" descr="A yellow cube with black background&#10;&#10;AI-generated content may be incorrect.">
            <a:extLst>
              <a:ext uri="{FF2B5EF4-FFF2-40B4-BE49-F238E27FC236}">
                <a16:creationId xmlns:a16="http://schemas.microsoft.com/office/drawing/2014/main" id="{F44E6E47-1DD4-B85F-B108-FED7253C1058}"/>
              </a:ext>
            </a:extLst>
          </p:cNvPr>
          <p:cNvPicPr>
            <a:picLocks noChangeAspect="1"/>
          </p:cNvPicPr>
          <p:nvPr/>
        </p:nvPicPr>
        <p:blipFill>
          <a:blip r:embed="rId5"/>
          <a:stretch>
            <a:fillRect/>
          </a:stretch>
        </p:blipFill>
        <p:spPr>
          <a:xfrm>
            <a:off x="4615867" y="4647738"/>
            <a:ext cx="188427" cy="157023"/>
          </a:xfrm>
          <a:prstGeom prst="rect">
            <a:avLst/>
          </a:prstGeom>
        </p:spPr>
      </p:pic>
      <p:pic>
        <p:nvPicPr>
          <p:cNvPr id="42" name="Picture 41" descr="A yellow cube with black background&#10;&#10;AI-generated content may be incorrect.">
            <a:extLst>
              <a:ext uri="{FF2B5EF4-FFF2-40B4-BE49-F238E27FC236}">
                <a16:creationId xmlns:a16="http://schemas.microsoft.com/office/drawing/2014/main" id="{A8489D83-4843-C5F8-5009-8398E30756E5}"/>
              </a:ext>
            </a:extLst>
          </p:cNvPr>
          <p:cNvPicPr>
            <a:picLocks noChangeAspect="1"/>
          </p:cNvPicPr>
          <p:nvPr/>
        </p:nvPicPr>
        <p:blipFill>
          <a:blip r:embed="rId5"/>
          <a:stretch>
            <a:fillRect/>
          </a:stretch>
        </p:blipFill>
        <p:spPr>
          <a:xfrm>
            <a:off x="4804294" y="4647738"/>
            <a:ext cx="188427" cy="157023"/>
          </a:xfrm>
          <a:prstGeom prst="rect">
            <a:avLst/>
          </a:prstGeom>
        </p:spPr>
      </p:pic>
      <p:pic>
        <p:nvPicPr>
          <p:cNvPr id="43" name="Picture 42" descr="A yellow cube with black background&#10;&#10;AI-generated content may be incorrect.">
            <a:extLst>
              <a:ext uri="{FF2B5EF4-FFF2-40B4-BE49-F238E27FC236}">
                <a16:creationId xmlns:a16="http://schemas.microsoft.com/office/drawing/2014/main" id="{BFA59F04-8870-7413-2434-48B071EA051E}"/>
              </a:ext>
            </a:extLst>
          </p:cNvPr>
          <p:cNvPicPr>
            <a:picLocks noChangeAspect="1"/>
          </p:cNvPicPr>
          <p:nvPr/>
        </p:nvPicPr>
        <p:blipFill>
          <a:blip r:embed="rId5"/>
          <a:stretch>
            <a:fillRect/>
          </a:stretch>
        </p:blipFill>
        <p:spPr>
          <a:xfrm>
            <a:off x="4992721" y="4647738"/>
            <a:ext cx="188427" cy="157023"/>
          </a:xfrm>
          <a:prstGeom prst="rect">
            <a:avLst/>
          </a:prstGeom>
        </p:spPr>
      </p:pic>
      <p:pic>
        <p:nvPicPr>
          <p:cNvPr id="44" name="Picture 43" descr="A yellow cube with black background&#10;&#10;AI-generated content may be incorrect.">
            <a:extLst>
              <a:ext uri="{FF2B5EF4-FFF2-40B4-BE49-F238E27FC236}">
                <a16:creationId xmlns:a16="http://schemas.microsoft.com/office/drawing/2014/main" id="{ADBABD34-4312-D740-C631-000D8FAD1F13}"/>
              </a:ext>
            </a:extLst>
          </p:cNvPr>
          <p:cNvPicPr>
            <a:picLocks noChangeAspect="1"/>
          </p:cNvPicPr>
          <p:nvPr/>
        </p:nvPicPr>
        <p:blipFill>
          <a:blip r:embed="rId5"/>
          <a:stretch>
            <a:fillRect/>
          </a:stretch>
        </p:blipFill>
        <p:spPr>
          <a:xfrm>
            <a:off x="4242513" y="4813891"/>
            <a:ext cx="188427" cy="157023"/>
          </a:xfrm>
          <a:prstGeom prst="rect">
            <a:avLst/>
          </a:prstGeom>
        </p:spPr>
      </p:pic>
      <p:pic>
        <p:nvPicPr>
          <p:cNvPr id="45" name="Picture 44" descr="A yellow cube with black background&#10;&#10;AI-generated content may be incorrect.">
            <a:extLst>
              <a:ext uri="{FF2B5EF4-FFF2-40B4-BE49-F238E27FC236}">
                <a16:creationId xmlns:a16="http://schemas.microsoft.com/office/drawing/2014/main" id="{D7FC5A74-40A1-D8E5-74AC-F5D14EE86F12}"/>
              </a:ext>
            </a:extLst>
          </p:cNvPr>
          <p:cNvPicPr>
            <a:picLocks noChangeAspect="1"/>
          </p:cNvPicPr>
          <p:nvPr/>
        </p:nvPicPr>
        <p:blipFill>
          <a:blip r:embed="rId5"/>
          <a:stretch>
            <a:fillRect/>
          </a:stretch>
        </p:blipFill>
        <p:spPr>
          <a:xfrm>
            <a:off x="4430940" y="4815695"/>
            <a:ext cx="188427" cy="157023"/>
          </a:xfrm>
          <a:prstGeom prst="rect">
            <a:avLst/>
          </a:prstGeom>
        </p:spPr>
      </p:pic>
      <p:pic>
        <p:nvPicPr>
          <p:cNvPr id="47" name="Picture 46" descr="A green rectangular object with black background&#10;&#10;AI-generated content may be incorrect.">
            <a:extLst>
              <a:ext uri="{FF2B5EF4-FFF2-40B4-BE49-F238E27FC236}">
                <a16:creationId xmlns:a16="http://schemas.microsoft.com/office/drawing/2014/main" id="{B0ADFBF1-C296-D71F-4338-FF57D625EA7F}"/>
              </a:ext>
            </a:extLst>
          </p:cNvPr>
          <p:cNvPicPr>
            <a:picLocks noChangeAspect="1"/>
          </p:cNvPicPr>
          <p:nvPr/>
        </p:nvPicPr>
        <p:blipFill>
          <a:blip r:embed="rId4"/>
          <a:stretch>
            <a:fillRect/>
          </a:stretch>
        </p:blipFill>
        <p:spPr>
          <a:xfrm>
            <a:off x="3834027" y="4346569"/>
            <a:ext cx="501194" cy="751791"/>
          </a:xfrm>
          <a:prstGeom prst="rect">
            <a:avLst/>
          </a:prstGeom>
        </p:spPr>
      </p:pic>
      <p:sp>
        <p:nvSpPr>
          <p:cNvPr id="48" name="Rectangle 47">
            <a:extLst>
              <a:ext uri="{FF2B5EF4-FFF2-40B4-BE49-F238E27FC236}">
                <a16:creationId xmlns:a16="http://schemas.microsoft.com/office/drawing/2014/main" id="{DB3A07C0-F688-B918-6977-CFFD913B3854}"/>
              </a:ext>
            </a:extLst>
          </p:cNvPr>
          <p:cNvSpPr/>
          <p:nvPr/>
        </p:nvSpPr>
        <p:spPr>
          <a:xfrm>
            <a:off x="4239013" y="4484513"/>
            <a:ext cx="956919" cy="331182"/>
          </a:xfrm>
          <a:prstGeom prst="rect">
            <a:avLst/>
          </a:prstGeom>
          <a:noFill/>
          <a:ln w="127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BB325424-3233-695B-FB8D-6166F6681BDC}"/>
              </a:ext>
            </a:extLst>
          </p:cNvPr>
          <p:cNvSpPr/>
          <p:nvPr/>
        </p:nvSpPr>
        <p:spPr>
          <a:xfrm>
            <a:off x="3236779" y="5376672"/>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42</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nodeType="clickEffect">
                                  <p:stCondLst>
                                    <p:cond delay="0"/>
                                  </p:stCondLst>
                                  <p:childTnLst>
                                    <p:set>
                                      <p:cBhvr>
                                        <p:cTn id="134" dur="1" fill="hold">
                                          <p:stCondLst>
                                            <p:cond delay="0"/>
                                          </p:stCondLst>
                                        </p:cTn>
                                        <p:tgtEl>
                                          <p:spTgt spid="33"/>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34"/>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0"/>
                                          </p:stCondLst>
                                        </p:cTn>
                                        <p:tgtEl>
                                          <p:spTgt spid="35"/>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37"/>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38"/>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39"/>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40"/>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41"/>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42"/>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43"/>
                                        </p:tgtEl>
                                        <p:attrNameLst>
                                          <p:attrName>style.visibility</p:attrName>
                                        </p:attrNameLst>
                                      </p:cBhvr>
                                      <p:to>
                                        <p:strVal val="hidden"/>
                                      </p:to>
                                    </p:set>
                                  </p:childTnLst>
                                </p:cTn>
                              </p:par>
                              <p:par>
                                <p:cTn id="153" presetID="1" presetClass="exit" presetSubtype="0" fill="hold" grpId="1" nodeType="withEffect">
                                  <p:stCondLst>
                                    <p:cond delay="0"/>
                                  </p:stCondLst>
                                  <p:childTnLst>
                                    <p:set>
                                      <p:cBhvr>
                                        <p:cTn id="154" dur="1" fill="hold">
                                          <p:stCondLst>
                                            <p:cond delay="0"/>
                                          </p:stCondLst>
                                        </p:cTn>
                                        <p:tgtEl>
                                          <p:spTgt spid="48"/>
                                        </p:tgtEl>
                                        <p:attrNameLst>
                                          <p:attrName>style.visibility</p:attrName>
                                        </p:attrNameLst>
                                      </p:cBhvr>
                                      <p:to>
                                        <p:strVal val="hidden"/>
                                      </p:to>
                                    </p:set>
                                  </p:childTnLst>
                                </p:cTn>
                              </p:par>
                              <p:par>
                                <p:cTn id="155" presetID="1" presetClass="entr" presetSubtype="0" fill="hold" nodeType="withEffect">
                                  <p:stCondLst>
                                    <p:cond delay="0"/>
                                  </p:stCondLst>
                                  <p:childTnLst>
                                    <p:set>
                                      <p:cBhvr>
                                        <p:cTn id="156" dur="1" fill="hold">
                                          <p:stCondLst>
                                            <p:cond delay="0"/>
                                          </p:stCondLst>
                                        </p:cTn>
                                        <p:tgtEl>
                                          <p:spTgt spid="47"/>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35" presetClass="path" presetSubtype="0" accel="50000" decel="50000" fill="hold" nodeType="clickEffect">
                                  <p:stCondLst>
                                    <p:cond delay="0"/>
                                  </p:stCondLst>
                                  <p:childTnLst>
                                    <p:animMotion origin="layout" path="M 3.95833E-6 2.59259E-6 L -0.16628 -0.0007 " pathEditMode="relative" rAng="0" ptsTypes="AA">
                                      <p:cBhvr>
                                        <p:cTn id="160" dur="750" fill="hold"/>
                                        <p:tgtEl>
                                          <p:spTgt spid="47"/>
                                        </p:tgtEl>
                                        <p:attrNameLst>
                                          <p:attrName>ppt_x</p:attrName>
                                          <p:attrName>ppt_y</p:attrName>
                                        </p:attrNameLst>
                                      </p:cBhvr>
                                      <p:rCtr x="-8320" y="-46"/>
                                    </p:animMotion>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31"/>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32"/>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36"/>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4 · 04_INTRO.png</a:t>
            </a:r>
          </a:p>
        </p:txBody>
      </p:sp>
      <p:pic>
        <p:nvPicPr>
          <p:cNvPr id="3" name="Picture 2" descr="04_INTRO.png"/>
          <p:cNvPicPr>
            <a:picLocks noChangeAspect="1"/>
          </p:cNvPicPr>
          <p:nvPr/>
        </p:nvPicPr>
        <p:blipFill>
          <a:blip r:embed="rId2"/>
          <a:stretch>
            <a:fillRect/>
          </a:stretch>
        </p:blipFill>
        <p:spPr>
          <a:xfrm>
            <a:off x="0" y="5460964"/>
            <a:ext cx="2496312" cy="1397036"/>
          </a:xfrm>
          <a:prstGeom prst="rect">
            <a:avLst/>
          </a:prstGeom>
        </p:spPr>
      </p:pic>
      <p:pic>
        <p:nvPicPr>
          <p:cNvPr id="18" name="Picture 17" descr="frame_demo_crop.png">
            <a:extLst>
              <a:ext uri="{FF2B5EF4-FFF2-40B4-BE49-F238E27FC236}">
                <a16:creationId xmlns:a16="http://schemas.microsoft.com/office/drawing/2014/main" id="{E640A496-5001-6464-5490-FFE1A1B930DC}"/>
              </a:ext>
            </a:extLst>
          </p:cNvPr>
          <p:cNvPicPr>
            <a:picLocks noChangeAspect="1"/>
          </p:cNvPicPr>
          <p:nvPr/>
        </p:nvPicPr>
        <p:blipFill>
          <a:blip r:embed="rId3"/>
          <a:stretch>
            <a:fillRect/>
          </a:stretch>
        </p:blipFill>
        <p:spPr>
          <a:xfrm>
            <a:off x="365760" y="731520"/>
            <a:ext cx="7680960" cy="4532034"/>
          </a:xfrm>
          <a:prstGeom prst="rect">
            <a:avLst/>
          </a:prstGeom>
        </p:spPr>
      </p:pic>
      <p:sp>
        <p:nvSpPr>
          <p:cNvPr id="19" name="Oval 13">
            <a:extLst>
              <a:ext uri="{FF2B5EF4-FFF2-40B4-BE49-F238E27FC236}">
                <a16:creationId xmlns:a16="http://schemas.microsoft.com/office/drawing/2014/main" id="{F37311D8-310D-FF93-7601-9FC9C9F49DCA}"/>
              </a:ext>
            </a:extLst>
          </p:cNvPr>
          <p:cNvSpPr/>
          <p:nvPr/>
        </p:nvSpPr>
        <p:spPr>
          <a:xfrm>
            <a:off x="2199132" y="1417320"/>
            <a:ext cx="868680"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Pari’s Photo</a:t>
            </a:r>
            <a:endParaRPr lang="en-IN" sz="1200" dirty="0"/>
          </a:p>
        </p:txBody>
      </p:sp>
      <p:sp>
        <p:nvSpPr>
          <p:cNvPr id="20" name="Oval 13">
            <a:extLst>
              <a:ext uri="{FF2B5EF4-FFF2-40B4-BE49-F238E27FC236}">
                <a16:creationId xmlns:a16="http://schemas.microsoft.com/office/drawing/2014/main" id="{20025627-BD79-8F9E-2460-1299676946DC}"/>
              </a:ext>
            </a:extLst>
          </p:cNvPr>
          <p:cNvSpPr/>
          <p:nvPr/>
        </p:nvSpPr>
        <p:spPr>
          <a:xfrm>
            <a:off x="3497578" y="1417320"/>
            <a:ext cx="1014986"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Aaru’s Photo</a:t>
            </a:r>
            <a:endParaRPr lang="en-IN" sz="1200" dirty="0"/>
          </a:p>
        </p:txBody>
      </p:sp>
      <p:sp>
        <p:nvSpPr>
          <p:cNvPr id="21" name="Rectangle 15">
            <a:extLst>
              <a:ext uri="{FF2B5EF4-FFF2-40B4-BE49-F238E27FC236}">
                <a16:creationId xmlns:a16="http://schemas.microsoft.com/office/drawing/2014/main" id="{6FE2B4D3-20FF-7EBC-9571-BB9D6B1A05A4}"/>
              </a:ext>
            </a:extLst>
          </p:cNvPr>
          <p:cNvSpPr/>
          <p:nvPr/>
        </p:nvSpPr>
        <p:spPr>
          <a:xfrm>
            <a:off x="2052828" y="2331720"/>
            <a:ext cx="1161288" cy="10515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Pari’s 27 blocks</a:t>
            </a:r>
            <a:endParaRPr lang="en-IN" dirty="0"/>
          </a:p>
        </p:txBody>
      </p:sp>
      <p:sp>
        <p:nvSpPr>
          <p:cNvPr id="22" name="Rectangle 15">
            <a:extLst>
              <a:ext uri="{FF2B5EF4-FFF2-40B4-BE49-F238E27FC236}">
                <a16:creationId xmlns:a16="http://schemas.microsoft.com/office/drawing/2014/main" id="{38FFE78B-262F-4791-3D36-59BA95B7691D}"/>
              </a:ext>
            </a:extLst>
          </p:cNvPr>
          <p:cNvSpPr/>
          <p:nvPr/>
        </p:nvSpPr>
        <p:spPr>
          <a:xfrm>
            <a:off x="3351276" y="2331720"/>
            <a:ext cx="1161288" cy="10515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Aaru’s 15 blocks</a:t>
            </a:r>
            <a:endParaRPr lang="en-IN" dirty="0"/>
          </a:p>
        </p:txBody>
      </p:sp>
      <p:sp>
        <p:nvSpPr>
          <p:cNvPr id="23" name="Rectangle 15">
            <a:extLst>
              <a:ext uri="{FF2B5EF4-FFF2-40B4-BE49-F238E27FC236}">
                <a16:creationId xmlns:a16="http://schemas.microsoft.com/office/drawing/2014/main" id="{A1AC7AD4-1E83-DDDA-6A03-94C93A5007A0}"/>
              </a:ext>
            </a:extLst>
          </p:cNvPr>
          <p:cNvSpPr/>
          <p:nvPr/>
        </p:nvSpPr>
        <p:spPr>
          <a:xfrm>
            <a:off x="5198364" y="2331720"/>
            <a:ext cx="1161288" cy="10515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All 42 blocks together</a:t>
            </a:r>
            <a:endParaRPr lang="en-IN" dirty="0"/>
          </a:p>
        </p:txBody>
      </p:sp>
      <p:sp>
        <p:nvSpPr>
          <p:cNvPr id="24" name="TextBox 23">
            <a:extLst>
              <a:ext uri="{FF2B5EF4-FFF2-40B4-BE49-F238E27FC236}">
                <a16:creationId xmlns:a16="http://schemas.microsoft.com/office/drawing/2014/main" id="{90F98810-9F23-4791-2DA0-D37778136CC2}"/>
              </a:ext>
            </a:extLst>
          </p:cNvPr>
          <p:cNvSpPr txBox="1"/>
          <p:nvPr/>
        </p:nvSpPr>
        <p:spPr>
          <a:xfrm>
            <a:off x="4754880" y="3439704"/>
            <a:ext cx="2468880" cy="307777"/>
          </a:xfrm>
          <a:prstGeom prst="rect">
            <a:avLst/>
          </a:prstGeom>
          <a:noFill/>
        </p:spPr>
        <p:txBody>
          <a:bodyPr wrap="square" lIns="0" tIns="0" rIns="0" bIns="0" anchor="ctr">
            <a:spAutoFit/>
          </a:bodyPr>
          <a:lstStyle/>
          <a:p>
            <a:pPr algn="ctr"/>
            <a:r>
              <a:rPr sz="1000" b="0" i="1" dirty="0">
                <a:solidFill>
                  <a:srgbClr val="5A6678"/>
                </a:solidFill>
              </a:rPr>
              <a:t>[Animate all the blocks moving together in sync with VO</a:t>
            </a:r>
            <a:r>
              <a:rPr lang="en-US" sz="1000" b="0" i="1" dirty="0">
                <a:solidFill>
                  <a:srgbClr val="5A6678"/>
                </a:solidFill>
              </a:rPr>
              <a:t>1</a:t>
            </a:r>
            <a:r>
              <a:rPr sz="1000" b="0" i="1" dirty="0">
                <a:solidFill>
                  <a:srgbClr val="5A6678"/>
                </a:solidFill>
              </a:rPr>
              <a:t>.]</a:t>
            </a:r>
          </a:p>
        </p:txBody>
      </p:sp>
      <p:sp>
        <p:nvSpPr>
          <p:cNvPr id="25" name="Rectangle: Rounded Corners 6">
            <a:extLst>
              <a:ext uri="{FF2B5EF4-FFF2-40B4-BE49-F238E27FC236}">
                <a16:creationId xmlns:a16="http://schemas.microsoft.com/office/drawing/2014/main" id="{8BD58B17-8350-FFC7-CBEF-D7E5911114D7}"/>
              </a:ext>
            </a:extLst>
          </p:cNvPr>
          <p:cNvSpPr/>
          <p:nvPr/>
        </p:nvSpPr>
        <p:spPr>
          <a:xfrm>
            <a:off x="2253996" y="388620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27</a:t>
            </a:r>
            <a:endParaRPr lang="en-IN" sz="2800" b="1" dirty="0"/>
          </a:p>
        </p:txBody>
      </p:sp>
      <p:sp>
        <p:nvSpPr>
          <p:cNvPr id="26" name="Rectangle: Rounded Corners 6">
            <a:extLst>
              <a:ext uri="{FF2B5EF4-FFF2-40B4-BE49-F238E27FC236}">
                <a16:creationId xmlns:a16="http://schemas.microsoft.com/office/drawing/2014/main" id="{6EC22838-2128-756F-4A7A-594DE0453686}"/>
              </a:ext>
            </a:extLst>
          </p:cNvPr>
          <p:cNvSpPr/>
          <p:nvPr/>
        </p:nvSpPr>
        <p:spPr>
          <a:xfrm>
            <a:off x="3552444" y="388620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15</a:t>
            </a:r>
            <a:endParaRPr lang="en-IN" sz="2800" b="1" dirty="0"/>
          </a:p>
        </p:txBody>
      </p:sp>
      <p:sp>
        <p:nvSpPr>
          <p:cNvPr id="27" name="Rectangle: Rounded Corners 6">
            <a:extLst>
              <a:ext uri="{FF2B5EF4-FFF2-40B4-BE49-F238E27FC236}">
                <a16:creationId xmlns:a16="http://schemas.microsoft.com/office/drawing/2014/main" id="{68FE6DE9-8944-4CE8-B374-82AFEE7A4966}"/>
              </a:ext>
            </a:extLst>
          </p:cNvPr>
          <p:cNvSpPr/>
          <p:nvPr/>
        </p:nvSpPr>
        <p:spPr>
          <a:xfrm>
            <a:off x="5399532" y="388620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42</a:t>
            </a:r>
            <a:endParaRPr lang="en-IN" sz="2800" b="1" dirty="0"/>
          </a:p>
        </p:txBody>
      </p:sp>
      <p:sp>
        <p:nvSpPr>
          <p:cNvPr id="28" name="TextBox 11">
            <a:extLst>
              <a:ext uri="{FF2B5EF4-FFF2-40B4-BE49-F238E27FC236}">
                <a16:creationId xmlns:a16="http://schemas.microsoft.com/office/drawing/2014/main" id="{2137003F-5D29-8EE0-DC92-39BA1CEB5ED9}"/>
              </a:ext>
            </a:extLst>
          </p:cNvPr>
          <p:cNvSpPr txBox="1"/>
          <p:nvPr/>
        </p:nvSpPr>
        <p:spPr>
          <a:xfrm>
            <a:off x="3150108" y="3886200"/>
            <a:ext cx="265176" cy="521207"/>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29" name="TextBox 12">
            <a:extLst>
              <a:ext uri="{FF2B5EF4-FFF2-40B4-BE49-F238E27FC236}">
                <a16:creationId xmlns:a16="http://schemas.microsoft.com/office/drawing/2014/main" id="{5772D388-474C-A333-2060-E27CBC38FE4E}"/>
              </a:ext>
            </a:extLst>
          </p:cNvPr>
          <p:cNvSpPr txBox="1"/>
          <p:nvPr/>
        </p:nvSpPr>
        <p:spPr>
          <a:xfrm>
            <a:off x="4722876" y="3886200"/>
            <a:ext cx="265176" cy="521207"/>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0" name="Recommendations">
            <a:extLst>
              <a:ext uri="{FF2B5EF4-FFF2-40B4-BE49-F238E27FC236}">
                <a16:creationId xmlns:a16="http://schemas.microsoft.com/office/drawing/2014/main" id="{E43B7E74-BD24-47C8-891C-36DCA9E38C65}"/>
              </a:ext>
            </a:extLst>
          </p:cNvPr>
          <p:cNvSpPr txBox="1"/>
          <p:nvPr/>
        </p:nvSpPr>
        <p:spPr>
          <a:xfrm>
            <a:off x="8229600" y="731520"/>
            <a:ext cx="3593592" cy="1815882"/>
          </a:xfrm>
          <a:prstGeom prst="rect">
            <a:avLst/>
          </a:prstGeom>
          <a:noFill/>
        </p:spPr>
        <p:txBody>
          <a:bodyPr wrap="square">
            <a:spAutoFit/>
          </a:bodyPr>
          <a:lstStyle/>
          <a:p>
            <a:r>
              <a:rPr lang="en-US" sz="1600" b="1" dirty="0">
                <a:solidFill>
                  <a:srgbClr val="0B3D8C"/>
                </a:solidFill>
              </a:rPr>
              <a:t>Recommendations</a:t>
            </a:r>
          </a:p>
          <a:p>
            <a:r>
              <a:rPr lang="en-US" sz="1200" dirty="0"/>
              <a:t>Replace the entire slide content with the following:</a:t>
            </a:r>
          </a:p>
          <a:p>
            <a:r>
              <a:rPr lang="en-US" sz="1200" dirty="0"/>
              <a:t>Images as written.</a:t>
            </a:r>
          </a:p>
          <a:p>
            <a:r>
              <a:rPr lang="en-US" sz="1200" b="1" dirty="0"/>
              <a:t>Equation: 27 + 15 = 42</a:t>
            </a:r>
            <a:r>
              <a:rPr lang="en-US" sz="1200" dirty="0"/>
              <a:t> below the images.</a:t>
            </a:r>
          </a:p>
          <a:p>
            <a:endParaRPr lang="en-US" sz="1200" dirty="0"/>
          </a:p>
          <a:p>
            <a:r>
              <a:rPr lang="en-US" sz="1200" b="1" dirty="0"/>
              <a:t>VO1:</a:t>
            </a:r>
            <a:r>
              <a:rPr lang="hi-IN" sz="1200" dirty="0"/>
              <a:t> 27 जोड़ 15 बराबर 42</a:t>
            </a:r>
          </a:p>
          <a:p>
            <a:endParaRPr lang="en-US" sz="1200" dirty="0"/>
          </a:p>
          <a:p>
            <a:r>
              <a:rPr lang="en-US" sz="1200" b="1" dirty="0"/>
              <a:t>VO2:</a:t>
            </a:r>
            <a:r>
              <a:rPr lang="hi-IN" sz="1200" dirty="0"/>
              <a:t> परी और आरु के पास कुल मिलाकर 42 ब्लॉक्स हैं।</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2618666" cy="307777"/>
          </a:xfrm>
          <a:prstGeom prst="rect">
            <a:avLst/>
          </a:prstGeom>
          <a:noFill/>
        </p:spPr>
        <p:txBody>
          <a:bodyPr wrap="none">
            <a:spAutoFit/>
          </a:bodyPr>
          <a:lstStyle/>
          <a:p>
            <a:r>
              <a:rPr sz="1400" b="1" dirty="0">
                <a:solidFill>
                  <a:srgbClr val="0B3D8C"/>
                </a:solidFill>
              </a:rPr>
              <a:t>Page 5</a:t>
            </a:r>
            <a:r>
              <a:rPr lang="hi-IN" sz="1400" b="1" dirty="0">
                <a:solidFill>
                  <a:srgbClr val="0B3D8C"/>
                </a:solidFill>
              </a:rPr>
              <a:t>a</a:t>
            </a:r>
            <a:r>
              <a:rPr sz="1400" b="1" dirty="0">
                <a:solidFill>
                  <a:srgbClr val="0B3D8C"/>
                </a:solidFill>
              </a:rPr>
              <a:t> · 05_DEMO_COUNT.png</a:t>
            </a:r>
          </a:p>
        </p:txBody>
      </p:sp>
      <p:pic>
        <p:nvPicPr>
          <p:cNvPr id="3" name="Picture 2" descr="05_DEMO_COUNT.png"/>
          <p:cNvPicPr>
            <a:picLocks noChangeAspect="1"/>
          </p:cNvPicPr>
          <p:nvPr/>
        </p:nvPicPr>
        <p:blipFill>
          <a:blip r:embed="rId2"/>
          <a:stretch>
            <a:fillRect/>
          </a:stretch>
        </p:blipFill>
        <p:spPr>
          <a:xfrm>
            <a:off x="0" y="5468112"/>
            <a:ext cx="2478024" cy="1386801"/>
          </a:xfrm>
          <a:prstGeom prst="rect">
            <a:avLst/>
          </a:prstGeom>
        </p:spPr>
      </p:pic>
      <p:sp>
        <p:nvSpPr>
          <p:cNvPr id="40" name="Recommendations"/>
          <p:cNvSpPr txBox="1"/>
          <p:nvPr/>
        </p:nvSpPr>
        <p:spPr>
          <a:xfrm>
            <a:off x="7155942" y="1191369"/>
            <a:ext cx="4654296" cy="1184940"/>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Heading Text:</a:t>
            </a:r>
            <a:r>
              <a:rPr lang="hi-IN" sz="1100" b="1" dirty="0"/>
              <a:t> एक और उदाहरण देखते है। </a:t>
            </a:r>
            <a:endParaRPr lang="hi-IN" sz="1100" dirty="0"/>
          </a:p>
          <a:p>
            <a:r>
              <a:rPr lang="en-US" sz="1100" b="1" dirty="0"/>
              <a:t>Heading VO:</a:t>
            </a:r>
            <a:r>
              <a:rPr lang="hi-IN" sz="1100" dirty="0"/>
              <a:t> आइए, एक और उदाहरण देखते हैं –</a:t>
            </a:r>
          </a:p>
          <a:p>
            <a:r>
              <a:rPr lang="en-US" sz="1100" b="1" dirty="0"/>
              <a:t>VO1:</a:t>
            </a:r>
            <a:r>
              <a:rPr lang="hi-IN" sz="1100" dirty="0"/>
              <a:t> परी के पास 36 ब्लॉक्स हैं। अम्मा ने उसे 25 ब्लॉक्स और दिए। चलिए, पता करते हैं, अब परी के पास कुल कितने ब्लॉक्स हो गए?</a:t>
            </a:r>
          </a:p>
        </p:txBody>
      </p:sp>
      <p:sp>
        <p:nvSpPr>
          <p:cNvPr id="34" name="Oval 13">
            <a:extLst>
              <a:ext uri="{FF2B5EF4-FFF2-40B4-BE49-F238E27FC236}">
                <a16:creationId xmlns:a16="http://schemas.microsoft.com/office/drawing/2014/main" id="{9CF00D43-5F4F-E58C-9E3A-4420D30E6DF4}"/>
              </a:ext>
            </a:extLst>
          </p:cNvPr>
          <p:cNvSpPr/>
          <p:nvPr/>
        </p:nvSpPr>
        <p:spPr>
          <a:xfrm>
            <a:off x="2199132" y="1783080"/>
            <a:ext cx="868680"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Pari’s Photo</a:t>
            </a:r>
            <a:endParaRPr lang="en-IN" sz="1200" dirty="0"/>
          </a:p>
        </p:txBody>
      </p:sp>
      <p:sp>
        <p:nvSpPr>
          <p:cNvPr id="35" name="Oval 13">
            <a:extLst>
              <a:ext uri="{FF2B5EF4-FFF2-40B4-BE49-F238E27FC236}">
                <a16:creationId xmlns:a16="http://schemas.microsoft.com/office/drawing/2014/main" id="{B5363920-0344-32E5-37CA-D8574091BD1D}"/>
              </a:ext>
            </a:extLst>
          </p:cNvPr>
          <p:cNvSpPr/>
          <p:nvPr/>
        </p:nvSpPr>
        <p:spPr>
          <a:xfrm>
            <a:off x="3497578" y="1783080"/>
            <a:ext cx="1014986"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Amma’s Photo</a:t>
            </a:r>
            <a:endParaRPr lang="en-IN" sz="1200" dirty="0"/>
          </a:p>
        </p:txBody>
      </p:sp>
      <p:sp>
        <p:nvSpPr>
          <p:cNvPr id="41" name="Rectangle 15">
            <a:extLst>
              <a:ext uri="{FF2B5EF4-FFF2-40B4-BE49-F238E27FC236}">
                <a16:creationId xmlns:a16="http://schemas.microsoft.com/office/drawing/2014/main" id="{315FEA5D-FB87-FC85-35F6-6D5F59256030}"/>
              </a:ext>
            </a:extLst>
          </p:cNvPr>
          <p:cNvSpPr/>
          <p:nvPr/>
        </p:nvSpPr>
        <p:spPr>
          <a:xfrm>
            <a:off x="2052828" y="2697480"/>
            <a:ext cx="1161288" cy="8229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Pari’s 27 blocks</a:t>
            </a:r>
            <a:endParaRPr lang="en-IN" dirty="0"/>
          </a:p>
        </p:txBody>
      </p:sp>
      <p:sp>
        <p:nvSpPr>
          <p:cNvPr id="42" name="Rectangle 15">
            <a:extLst>
              <a:ext uri="{FF2B5EF4-FFF2-40B4-BE49-F238E27FC236}">
                <a16:creationId xmlns:a16="http://schemas.microsoft.com/office/drawing/2014/main" id="{F0AB8DD2-9542-3320-684F-5252A00FBAFB}"/>
              </a:ext>
            </a:extLst>
          </p:cNvPr>
          <p:cNvSpPr/>
          <p:nvPr/>
        </p:nvSpPr>
        <p:spPr>
          <a:xfrm>
            <a:off x="3351276" y="2697480"/>
            <a:ext cx="1161288" cy="8229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Amma’s 15 blocks</a:t>
            </a:r>
            <a:endParaRPr lang="en-IN" dirty="0"/>
          </a:p>
        </p:txBody>
      </p:sp>
      <p:sp>
        <p:nvSpPr>
          <p:cNvPr id="43" name="Rectangle: Rounded Corners 6">
            <a:extLst>
              <a:ext uri="{FF2B5EF4-FFF2-40B4-BE49-F238E27FC236}">
                <a16:creationId xmlns:a16="http://schemas.microsoft.com/office/drawing/2014/main" id="{12358367-35C1-5096-9E73-69EFDDA7AB7B}"/>
              </a:ext>
            </a:extLst>
          </p:cNvPr>
          <p:cNvSpPr/>
          <p:nvPr/>
        </p:nvSpPr>
        <p:spPr>
          <a:xfrm>
            <a:off x="2253996" y="370332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36</a:t>
            </a:r>
            <a:endParaRPr lang="en-IN" sz="2800" b="1" dirty="0"/>
          </a:p>
        </p:txBody>
      </p:sp>
      <p:sp>
        <p:nvSpPr>
          <p:cNvPr id="44" name="Rectangle: Rounded Corners 6">
            <a:extLst>
              <a:ext uri="{FF2B5EF4-FFF2-40B4-BE49-F238E27FC236}">
                <a16:creationId xmlns:a16="http://schemas.microsoft.com/office/drawing/2014/main" id="{75FAE17A-9F9B-915B-713A-0AD8D7228967}"/>
              </a:ext>
            </a:extLst>
          </p:cNvPr>
          <p:cNvSpPr/>
          <p:nvPr/>
        </p:nvSpPr>
        <p:spPr>
          <a:xfrm>
            <a:off x="3552444" y="370332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25</a:t>
            </a:r>
            <a:endParaRPr lang="en-IN" sz="2800" b="1" dirty="0"/>
          </a:p>
        </p:txBody>
      </p:sp>
      <p:sp>
        <p:nvSpPr>
          <p:cNvPr id="45" name="Rectangle: Rounded Corners 6">
            <a:extLst>
              <a:ext uri="{FF2B5EF4-FFF2-40B4-BE49-F238E27FC236}">
                <a16:creationId xmlns:a16="http://schemas.microsoft.com/office/drawing/2014/main" id="{82A2CB77-D31E-66BB-EF99-F3053CFBA21A}"/>
              </a:ext>
            </a:extLst>
          </p:cNvPr>
          <p:cNvSpPr/>
          <p:nvPr/>
        </p:nvSpPr>
        <p:spPr>
          <a:xfrm>
            <a:off x="5399532" y="3703320"/>
            <a:ext cx="758952" cy="52120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a:t>
            </a:r>
            <a:endParaRPr lang="en-IN" sz="2800" b="1" dirty="0"/>
          </a:p>
        </p:txBody>
      </p:sp>
      <p:sp>
        <p:nvSpPr>
          <p:cNvPr id="46" name="TextBox 45">
            <a:extLst>
              <a:ext uri="{FF2B5EF4-FFF2-40B4-BE49-F238E27FC236}">
                <a16:creationId xmlns:a16="http://schemas.microsoft.com/office/drawing/2014/main" id="{CA203AF3-4BF9-2052-DF42-BD5BEA2D6061}"/>
              </a:ext>
            </a:extLst>
          </p:cNvPr>
          <p:cNvSpPr txBox="1"/>
          <p:nvPr/>
        </p:nvSpPr>
        <p:spPr>
          <a:xfrm>
            <a:off x="3150108" y="3703320"/>
            <a:ext cx="265176" cy="521207"/>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47" name="TextBox 46">
            <a:extLst>
              <a:ext uri="{FF2B5EF4-FFF2-40B4-BE49-F238E27FC236}">
                <a16:creationId xmlns:a16="http://schemas.microsoft.com/office/drawing/2014/main" id="{484AC071-A6A9-713E-7150-5C212D564667}"/>
              </a:ext>
            </a:extLst>
          </p:cNvPr>
          <p:cNvSpPr txBox="1"/>
          <p:nvPr/>
        </p:nvSpPr>
        <p:spPr>
          <a:xfrm>
            <a:off x="4722876" y="3703320"/>
            <a:ext cx="265176" cy="521207"/>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17C67-52EA-AFF0-7A85-965EA417FF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47A573-6EDA-E6CB-43C9-DDC29FFA7D6E}"/>
              </a:ext>
            </a:extLst>
          </p:cNvPr>
          <p:cNvSpPr txBox="1"/>
          <p:nvPr/>
        </p:nvSpPr>
        <p:spPr>
          <a:xfrm>
            <a:off x="365760" y="137160"/>
            <a:ext cx="2626681" cy="307777"/>
          </a:xfrm>
          <a:prstGeom prst="rect">
            <a:avLst/>
          </a:prstGeom>
          <a:noFill/>
        </p:spPr>
        <p:txBody>
          <a:bodyPr wrap="none">
            <a:spAutoFit/>
          </a:bodyPr>
          <a:lstStyle/>
          <a:p>
            <a:r>
              <a:rPr sz="1400" b="1" dirty="0">
                <a:solidFill>
                  <a:srgbClr val="0B3D8C"/>
                </a:solidFill>
              </a:rPr>
              <a:t>Page 5</a:t>
            </a:r>
            <a:r>
              <a:rPr lang="hi-IN" sz="1400" b="1" dirty="0">
                <a:solidFill>
                  <a:srgbClr val="0B3D8C"/>
                </a:solidFill>
              </a:rPr>
              <a:t>b</a:t>
            </a:r>
            <a:r>
              <a:rPr sz="1400" b="1" dirty="0">
                <a:solidFill>
                  <a:srgbClr val="0B3D8C"/>
                </a:solidFill>
              </a:rPr>
              <a:t> · 05_DEMO_COUNT.png</a:t>
            </a:r>
          </a:p>
        </p:txBody>
      </p:sp>
      <p:pic>
        <p:nvPicPr>
          <p:cNvPr id="3" name="Picture 2" descr="05_DEMO_COUNT.png">
            <a:extLst>
              <a:ext uri="{FF2B5EF4-FFF2-40B4-BE49-F238E27FC236}">
                <a16:creationId xmlns:a16="http://schemas.microsoft.com/office/drawing/2014/main" id="{EAF3FCC4-39F4-C5C0-658C-90F677A6A0B4}"/>
              </a:ext>
            </a:extLst>
          </p:cNvPr>
          <p:cNvPicPr>
            <a:picLocks noChangeAspect="1"/>
          </p:cNvPicPr>
          <p:nvPr/>
        </p:nvPicPr>
        <p:blipFill>
          <a:blip r:embed="rId2"/>
          <a:stretch>
            <a:fillRect/>
          </a:stretch>
        </p:blipFill>
        <p:spPr>
          <a:xfrm>
            <a:off x="0" y="5468112"/>
            <a:ext cx="2478024" cy="1386801"/>
          </a:xfrm>
          <a:prstGeom prst="rect">
            <a:avLst/>
          </a:prstGeom>
        </p:spPr>
      </p:pic>
      <p:sp>
        <p:nvSpPr>
          <p:cNvPr id="4" name="Rectangle: Rounded Corners 5">
            <a:extLst>
              <a:ext uri="{FF2B5EF4-FFF2-40B4-BE49-F238E27FC236}">
                <a16:creationId xmlns:a16="http://schemas.microsoft.com/office/drawing/2014/main" id="{E37535F2-AC8F-9185-ED5E-476B971798E0}"/>
              </a:ext>
            </a:extLst>
          </p:cNvPr>
          <p:cNvSpPr/>
          <p:nvPr/>
        </p:nvSpPr>
        <p:spPr>
          <a:xfrm>
            <a:off x="1636776" y="1014984"/>
            <a:ext cx="566928"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36</a:t>
            </a:r>
            <a:endParaRPr lang="en-IN" b="1" dirty="0"/>
          </a:p>
        </p:txBody>
      </p:sp>
      <p:sp>
        <p:nvSpPr>
          <p:cNvPr id="5" name="Rectangle: Rounded Corners 5">
            <a:extLst>
              <a:ext uri="{FF2B5EF4-FFF2-40B4-BE49-F238E27FC236}">
                <a16:creationId xmlns:a16="http://schemas.microsoft.com/office/drawing/2014/main" id="{EC68A402-24F6-6E92-BFFE-DB853B2BFF49}"/>
              </a:ext>
            </a:extLst>
          </p:cNvPr>
          <p:cNvSpPr/>
          <p:nvPr/>
        </p:nvSpPr>
        <p:spPr>
          <a:xfrm>
            <a:off x="4873752" y="1014984"/>
            <a:ext cx="566928"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25</a:t>
            </a:r>
            <a:endParaRPr lang="en-IN" b="1" dirty="0"/>
          </a:p>
        </p:txBody>
      </p:sp>
      <p:graphicFrame>
        <p:nvGraphicFramePr>
          <p:cNvPr id="6" name="Table 4">
            <a:extLst>
              <a:ext uri="{FF2B5EF4-FFF2-40B4-BE49-F238E27FC236}">
                <a16:creationId xmlns:a16="http://schemas.microsoft.com/office/drawing/2014/main" id="{9DECF208-4C03-2F61-C976-D8D4562B30D3}"/>
              </a:ext>
            </a:extLst>
          </p:cNvPr>
          <p:cNvGraphicFramePr>
            <a:graphicFrameLocks noGrp="1"/>
          </p:cNvGraphicFramePr>
          <p:nvPr/>
        </p:nvGraphicFramePr>
        <p:xfrm>
          <a:off x="530352" y="1472184"/>
          <a:ext cx="2779776" cy="1261871"/>
        </p:xfrm>
        <a:graphic>
          <a:graphicData uri="http://schemas.openxmlformats.org/drawingml/2006/table">
            <a:tbl>
              <a:tblPr firstRow="1" bandRow="1">
                <a:tableStyleId>{5C22544A-7EE6-4342-B048-85BDC9FD1C3A}</a:tableStyleId>
              </a:tblPr>
              <a:tblGrid>
                <a:gridCol w="1389888">
                  <a:extLst>
                    <a:ext uri="{9D8B030D-6E8A-4147-A177-3AD203B41FA5}">
                      <a16:colId xmlns:a16="http://schemas.microsoft.com/office/drawing/2014/main" val="1758657152"/>
                    </a:ext>
                  </a:extLst>
                </a:gridCol>
                <a:gridCol w="1389888">
                  <a:extLst>
                    <a:ext uri="{9D8B030D-6E8A-4147-A177-3AD203B41FA5}">
                      <a16:colId xmlns:a16="http://schemas.microsoft.com/office/drawing/2014/main" val="4045408627"/>
                    </a:ext>
                  </a:extLst>
                </a:gridCol>
              </a:tblGrid>
              <a:tr h="292608">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969263">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pic>
        <p:nvPicPr>
          <p:cNvPr id="7" name="Picture 6" descr="A green rectangular object with black background&#10;&#10;AI-generated content may be incorrect.">
            <a:extLst>
              <a:ext uri="{FF2B5EF4-FFF2-40B4-BE49-F238E27FC236}">
                <a16:creationId xmlns:a16="http://schemas.microsoft.com/office/drawing/2014/main" id="{82D6CFCB-2517-8555-D5EC-BEC7558C8091}"/>
              </a:ext>
            </a:extLst>
          </p:cNvPr>
          <p:cNvPicPr>
            <a:picLocks noChangeAspect="1"/>
          </p:cNvPicPr>
          <p:nvPr/>
        </p:nvPicPr>
        <p:blipFill>
          <a:blip r:embed="rId3"/>
          <a:stretch>
            <a:fillRect/>
          </a:stretch>
        </p:blipFill>
        <p:spPr>
          <a:xfrm>
            <a:off x="818387" y="1892807"/>
            <a:ext cx="502920" cy="749808"/>
          </a:xfrm>
          <a:prstGeom prst="rect">
            <a:avLst/>
          </a:prstGeom>
        </p:spPr>
      </p:pic>
      <p:pic>
        <p:nvPicPr>
          <p:cNvPr id="8" name="Picture 6" descr="A green rectangular object with black background&#10;&#10;AI-generated content may be incorrect.">
            <a:extLst>
              <a:ext uri="{FF2B5EF4-FFF2-40B4-BE49-F238E27FC236}">
                <a16:creationId xmlns:a16="http://schemas.microsoft.com/office/drawing/2014/main" id="{CE1DBEA8-9415-3E84-62E2-47FEBC5A883D}"/>
              </a:ext>
            </a:extLst>
          </p:cNvPr>
          <p:cNvPicPr>
            <a:picLocks noChangeAspect="1"/>
          </p:cNvPicPr>
          <p:nvPr/>
        </p:nvPicPr>
        <p:blipFill>
          <a:blip r:embed="rId3"/>
          <a:stretch>
            <a:fillRect/>
          </a:stretch>
        </p:blipFill>
        <p:spPr>
          <a:xfrm>
            <a:off x="973836" y="1892807"/>
            <a:ext cx="502920" cy="749808"/>
          </a:xfrm>
          <a:prstGeom prst="rect">
            <a:avLst/>
          </a:prstGeom>
        </p:spPr>
      </p:pic>
      <p:pic>
        <p:nvPicPr>
          <p:cNvPr id="9" name="Picture 6" descr="A green rectangular object with black background&#10;&#10;AI-generated content may be incorrect.">
            <a:extLst>
              <a:ext uri="{FF2B5EF4-FFF2-40B4-BE49-F238E27FC236}">
                <a16:creationId xmlns:a16="http://schemas.microsoft.com/office/drawing/2014/main" id="{5A9F846F-4EBC-4F95-3037-9742C26D6AF8}"/>
              </a:ext>
            </a:extLst>
          </p:cNvPr>
          <p:cNvPicPr>
            <a:picLocks noChangeAspect="1"/>
          </p:cNvPicPr>
          <p:nvPr/>
        </p:nvPicPr>
        <p:blipFill>
          <a:blip r:embed="rId3"/>
          <a:stretch>
            <a:fillRect/>
          </a:stretch>
        </p:blipFill>
        <p:spPr>
          <a:xfrm>
            <a:off x="1129284" y="1892807"/>
            <a:ext cx="502920" cy="749808"/>
          </a:xfrm>
          <a:prstGeom prst="rect">
            <a:avLst/>
          </a:prstGeom>
        </p:spPr>
      </p:pic>
      <p:pic>
        <p:nvPicPr>
          <p:cNvPr id="10" name="Picture 8" descr="A yellow cube with black background&#10;&#10;AI-generated content may be incorrect.">
            <a:extLst>
              <a:ext uri="{FF2B5EF4-FFF2-40B4-BE49-F238E27FC236}">
                <a16:creationId xmlns:a16="http://schemas.microsoft.com/office/drawing/2014/main" id="{12748EFA-B062-29C3-806D-A19D6F8713A2}"/>
              </a:ext>
            </a:extLst>
          </p:cNvPr>
          <p:cNvPicPr>
            <a:picLocks noChangeAspect="1"/>
          </p:cNvPicPr>
          <p:nvPr/>
        </p:nvPicPr>
        <p:blipFill>
          <a:blip r:embed="rId4"/>
          <a:stretch>
            <a:fillRect/>
          </a:stretch>
        </p:blipFill>
        <p:spPr>
          <a:xfrm>
            <a:off x="2146554" y="2112264"/>
            <a:ext cx="192024" cy="155448"/>
          </a:xfrm>
          <a:prstGeom prst="rect">
            <a:avLst/>
          </a:prstGeom>
        </p:spPr>
      </p:pic>
      <p:pic>
        <p:nvPicPr>
          <p:cNvPr id="11" name="Picture 8" descr="A yellow cube with black background&#10;&#10;AI-generated content may be incorrect.">
            <a:extLst>
              <a:ext uri="{FF2B5EF4-FFF2-40B4-BE49-F238E27FC236}">
                <a16:creationId xmlns:a16="http://schemas.microsoft.com/office/drawing/2014/main" id="{A2641969-724F-9D07-9B88-B555DBA2F5D6}"/>
              </a:ext>
            </a:extLst>
          </p:cNvPr>
          <p:cNvPicPr>
            <a:picLocks noChangeAspect="1"/>
          </p:cNvPicPr>
          <p:nvPr/>
        </p:nvPicPr>
        <p:blipFill>
          <a:blip r:embed="rId4"/>
          <a:stretch>
            <a:fillRect/>
          </a:stretch>
        </p:blipFill>
        <p:spPr>
          <a:xfrm>
            <a:off x="2334006" y="2112264"/>
            <a:ext cx="192024" cy="155448"/>
          </a:xfrm>
          <a:prstGeom prst="rect">
            <a:avLst/>
          </a:prstGeom>
        </p:spPr>
      </p:pic>
      <p:pic>
        <p:nvPicPr>
          <p:cNvPr id="12" name="Picture 8" descr="A yellow cube with black background&#10;&#10;AI-generated content may be incorrect.">
            <a:extLst>
              <a:ext uri="{FF2B5EF4-FFF2-40B4-BE49-F238E27FC236}">
                <a16:creationId xmlns:a16="http://schemas.microsoft.com/office/drawing/2014/main" id="{CE80956A-6BB6-FE8F-A370-7ABAE8A0C28F}"/>
              </a:ext>
            </a:extLst>
          </p:cNvPr>
          <p:cNvPicPr>
            <a:picLocks noChangeAspect="1"/>
          </p:cNvPicPr>
          <p:nvPr/>
        </p:nvPicPr>
        <p:blipFill>
          <a:blip r:embed="rId4"/>
          <a:stretch>
            <a:fillRect/>
          </a:stretch>
        </p:blipFill>
        <p:spPr>
          <a:xfrm>
            <a:off x="2521458" y="2112264"/>
            <a:ext cx="192024" cy="155448"/>
          </a:xfrm>
          <a:prstGeom prst="rect">
            <a:avLst/>
          </a:prstGeom>
        </p:spPr>
      </p:pic>
      <p:pic>
        <p:nvPicPr>
          <p:cNvPr id="13" name="Picture 8" descr="A yellow cube with black background&#10;&#10;AI-generated content may be incorrect.">
            <a:extLst>
              <a:ext uri="{FF2B5EF4-FFF2-40B4-BE49-F238E27FC236}">
                <a16:creationId xmlns:a16="http://schemas.microsoft.com/office/drawing/2014/main" id="{86024647-8FAD-CDD8-709E-D83296C3C6C9}"/>
              </a:ext>
            </a:extLst>
          </p:cNvPr>
          <p:cNvPicPr>
            <a:picLocks noChangeAspect="1"/>
          </p:cNvPicPr>
          <p:nvPr/>
        </p:nvPicPr>
        <p:blipFill>
          <a:blip r:embed="rId4"/>
          <a:stretch>
            <a:fillRect/>
          </a:stretch>
        </p:blipFill>
        <p:spPr>
          <a:xfrm>
            <a:off x="2708910" y="2112264"/>
            <a:ext cx="192024" cy="155448"/>
          </a:xfrm>
          <a:prstGeom prst="rect">
            <a:avLst/>
          </a:prstGeom>
        </p:spPr>
      </p:pic>
      <p:pic>
        <p:nvPicPr>
          <p:cNvPr id="14" name="Picture 8" descr="A yellow cube with black background&#10;&#10;AI-generated content may be incorrect.">
            <a:extLst>
              <a:ext uri="{FF2B5EF4-FFF2-40B4-BE49-F238E27FC236}">
                <a16:creationId xmlns:a16="http://schemas.microsoft.com/office/drawing/2014/main" id="{3377F6C2-4FA2-B060-92A4-8641A3B31D9F}"/>
              </a:ext>
            </a:extLst>
          </p:cNvPr>
          <p:cNvPicPr>
            <a:picLocks noChangeAspect="1"/>
          </p:cNvPicPr>
          <p:nvPr/>
        </p:nvPicPr>
        <p:blipFill>
          <a:blip r:embed="rId4"/>
          <a:stretch>
            <a:fillRect/>
          </a:stretch>
        </p:blipFill>
        <p:spPr>
          <a:xfrm>
            <a:off x="2896362" y="2112264"/>
            <a:ext cx="192024" cy="155448"/>
          </a:xfrm>
          <a:prstGeom prst="rect">
            <a:avLst/>
          </a:prstGeom>
        </p:spPr>
      </p:pic>
      <p:pic>
        <p:nvPicPr>
          <p:cNvPr id="15" name="Picture 8" descr="A yellow cube with black background&#10;&#10;AI-generated content may be incorrect.">
            <a:extLst>
              <a:ext uri="{FF2B5EF4-FFF2-40B4-BE49-F238E27FC236}">
                <a16:creationId xmlns:a16="http://schemas.microsoft.com/office/drawing/2014/main" id="{0C6A5EFF-91BA-4BE7-8D29-E0EEDD9AB1F9}"/>
              </a:ext>
            </a:extLst>
          </p:cNvPr>
          <p:cNvPicPr>
            <a:picLocks noChangeAspect="1"/>
          </p:cNvPicPr>
          <p:nvPr/>
        </p:nvPicPr>
        <p:blipFill>
          <a:blip r:embed="rId4"/>
          <a:stretch>
            <a:fillRect/>
          </a:stretch>
        </p:blipFill>
        <p:spPr>
          <a:xfrm>
            <a:off x="2521458" y="2276856"/>
            <a:ext cx="192024" cy="155448"/>
          </a:xfrm>
          <a:prstGeom prst="rect">
            <a:avLst/>
          </a:prstGeom>
        </p:spPr>
      </p:pic>
      <p:graphicFrame>
        <p:nvGraphicFramePr>
          <p:cNvPr id="16" name="Table 4">
            <a:extLst>
              <a:ext uri="{FF2B5EF4-FFF2-40B4-BE49-F238E27FC236}">
                <a16:creationId xmlns:a16="http://schemas.microsoft.com/office/drawing/2014/main" id="{9DD62E56-10E9-2145-41ED-0485C2C0A366}"/>
              </a:ext>
            </a:extLst>
          </p:cNvPr>
          <p:cNvGraphicFramePr>
            <a:graphicFrameLocks noGrp="1"/>
          </p:cNvGraphicFramePr>
          <p:nvPr/>
        </p:nvGraphicFramePr>
        <p:xfrm>
          <a:off x="3767328" y="1472184"/>
          <a:ext cx="2779776" cy="1261871"/>
        </p:xfrm>
        <a:graphic>
          <a:graphicData uri="http://schemas.openxmlformats.org/drawingml/2006/table">
            <a:tbl>
              <a:tblPr firstRow="1" bandRow="1">
                <a:tableStyleId>{5C22544A-7EE6-4342-B048-85BDC9FD1C3A}</a:tableStyleId>
              </a:tblPr>
              <a:tblGrid>
                <a:gridCol w="1389888">
                  <a:extLst>
                    <a:ext uri="{9D8B030D-6E8A-4147-A177-3AD203B41FA5}">
                      <a16:colId xmlns:a16="http://schemas.microsoft.com/office/drawing/2014/main" val="1758657152"/>
                    </a:ext>
                  </a:extLst>
                </a:gridCol>
                <a:gridCol w="1389888">
                  <a:extLst>
                    <a:ext uri="{9D8B030D-6E8A-4147-A177-3AD203B41FA5}">
                      <a16:colId xmlns:a16="http://schemas.microsoft.com/office/drawing/2014/main" val="4045408627"/>
                    </a:ext>
                  </a:extLst>
                </a:gridCol>
              </a:tblGrid>
              <a:tr h="292608">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969263">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pic>
        <p:nvPicPr>
          <p:cNvPr id="17" name="Picture 6" descr="A green rectangular object with black background&#10;&#10;AI-generated content may be incorrect.">
            <a:extLst>
              <a:ext uri="{FF2B5EF4-FFF2-40B4-BE49-F238E27FC236}">
                <a16:creationId xmlns:a16="http://schemas.microsoft.com/office/drawing/2014/main" id="{3ED45CB2-0847-5A81-D831-4CB2EFC47DB7}"/>
              </a:ext>
            </a:extLst>
          </p:cNvPr>
          <p:cNvPicPr>
            <a:picLocks noChangeAspect="1"/>
          </p:cNvPicPr>
          <p:nvPr/>
        </p:nvPicPr>
        <p:blipFill>
          <a:blip r:embed="rId3"/>
          <a:stretch>
            <a:fillRect/>
          </a:stretch>
        </p:blipFill>
        <p:spPr>
          <a:xfrm>
            <a:off x="4133087" y="1892807"/>
            <a:ext cx="502920" cy="749808"/>
          </a:xfrm>
          <a:prstGeom prst="rect">
            <a:avLst/>
          </a:prstGeom>
        </p:spPr>
      </p:pic>
      <p:pic>
        <p:nvPicPr>
          <p:cNvPr id="18" name="Picture 6" descr="A green rectangular object with black background&#10;&#10;AI-generated content may be incorrect.">
            <a:extLst>
              <a:ext uri="{FF2B5EF4-FFF2-40B4-BE49-F238E27FC236}">
                <a16:creationId xmlns:a16="http://schemas.microsoft.com/office/drawing/2014/main" id="{FF745568-291E-97A2-F05D-F2193F7258AA}"/>
              </a:ext>
            </a:extLst>
          </p:cNvPr>
          <p:cNvPicPr>
            <a:picLocks noChangeAspect="1"/>
          </p:cNvPicPr>
          <p:nvPr/>
        </p:nvPicPr>
        <p:blipFill>
          <a:blip r:embed="rId3"/>
          <a:stretch>
            <a:fillRect/>
          </a:stretch>
        </p:blipFill>
        <p:spPr>
          <a:xfrm>
            <a:off x="4288536" y="1892807"/>
            <a:ext cx="502920" cy="749808"/>
          </a:xfrm>
          <a:prstGeom prst="rect">
            <a:avLst/>
          </a:prstGeom>
        </p:spPr>
      </p:pic>
      <p:pic>
        <p:nvPicPr>
          <p:cNvPr id="19" name="Picture 8" descr="A yellow cube with black background&#10;&#10;AI-generated content may be incorrect.">
            <a:extLst>
              <a:ext uri="{FF2B5EF4-FFF2-40B4-BE49-F238E27FC236}">
                <a16:creationId xmlns:a16="http://schemas.microsoft.com/office/drawing/2014/main" id="{556F271B-CE2D-CD76-EE5F-46A5B761A971}"/>
              </a:ext>
            </a:extLst>
          </p:cNvPr>
          <p:cNvPicPr>
            <a:picLocks noChangeAspect="1"/>
          </p:cNvPicPr>
          <p:nvPr/>
        </p:nvPicPr>
        <p:blipFill>
          <a:blip r:embed="rId4"/>
          <a:stretch>
            <a:fillRect/>
          </a:stretch>
        </p:blipFill>
        <p:spPr>
          <a:xfrm>
            <a:off x="5383530" y="2194560"/>
            <a:ext cx="192024" cy="155448"/>
          </a:xfrm>
          <a:prstGeom prst="rect">
            <a:avLst/>
          </a:prstGeom>
        </p:spPr>
      </p:pic>
      <p:pic>
        <p:nvPicPr>
          <p:cNvPr id="20" name="Picture 8" descr="A yellow cube with black background&#10;&#10;AI-generated content may be incorrect.">
            <a:extLst>
              <a:ext uri="{FF2B5EF4-FFF2-40B4-BE49-F238E27FC236}">
                <a16:creationId xmlns:a16="http://schemas.microsoft.com/office/drawing/2014/main" id="{85176A19-EDB0-D6DB-4FC5-AFA31E2FD018}"/>
              </a:ext>
            </a:extLst>
          </p:cNvPr>
          <p:cNvPicPr>
            <a:picLocks noChangeAspect="1"/>
          </p:cNvPicPr>
          <p:nvPr/>
        </p:nvPicPr>
        <p:blipFill>
          <a:blip r:embed="rId4"/>
          <a:stretch>
            <a:fillRect/>
          </a:stretch>
        </p:blipFill>
        <p:spPr>
          <a:xfrm>
            <a:off x="5570982" y="2194560"/>
            <a:ext cx="192024" cy="155448"/>
          </a:xfrm>
          <a:prstGeom prst="rect">
            <a:avLst/>
          </a:prstGeom>
        </p:spPr>
      </p:pic>
      <p:pic>
        <p:nvPicPr>
          <p:cNvPr id="21" name="Picture 8" descr="A yellow cube with black background&#10;&#10;AI-generated content may be incorrect.">
            <a:extLst>
              <a:ext uri="{FF2B5EF4-FFF2-40B4-BE49-F238E27FC236}">
                <a16:creationId xmlns:a16="http://schemas.microsoft.com/office/drawing/2014/main" id="{18150B56-354A-D88F-4B1E-E9BC22E33809}"/>
              </a:ext>
            </a:extLst>
          </p:cNvPr>
          <p:cNvPicPr>
            <a:picLocks noChangeAspect="1"/>
          </p:cNvPicPr>
          <p:nvPr/>
        </p:nvPicPr>
        <p:blipFill>
          <a:blip r:embed="rId4"/>
          <a:stretch>
            <a:fillRect/>
          </a:stretch>
        </p:blipFill>
        <p:spPr>
          <a:xfrm>
            <a:off x="5758434" y="2194560"/>
            <a:ext cx="192024" cy="155448"/>
          </a:xfrm>
          <a:prstGeom prst="rect">
            <a:avLst/>
          </a:prstGeom>
        </p:spPr>
      </p:pic>
      <p:pic>
        <p:nvPicPr>
          <p:cNvPr id="22" name="Picture 8" descr="A yellow cube with black background&#10;&#10;AI-generated content may be incorrect.">
            <a:extLst>
              <a:ext uri="{FF2B5EF4-FFF2-40B4-BE49-F238E27FC236}">
                <a16:creationId xmlns:a16="http://schemas.microsoft.com/office/drawing/2014/main" id="{1B99197F-FE01-6B4E-5132-9094719D0787}"/>
              </a:ext>
            </a:extLst>
          </p:cNvPr>
          <p:cNvPicPr>
            <a:picLocks noChangeAspect="1"/>
          </p:cNvPicPr>
          <p:nvPr/>
        </p:nvPicPr>
        <p:blipFill>
          <a:blip r:embed="rId4"/>
          <a:stretch>
            <a:fillRect/>
          </a:stretch>
        </p:blipFill>
        <p:spPr>
          <a:xfrm>
            <a:off x="5945886" y="2194560"/>
            <a:ext cx="192024" cy="155448"/>
          </a:xfrm>
          <a:prstGeom prst="rect">
            <a:avLst/>
          </a:prstGeom>
        </p:spPr>
      </p:pic>
      <p:pic>
        <p:nvPicPr>
          <p:cNvPr id="23" name="Picture 8" descr="A yellow cube with black background&#10;&#10;AI-generated content may be incorrect.">
            <a:extLst>
              <a:ext uri="{FF2B5EF4-FFF2-40B4-BE49-F238E27FC236}">
                <a16:creationId xmlns:a16="http://schemas.microsoft.com/office/drawing/2014/main" id="{F84D4018-01B8-8B47-8DC7-87A322480C4A}"/>
              </a:ext>
            </a:extLst>
          </p:cNvPr>
          <p:cNvPicPr>
            <a:picLocks noChangeAspect="1"/>
          </p:cNvPicPr>
          <p:nvPr/>
        </p:nvPicPr>
        <p:blipFill>
          <a:blip r:embed="rId4"/>
          <a:stretch>
            <a:fillRect/>
          </a:stretch>
        </p:blipFill>
        <p:spPr>
          <a:xfrm>
            <a:off x="6133338" y="2194560"/>
            <a:ext cx="192024" cy="155448"/>
          </a:xfrm>
          <a:prstGeom prst="rect">
            <a:avLst/>
          </a:prstGeom>
        </p:spPr>
      </p:pic>
      <p:grpSp>
        <p:nvGrpSpPr>
          <p:cNvPr id="24" name="Group 26">
            <a:extLst>
              <a:ext uri="{FF2B5EF4-FFF2-40B4-BE49-F238E27FC236}">
                <a16:creationId xmlns:a16="http://schemas.microsoft.com/office/drawing/2014/main" id="{A93C47F3-D105-7532-7CCC-259A7AA7AC14}"/>
              </a:ext>
            </a:extLst>
          </p:cNvPr>
          <p:cNvGrpSpPr/>
          <p:nvPr/>
        </p:nvGrpSpPr>
        <p:grpSpPr>
          <a:xfrm>
            <a:off x="1920240" y="3017520"/>
            <a:ext cx="3218688" cy="548640"/>
            <a:chOff x="2607251" y="3803709"/>
            <a:chExt cx="3215951" cy="554777"/>
          </a:xfrm>
        </p:grpSpPr>
        <p:cxnSp>
          <p:nvCxnSpPr>
            <p:cNvPr id="25" name="Straight Connector 27">
              <a:extLst>
                <a:ext uri="{FF2B5EF4-FFF2-40B4-BE49-F238E27FC236}">
                  <a16:creationId xmlns:a16="http://schemas.microsoft.com/office/drawing/2014/main" id="{7DC3DCE9-2B62-F66E-0370-C0247DEECA30}"/>
                </a:ext>
              </a:extLst>
            </p:cNvPr>
            <p:cNvCxnSpPr>
              <a:cxnSpLocks/>
            </p:cNvCxnSpPr>
            <p:nvPr/>
          </p:nvCxnSpPr>
          <p:spPr>
            <a:xfrm>
              <a:off x="2607251" y="3811442"/>
              <a:ext cx="1598483" cy="547044"/>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8">
              <a:extLst>
                <a:ext uri="{FF2B5EF4-FFF2-40B4-BE49-F238E27FC236}">
                  <a16:creationId xmlns:a16="http://schemas.microsoft.com/office/drawing/2014/main" id="{02DDA100-A222-3C43-CB8C-429877B68D01}"/>
                </a:ext>
              </a:extLst>
            </p:cNvPr>
            <p:cNvCxnSpPr>
              <a:cxnSpLocks/>
            </p:cNvCxnSpPr>
            <p:nvPr/>
          </p:nvCxnSpPr>
          <p:spPr>
            <a:xfrm flipH="1">
              <a:off x="4196590" y="3803709"/>
              <a:ext cx="1626612" cy="554777"/>
            </a:xfrm>
            <a:prstGeom prst="line">
              <a:avLst/>
            </a:prstGeom>
          </p:spPr>
          <p:style>
            <a:lnRef idx="2">
              <a:schemeClr val="accent1"/>
            </a:lnRef>
            <a:fillRef idx="0">
              <a:schemeClr val="accent1"/>
            </a:fillRef>
            <a:effectRef idx="1">
              <a:schemeClr val="accent1"/>
            </a:effectRef>
            <a:fontRef idx="minor">
              <a:schemeClr val="tx1"/>
            </a:fontRef>
          </p:style>
        </p:cxnSp>
      </p:grpSp>
      <p:graphicFrame>
        <p:nvGraphicFramePr>
          <p:cNvPr id="27" name="Table 29">
            <a:extLst>
              <a:ext uri="{FF2B5EF4-FFF2-40B4-BE49-F238E27FC236}">
                <a16:creationId xmlns:a16="http://schemas.microsoft.com/office/drawing/2014/main" id="{0F6067BB-B783-B233-059F-47BAF005A531}"/>
              </a:ext>
            </a:extLst>
          </p:cNvPr>
          <p:cNvGraphicFramePr>
            <a:graphicFrameLocks noGrp="1"/>
          </p:cNvGraphicFramePr>
          <p:nvPr/>
        </p:nvGraphicFramePr>
        <p:xfrm>
          <a:off x="1143000" y="3877056"/>
          <a:ext cx="4754880" cy="1389888"/>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1758657152"/>
                    </a:ext>
                  </a:extLst>
                </a:gridCol>
                <a:gridCol w="2377440">
                  <a:extLst>
                    <a:ext uri="{9D8B030D-6E8A-4147-A177-3AD203B41FA5}">
                      <a16:colId xmlns:a16="http://schemas.microsoft.com/office/drawing/2014/main" val="4045408627"/>
                    </a:ext>
                  </a:extLst>
                </a:gridCol>
              </a:tblGrid>
              <a:tr h="310896">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1078992">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pic>
        <p:nvPicPr>
          <p:cNvPr id="28" name="Picture 6" descr="A green rectangular object with black background&#10;&#10;AI-generated content may be incorrect.">
            <a:extLst>
              <a:ext uri="{FF2B5EF4-FFF2-40B4-BE49-F238E27FC236}">
                <a16:creationId xmlns:a16="http://schemas.microsoft.com/office/drawing/2014/main" id="{FC9C64A4-F21C-BD24-DBB3-09921DD6CD76}"/>
              </a:ext>
            </a:extLst>
          </p:cNvPr>
          <p:cNvPicPr>
            <a:picLocks noChangeAspect="1"/>
          </p:cNvPicPr>
          <p:nvPr/>
        </p:nvPicPr>
        <p:blipFill>
          <a:blip r:embed="rId3"/>
          <a:stretch>
            <a:fillRect/>
          </a:stretch>
        </p:blipFill>
        <p:spPr>
          <a:xfrm>
            <a:off x="1691639" y="4370832"/>
            <a:ext cx="502920" cy="749808"/>
          </a:xfrm>
          <a:prstGeom prst="rect">
            <a:avLst/>
          </a:prstGeom>
        </p:spPr>
      </p:pic>
      <p:pic>
        <p:nvPicPr>
          <p:cNvPr id="29" name="Picture 6" descr="A green rectangular object with black background&#10;&#10;AI-generated content may be incorrect.">
            <a:extLst>
              <a:ext uri="{FF2B5EF4-FFF2-40B4-BE49-F238E27FC236}">
                <a16:creationId xmlns:a16="http://schemas.microsoft.com/office/drawing/2014/main" id="{663F5731-32AC-86E7-C304-C8559F496983}"/>
              </a:ext>
            </a:extLst>
          </p:cNvPr>
          <p:cNvPicPr>
            <a:picLocks noChangeAspect="1"/>
          </p:cNvPicPr>
          <p:nvPr/>
        </p:nvPicPr>
        <p:blipFill>
          <a:blip r:embed="rId3"/>
          <a:stretch>
            <a:fillRect/>
          </a:stretch>
        </p:blipFill>
        <p:spPr>
          <a:xfrm>
            <a:off x="1847088" y="4370832"/>
            <a:ext cx="502920" cy="749808"/>
          </a:xfrm>
          <a:prstGeom prst="rect">
            <a:avLst/>
          </a:prstGeom>
        </p:spPr>
      </p:pic>
      <p:pic>
        <p:nvPicPr>
          <p:cNvPr id="30" name="Picture 6" descr="A green rectangular object with black background&#10;&#10;AI-generated content may be incorrect.">
            <a:extLst>
              <a:ext uri="{FF2B5EF4-FFF2-40B4-BE49-F238E27FC236}">
                <a16:creationId xmlns:a16="http://schemas.microsoft.com/office/drawing/2014/main" id="{E97B2211-B6AC-D27E-F3D7-90422BDF6750}"/>
              </a:ext>
            </a:extLst>
          </p:cNvPr>
          <p:cNvPicPr>
            <a:picLocks noChangeAspect="1"/>
          </p:cNvPicPr>
          <p:nvPr/>
        </p:nvPicPr>
        <p:blipFill>
          <a:blip r:embed="rId3"/>
          <a:stretch>
            <a:fillRect/>
          </a:stretch>
        </p:blipFill>
        <p:spPr>
          <a:xfrm>
            <a:off x="2002536" y="4370832"/>
            <a:ext cx="502920" cy="749808"/>
          </a:xfrm>
          <a:prstGeom prst="rect">
            <a:avLst/>
          </a:prstGeom>
        </p:spPr>
      </p:pic>
      <p:pic>
        <p:nvPicPr>
          <p:cNvPr id="31" name="Picture 6" descr="A green rectangular object with black background&#10;&#10;AI-generated content may be incorrect.">
            <a:extLst>
              <a:ext uri="{FF2B5EF4-FFF2-40B4-BE49-F238E27FC236}">
                <a16:creationId xmlns:a16="http://schemas.microsoft.com/office/drawing/2014/main" id="{C893198A-B7FB-D27D-A3E6-E5B0AD6B1A5A}"/>
              </a:ext>
            </a:extLst>
          </p:cNvPr>
          <p:cNvPicPr>
            <a:picLocks noChangeAspect="1"/>
          </p:cNvPicPr>
          <p:nvPr/>
        </p:nvPicPr>
        <p:blipFill>
          <a:blip r:embed="rId3"/>
          <a:stretch>
            <a:fillRect/>
          </a:stretch>
        </p:blipFill>
        <p:spPr>
          <a:xfrm>
            <a:off x="2157984" y="4370832"/>
            <a:ext cx="502920" cy="749808"/>
          </a:xfrm>
          <a:prstGeom prst="rect">
            <a:avLst/>
          </a:prstGeom>
        </p:spPr>
      </p:pic>
      <p:pic>
        <p:nvPicPr>
          <p:cNvPr id="32" name="Picture 6" descr="A green rectangular object with black background&#10;&#10;AI-generated content may be incorrect.">
            <a:extLst>
              <a:ext uri="{FF2B5EF4-FFF2-40B4-BE49-F238E27FC236}">
                <a16:creationId xmlns:a16="http://schemas.microsoft.com/office/drawing/2014/main" id="{C0734CD0-CF52-4FDC-60E7-8E9BF5B3EA49}"/>
              </a:ext>
            </a:extLst>
          </p:cNvPr>
          <p:cNvPicPr>
            <a:picLocks noChangeAspect="1"/>
          </p:cNvPicPr>
          <p:nvPr/>
        </p:nvPicPr>
        <p:blipFill>
          <a:blip r:embed="rId3"/>
          <a:stretch>
            <a:fillRect/>
          </a:stretch>
        </p:blipFill>
        <p:spPr>
          <a:xfrm>
            <a:off x="2313432" y="4370832"/>
            <a:ext cx="502920" cy="749808"/>
          </a:xfrm>
          <a:prstGeom prst="rect">
            <a:avLst/>
          </a:prstGeom>
        </p:spPr>
      </p:pic>
      <p:pic>
        <p:nvPicPr>
          <p:cNvPr id="33" name="Picture 6" descr="A green rectangular object with black background&#10;&#10;AI-generated content may be incorrect.">
            <a:extLst>
              <a:ext uri="{FF2B5EF4-FFF2-40B4-BE49-F238E27FC236}">
                <a16:creationId xmlns:a16="http://schemas.microsoft.com/office/drawing/2014/main" id="{2B48B2EB-B20A-6F23-4CF5-7E2B252C5325}"/>
              </a:ext>
            </a:extLst>
          </p:cNvPr>
          <p:cNvPicPr>
            <a:picLocks noChangeAspect="1"/>
          </p:cNvPicPr>
          <p:nvPr/>
        </p:nvPicPr>
        <p:blipFill>
          <a:blip r:embed="rId3"/>
          <a:stretch>
            <a:fillRect/>
          </a:stretch>
        </p:blipFill>
        <p:spPr>
          <a:xfrm>
            <a:off x="2468880" y="4370832"/>
            <a:ext cx="502920" cy="749808"/>
          </a:xfrm>
          <a:prstGeom prst="rect">
            <a:avLst/>
          </a:prstGeom>
        </p:spPr>
      </p:pic>
      <p:pic>
        <p:nvPicPr>
          <p:cNvPr id="36" name="Picture 8" descr="A yellow cube with black background&#10;&#10;AI-generated content may be incorrect.">
            <a:extLst>
              <a:ext uri="{FF2B5EF4-FFF2-40B4-BE49-F238E27FC236}">
                <a16:creationId xmlns:a16="http://schemas.microsoft.com/office/drawing/2014/main" id="{13649433-4091-B3C7-3605-09DD59E182BB}"/>
              </a:ext>
            </a:extLst>
          </p:cNvPr>
          <p:cNvPicPr>
            <a:picLocks noChangeAspect="1"/>
          </p:cNvPicPr>
          <p:nvPr/>
        </p:nvPicPr>
        <p:blipFill>
          <a:blip r:embed="rId4"/>
          <a:stretch>
            <a:fillRect/>
          </a:stretch>
        </p:blipFill>
        <p:spPr>
          <a:xfrm>
            <a:off x="4617720" y="4553712"/>
            <a:ext cx="192024" cy="155448"/>
          </a:xfrm>
          <a:prstGeom prst="rect">
            <a:avLst/>
          </a:prstGeom>
        </p:spPr>
      </p:pic>
      <p:sp>
        <p:nvSpPr>
          <p:cNvPr id="37" name="Rectangle: Rounded Corners 5">
            <a:extLst>
              <a:ext uri="{FF2B5EF4-FFF2-40B4-BE49-F238E27FC236}">
                <a16:creationId xmlns:a16="http://schemas.microsoft.com/office/drawing/2014/main" id="{D6F7D73C-9529-0B76-9883-5B87BEE0FB48}"/>
              </a:ext>
            </a:extLst>
          </p:cNvPr>
          <p:cNvSpPr/>
          <p:nvPr/>
        </p:nvSpPr>
        <p:spPr>
          <a:xfrm>
            <a:off x="3236976" y="5376672"/>
            <a:ext cx="566928"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61</a:t>
            </a:r>
            <a:endParaRPr lang="en-IN" b="1" dirty="0"/>
          </a:p>
        </p:txBody>
      </p:sp>
      <p:pic>
        <p:nvPicPr>
          <p:cNvPr id="38" name="Picture 9">
            <a:extLst>
              <a:ext uri="{FF2B5EF4-FFF2-40B4-BE49-F238E27FC236}">
                <a16:creationId xmlns:a16="http://schemas.microsoft.com/office/drawing/2014/main" id="{9C51A4EE-442B-4017-5EB6-B380C46F7942}"/>
              </a:ext>
            </a:extLst>
          </p:cNvPr>
          <p:cNvPicPr>
            <a:picLocks noChangeAspect="1"/>
          </p:cNvPicPr>
          <p:nvPr/>
        </p:nvPicPr>
        <p:blipFill>
          <a:blip r:embed="rId5"/>
          <a:srcRect/>
          <a:stretch>
            <a:fillRect/>
          </a:stretch>
        </p:blipFill>
        <p:spPr>
          <a:xfrm>
            <a:off x="2788920" y="5989320"/>
            <a:ext cx="1143000" cy="548640"/>
          </a:xfrm>
          <a:prstGeom prst="rect">
            <a:avLst/>
          </a:prstGeom>
        </p:spPr>
      </p:pic>
      <p:pic>
        <p:nvPicPr>
          <p:cNvPr id="39" name="Picture 16">
            <a:extLst>
              <a:ext uri="{FF2B5EF4-FFF2-40B4-BE49-F238E27FC236}">
                <a16:creationId xmlns:a16="http://schemas.microsoft.com/office/drawing/2014/main" id="{2A07CE38-61C9-4113-68DB-65835B00EC1A}"/>
              </a:ext>
            </a:extLst>
          </p:cNvPr>
          <p:cNvPicPr>
            <a:picLocks noChangeAspect="1"/>
          </p:cNvPicPr>
          <p:nvPr/>
        </p:nvPicPr>
        <p:blipFill>
          <a:blip r:embed="rId6"/>
          <a:stretch>
            <a:fillRect/>
          </a:stretch>
        </p:blipFill>
        <p:spPr>
          <a:xfrm>
            <a:off x="4160520" y="5989320"/>
            <a:ext cx="1444752" cy="548640"/>
          </a:xfrm>
          <a:prstGeom prst="rect">
            <a:avLst/>
          </a:prstGeom>
        </p:spPr>
      </p:pic>
      <p:sp>
        <p:nvSpPr>
          <p:cNvPr id="40" name="Recommendations">
            <a:extLst>
              <a:ext uri="{FF2B5EF4-FFF2-40B4-BE49-F238E27FC236}">
                <a16:creationId xmlns:a16="http://schemas.microsoft.com/office/drawing/2014/main" id="{BD22E8E9-4888-6D7F-CD23-A93793BD934A}"/>
              </a:ext>
            </a:extLst>
          </p:cNvPr>
          <p:cNvSpPr txBox="1"/>
          <p:nvPr/>
        </p:nvSpPr>
        <p:spPr>
          <a:xfrm>
            <a:off x="6601968" y="688449"/>
            <a:ext cx="5477256" cy="5078313"/>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VO1:</a:t>
            </a:r>
            <a:r>
              <a:rPr lang="hi-IN" sz="1100" dirty="0"/>
              <a:t> पहले ब्लॉक्स की सहायता से दोनों संख्याएँ बनाते हैं। 36 में 3 दहाई और 6 इकाई हैं। ब्लॉक्स की सहायता से 36 बनाइए। </a:t>
            </a:r>
            <a:r>
              <a:rPr lang="en-US" sz="1100" i="1" dirty="0"/>
              <a:t>[PV table appears below 36. Pulsate the Tens + button until tapped 3 times, then disable it. Then, pulsate the Ones + button until tapped 6 times, then disable it.]</a:t>
            </a:r>
          </a:p>
          <a:p>
            <a:r>
              <a:rPr lang="en-US" sz="1100" b="1" dirty="0"/>
              <a:t>VO2:</a:t>
            </a:r>
            <a:r>
              <a:rPr lang="hi-IN" sz="1100" dirty="0"/>
              <a:t> 25 में 2 दहाई और 5 इकाई हैं। ब्लॉक्स की सहायता से 25 बनाइए। </a:t>
            </a:r>
            <a:r>
              <a:rPr lang="en-US" sz="1100" i="1" dirty="0"/>
              <a:t>[PV table appears below 25. Pulsate the Tens + button until tapped 2 times, then disable it. Then, pulsate the Ones + button until tapped 5 times, then disable it.]</a:t>
            </a:r>
          </a:p>
          <a:p>
            <a:r>
              <a:rPr lang="en-US" sz="1100" b="1" dirty="0"/>
              <a:t>VO3:</a:t>
            </a:r>
            <a:r>
              <a:rPr lang="hi-IN" sz="1100" dirty="0"/>
              <a:t> बहुत बढ़िया! अब दोनों संख्याओं को जोड़ते हैं। </a:t>
            </a:r>
            <a:r>
              <a:rPr lang="en-US" sz="1100" i="1" dirty="0"/>
              <a:t>[Remove the Tens and Ones source buttons, then show the place-value table below for the sum.]</a:t>
            </a:r>
          </a:p>
          <a:p>
            <a:r>
              <a:rPr lang="en-US" sz="1100" b="1" dirty="0"/>
              <a:t>VO4:</a:t>
            </a:r>
            <a:r>
              <a:rPr lang="hi-IN" sz="1100" dirty="0"/>
              <a:t> पहले इकाइयों को जोड़िए। </a:t>
            </a:r>
            <a:r>
              <a:rPr lang="en-US" sz="1100" i="1" dirty="0"/>
              <a:t>[Pulsate the Ones blocks on both tables; keep the Tens disabled. On tap, move each block to the Ones column of the sum table.]</a:t>
            </a:r>
          </a:p>
          <a:p>
            <a:r>
              <a:rPr lang="en-US" sz="1100" b="1" dirty="0"/>
              <a:t>VO5:</a:t>
            </a:r>
            <a:r>
              <a:rPr lang="hi-IN" sz="1100" dirty="0"/>
              <a:t> 6 इकाइयाँ और 5 इकाइयाँ मिलाकर हुईं 11 इकाइयाँ। </a:t>
            </a:r>
            <a:r>
              <a:rPr lang="en-US" sz="1100" i="1" dirty="0"/>
              <a:t>[Highlight the blocks on the sum table in sync with the VO.]</a:t>
            </a:r>
          </a:p>
          <a:p>
            <a:r>
              <a:rPr lang="en-US" sz="1100" b="1" dirty="0"/>
              <a:t>VO6:</a:t>
            </a:r>
            <a:r>
              <a:rPr lang="hi-IN" sz="1100" dirty="0"/>
              <a:t> 10 इकाइयों से 1 दहाई बनती है। इस बटन पर टैप करके दहाई बनाइए। </a:t>
            </a:r>
            <a:r>
              <a:rPr lang="hi-IN" sz="1100" i="1" dirty="0"/>
              <a:t>[An outline appears on 10 blocks; the “दहाई बनाओ” button appears and pulsates.</a:t>
            </a:r>
            <a:r>
              <a:rPr lang="en-US" sz="1100" i="1" dirty="0"/>
              <a:t> As the child taps it, blocks animate to a rod.]</a:t>
            </a:r>
            <a:endParaRPr lang="hi-IN" sz="1100" i="1" dirty="0"/>
          </a:p>
          <a:p>
            <a:r>
              <a:rPr lang="en-US" sz="1100" b="1" dirty="0"/>
              <a:t>VO7:</a:t>
            </a:r>
            <a:r>
              <a:rPr lang="hi-IN" sz="1100" dirty="0"/>
              <a:t> नई दहाई को दहाई की जगह रखिए। </a:t>
            </a:r>
            <a:r>
              <a:rPr lang="en-US" sz="1100" i="1" dirty="0"/>
              <a:t>[Pulsate the new Tens rod and show a target tile in the Tens column. Ghost-drag only if the child is idle for 5 seconds — no automatic ghost-drag this time.]</a:t>
            </a:r>
          </a:p>
          <a:p>
            <a:r>
              <a:rPr lang="en-US" sz="1100" b="1" dirty="0"/>
              <a:t>VO8:</a:t>
            </a:r>
            <a:r>
              <a:rPr lang="hi-IN" sz="1100" dirty="0"/>
              <a:t> अब दहाइयों को जोड़िए। </a:t>
            </a:r>
            <a:r>
              <a:rPr lang="en-US" sz="1100" i="1" dirty="0"/>
              <a:t>[Pulsate the Tens rods on both tables; on tap, move each rod to the Tens column of the sum table.]</a:t>
            </a:r>
          </a:p>
          <a:p>
            <a:r>
              <a:rPr lang="en-US" sz="1100" b="1" dirty="0"/>
              <a:t>VO9:</a:t>
            </a:r>
            <a:r>
              <a:rPr lang="hi-IN" sz="1100" dirty="0"/>
              <a:t> 3 दहाई, 2 दहाई और 1 नई दहाई मिलाकर हुईं 6 दहाइयाँ। </a:t>
            </a:r>
            <a:r>
              <a:rPr lang="en-US" sz="1100" i="1" dirty="0"/>
              <a:t>[Highlight the rods on the sum table in sync with the VO.]</a:t>
            </a:r>
          </a:p>
          <a:p>
            <a:r>
              <a:rPr lang="en-US" sz="1100" b="1" dirty="0"/>
              <a:t>VO10:</a:t>
            </a:r>
            <a:r>
              <a:rPr lang="hi-IN" sz="1100" dirty="0"/>
              <a:t> अब हमारे पास कुल 6 दहाइयाँ और 1 इकाई है, यानी 61 </a:t>
            </a:r>
            <a:r>
              <a:rPr lang="en-US" sz="1100" i="1" dirty="0"/>
              <a:t>[Highlight the rods, the block, the digits and the number 61 in sync with the VO.]</a:t>
            </a:r>
          </a:p>
          <a:p>
            <a:r>
              <a:rPr lang="en-US" sz="1100" b="1" dirty="0"/>
              <a:t>Completion VO:</a:t>
            </a:r>
            <a:r>
              <a:rPr lang="hi-IN" sz="1100" dirty="0"/>
              <a:t> शाबाश! 36 और 25 को जोड़ने पर 61 मिलता है।</a:t>
            </a:r>
            <a:endParaRPr lang="en-US" sz="1100" i="1" dirty="0"/>
          </a:p>
        </p:txBody>
      </p:sp>
    </p:spTree>
    <p:extLst>
      <p:ext uri="{BB962C8B-B14F-4D97-AF65-F5344CB8AC3E}">
        <p14:creationId xmlns:p14="http://schemas.microsoft.com/office/powerpoint/2010/main" val="2433553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06_INTRO.png</a:t>
            </a:r>
          </a:p>
        </p:txBody>
      </p:sp>
      <p:pic>
        <p:nvPicPr>
          <p:cNvPr id="3" name="Picture 2" descr="06_INTRO.png"/>
          <p:cNvPicPr>
            <a:picLocks noChangeAspect="1"/>
          </p:cNvPicPr>
          <p:nvPr/>
        </p:nvPicPr>
        <p:blipFill>
          <a:blip r:embed="rId2"/>
          <a:stretch>
            <a:fillRect/>
          </a:stretch>
        </p:blipFill>
        <p:spPr>
          <a:xfrm>
            <a:off x="365760" y="731520"/>
            <a:ext cx="7680960" cy="4298571"/>
          </a:xfrm>
          <a:prstGeom prst="rect">
            <a:avLst/>
          </a:prstGeom>
        </p:spPr>
      </p:pic>
      <p:sp>
        <p:nvSpPr>
          <p:cNvPr id="4" name="Recommendations"/>
          <p:cNvSpPr txBox="1"/>
          <p:nvPr/>
        </p:nvSpPr>
        <p:spPr>
          <a:xfrm>
            <a:off x="8229600" y="731520"/>
            <a:ext cx="3593592" cy="2185214"/>
          </a:xfrm>
          <a:prstGeom prst="rect">
            <a:avLst/>
          </a:prstGeom>
          <a:noFill/>
        </p:spPr>
        <p:txBody>
          <a:bodyPr wrap="square">
            <a:spAutoFit/>
          </a:bodyPr>
          <a:lstStyle/>
          <a:p>
            <a:r>
              <a:rPr lang="en-US" sz="1600" b="1" dirty="0">
                <a:solidFill>
                  <a:srgbClr val="0B3D8C"/>
                </a:solidFill>
              </a:rPr>
              <a:t>Recommendations</a:t>
            </a:r>
          </a:p>
          <a:p>
            <a:r>
              <a:rPr lang="en-US" sz="1200" dirty="0"/>
              <a:t>Replace the entire slide content with the following: </a:t>
            </a:r>
          </a:p>
          <a:p>
            <a:r>
              <a:rPr lang="en-US" sz="1200" dirty="0"/>
              <a:t>Images as written.</a:t>
            </a:r>
          </a:p>
          <a:p>
            <a:r>
              <a:rPr lang="en-US" sz="1200" dirty="0"/>
              <a:t>Change the Equation to </a:t>
            </a:r>
            <a:r>
              <a:rPr lang="en-US" sz="1200" b="1" dirty="0"/>
              <a:t>36  + 25 = 61</a:t>
            </a:r>
            <a:r>
              <a:rPr lang="en-US" sz="1200" dirty="0"/>
              <a:t> below the images.</a:t>
            </a:r>
          </a:p>
          <a:p>
            <a:endParaRPr lang="en-US" sz="1200" dirty="0"/>
          </a:p>
          <a:p>
            <a:r>
              <a:rPr lang="en-US" sz="1200" b="1" dirty="0"/>
              <a:t>VO1:</a:t>
            </a:r>
            <a:r>
              <a:rPr lang="hi-IN" sz="1200" dirty="0"/>
              <a:t> </a:t>
            </a:r>
            <a:r>
              <a:rPr lang="en-US" sz="1200" dirty="0"/>
              <a:t>36</a:t>
            </a:r>
            <a:r>
              <a:rPr lang="hi-IN" sz="1200" dirty="0"/>
              <a:t> जोड़ </a:t>
            </a:r>
            <a:r>
              <a:rPr lang="en-US" sz="1200" dirty="0"/>
              <a:t>25</a:t>
            </a:r>
            <a:r>
              <a:rPr lang="hi-IN" sz="1200" dirty="0"/>
              <a:t> बराबर </a:t>
            </a:r>
            <a:r>
              <a:rPr lang="en-US" sz="1200" dirty="0"/>
              <a:t>61</a:t>
            </a:r>
            <a:endParaRPr lang="hi-IN" sz="1200" dirty="0"/>
          </a:p>
          <a:p>
            <a:endParaRPr lang="en-US" sz="1200" dirty="0"/>
          </a:p>
          <a:p>
            <a:r>
              <a:rPr lang="en-US" sz="1200" b="1" dirty="0"/>
              <a:t>VO2:</a:t>
            </a:r>
            <a:r>
              <a:rPr lang="hi-IN" sz="1200" dirty="0"/>
              <a:t> परी के पास अब कुल मिलाकर </a:t>
            </a:r>
            <a:r>
              <a:rPr lang="en-US" sz="1200" dirty="0"/>
              <a:t>61</a:t>
            </a:r>
            <a:r>
              <a:rPr lang="hi-IN" sz="1200" dirty="0"/>
              <a:t> ब्लॉक्स हैं।</a:t>
            </a:r>
          </a:p>
          <a:p>
            <a:endParaRPr lang="en-US" sz="1200" dirty="0"/>
          </a:p>
          <a:p>
            <a:endParaRPr lang="hi-IN" sz="1200" dirty="0"/>
          </a:p>
        </p:txBody>
      </p:sp>
      <p:sp>
        <p:nvSpPr>
          <p:cNvPr id="11" name="Oval 13">
            <a:extLst>
              <a:ext uri="{FF2B5EF4-FFF2-40B4-BE49-F238E27FC236}">
                <a16:creationId xmlns:a16="http://schemas.microsoft.com/office/drawing/2014/main" id="{F326DD66-67B7-7C8F-7337-6D1B3EB4924E}"/>
              </a:ext>
            </a:extLst>
          </p:cNvPr>
          <p:cNvSpPr/>
          <p:nvPr/>
        </p:nvSpPr>
        <p:spPr>
          <a:xfrm>
            <a:off x="2229613" y="246888"/>
            <a:ext cx="1014984"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Pari’s Photo</a:t>
            </a:r>
            <a:endParaRPr lang="en-IN" sz="1200" dirty="0"/>
          </a:p>
        </p:txBody>
      </p:sp>
      <p:sp>
        <p:nvSpPr>
          <p:cNvPr id="12" name="Oval 13">
            <a:extLst>
              <a:ext uri="{FF2B5EF4-FFF2-40B4-BE49-F238E27FC236}">
                <a16:creationId xmlns:a16="http://schemas.microsoft.com/office/drawing/2014/main" id="{B3AD7050-7F01-E146-FDD7-6FA8910915FB}"/>
              </a:ext>
            </a:extLst>
          </p:cNvPr>
          <p:cNvSpPr/>
          <p:nvPr/>
        </p:nvSpPr>
        <p:spPr>
          <a:xfrm>
            <a:off x="3528059" y="246888"/>
            <a:ext cx="1014986" cy="7955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Amma’s Photo</a:t>
            </a:r>
            <a:endParaRPr lang="en-IN" sz="1200" dirty="0"/>
          </a:p>
        </p:txBody>
      </p:sp>
      <p:sp>
        <p:nvSpPr>
          <p:cNvPr id="13" name="Rectangle 15">
            <a:extLst>
              <a:ext uri="{FF2B5EF4-FFF2-40B4-BE49-F238E27FC236}">
                <a16:creationId xmlns:a16="http://schemas.microsoft.com/office/drawing/2014/main" id="{FA65705A-52F8-02FB-6B3F-C342E80DA88D}"/>
              </a:ext>
            </a:extLst>
          </p:cNvPr>
          <p:cNvSpPr/>
          <p:nvPr/>
        </p:nvSpPr>
        <p:spPr>
          <a:xfrm>
            <a:off x="2083309" y="1161288"/>
            <a:ext cx="1161288" cy="10515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Pari’s 36 blocks</a:t>
            </a:r>
            <a:endParaRPr lang="en-IN" dirty="0"/>
          </a:p>
        </p:txBody>
      </p:sp>
      <p:sp>
        <p:nvSpPr>
          <p:cNvPr id="14" name="Rectangle 15">
            <a:extLst>
              <a:ext uri="{FF2B5EF4-FFF2-40B4-BE49-F238E27FC236}">
                <a16:creationId xmlns:a16="http://schemas.microsoft.com/office/drawing/2014/main" id="{813D3480-D51D-2E87-30CD-0E36BE5B3742}"/>
              </a:ext>
            </a:extLst>
          </p:cNvPr>
          <p:cNvSpPr/>
          <p:nvPr/>
        </p:nvSpPr>
        <p:spPr>
          <a:xfrm>
            <a:off x="3381757" y="1161288"/>
            <a:ext cx="1161288" cy="10515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Amma’s 25 blocks</a:t>
            </a:r>
            <a:endParaRPr lang="en-IN" dirty="0"/>
          </a:p>
        </p:txBody>
      </p:sp>
      <p:sp>
        <p:nvSpPr>
          <p:cNvPr id="15" name="Rectangle 15">
            <a:extLst>
              <a:ext uri="{FF2B5EF4-FFF2-40B4-BE49-F238E27FC236}">
                <a16:creationId xmlns:a16="http://schemas.microsoft.com/office/drawing/2014/main" id="{CF76DCF8-EABB-D08F-2160-00AEC3D762F5}"/>
              </a:ext>
            </a:extLst>
          </p:cNvPr>
          <p:cNvSpPr/>
          <p:nvPr/>
        </p:nvSpPr>
        <p:spPr>
          <a:xfrm>
            <a:off x="5228845" y="1161288"/>
            <a:ext cx="1161288" cy="10515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500" dirty="0"/>
              <a:t>All 61 blocks together</a:t>
            </a:r>
            <a:endParaRPr lang="en-IN" dirty="0"/>
          </a:p>
        </p:txBody>
      </p:sp>
      <p:sp>
        <p:nvSpPr>
          <p:cNvPr id="16" name="TextBox 15">
            <a:extLst>
              <a:ext uri="{FF2B5EF4-FFF2-40B4-BE49-F238E27FC236}">
                <a16:creationId xmlns:a16="http://schemas.microsoft.com/office/drawing/2014/main" id="{525CCFB7-2E2C-B7FC-ABFE-D59C5F7C4719}"/>
              </a:ext>
            </a:extLst>
          </p:cNvPr>
          <p:cNvSpPr txBox="1"/>
          <p:nvPr/>
        </p:nvSpPr>
        <p:spPr>
          <a:xfrm>
            <a:off x="4785361" y="2269272"/>
            <a:ext cx="2468880" cy="307777"/>
          </a:xfrm>
          <a:prstGeom prst="rect">
            <a:avLst/>
          </a:prstGeom>
          <a:noFill/>
        </p:spPr>
        <p:txBody>
          <a:bodyPr wrap="square" lIns="0" tIns="0" rIns="0" bIns="0" anchor="ctr">
            <a:spAutoFit/>
          </a:bodyPr>
          <a:lstStyle/>
          <a:p>
            <a:pPr algn="ctr"/>
            <a:r>
              <a:rPr sz="1000" b="0" i="1" dirty="0">
                <a:solidFill>
                  <a:srgbClr val="5A6678"/>
                </a:solidFill>
              </a:rPr>
              <a:t>[Animate all the blocks moving together in sync with VO</a:t>
            </a:r>
            <a:r>
              <a:rPr lang="en-US" sz="1000" b="0" i="1" dirty="0">
                <a:solidFill>
                  <a:srgbClr val="5A6678"/>
                </a:solidFill>
              </a:rPr>
              <a:t>1</a:t>
            </a:r>
            <a:r>
              <a:rPr sz="1000" b="0" i="1" dirty="0">
                <a:solidFill>
                  <a:srgbClr val="5A6678"/>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7 · 07_CONSERVE_COUNT.png</a:t>
            </a:r>
          </a:p>
        </p:txBody>
      </p:sp>
      <p:pic>
        <p:nvPicPr>
          <p:cNvPr id="3" name="Picture 2" descr="07_CONSERVE_COUNT.png"/>
          <p:cNvPicPr>
            <a:picLocks noChangeAspect="1"/>
          </p:cNvPicPr>
          <p:nvPr/>
        </p:nvPicPr>
        <p:blipFill>
          <a:blip r:embed="rId2"/>
          <a:stretch>
            <a:fillRect/>
          </a:stretch>
        </p:blipFill>
        <p:spPr>
          <a:xfrm>
            <a:off x="91440" y="5788152"/>
            <a:ext cx="1737360" cy="972295"/>
          </a:xfrm>
          <a:prstGeom prst="rect">
            <a:avLst/>
          </a:prstGeom>
        </p:spPr>
      </p:pic>
      <p:pic>
        <p:nvPicPr>
          <p:cNvPr id="4" name="Picture 3" descr="frame_practice.png"/>
          <p:cNvPicPr>
            <a:picLocks noChangeAspect="1"/>
          </p:cNvPicPr>
          <p:nvPr/>
        </p:nvPicPr>
        <p:blipFill>
          <a:blip r:embed="rId3"/>
          <a:stretch>
            <a:fillRect/>
          </a:stretch>
        </p:blipFill>
        <p:spPr>
          <a:xfrm>
            <a:off x="365760" y="731520"/>
            <a:ext cx="7680960" cy="4297680"/>
          </a:xfrm>
          <a:prstGeom prst="rect">
            <a:avLst/>
          </a:prstGeom>
        </p:spPr>
      </p:pic>
      <p:sp>
        <p:nvSpPr>
          <p:cNvPr id="5" name="TextBox 4"/>
          <p:cNvSpPr txBox="1"/>
          <p:nvPr/>
        </p:nvSpPr>
        <p:spPr>
          <a:xfrm>
            <a:off x="1417320" y="1091368"/>
            <a:ext cx="5486400" cy="276999"/>
          </a:xfrm>
          <a:prstGeom prst="rect">
            <a:avLst/>
          </a:prstGeom>
          <a:noFill/>
        </p:spPr>
        <p:txBody>
          <a:bodyPr wrap="square" lIns="0" tIns="0" rIns="0" bIns="0" anchor="ctr">
            <a:spAutoFit/>
          </a:bodyPr>
          <a:lstStyle/>
          <a:p>
            <a:pPr algn="l"/>
            <a:r>
              <a:rPr lang="hi-IN" sz="1800" b="0" i="0" dirty="0">
                <a:solidFill>
                  <a:srgbClr val="1B2A44"/>
                </a:solidFill>
              </a:rPr>
              <a:t>संख्याएँ जोड़िए।</a:t>
            </a:r>
          </a:p>
        </p:txBody>
      </p:sp>
      <p:sp>
        <p:nvSpPr>
          <p:cNvPr id="6" name="Rectangle: Rounded Corners 10">
            <a:extLst>
              <a:ext uri="{FF2B5EF4-FFF2-40B4-BE49-F238E27FC236}">
                <a16:creationId xmlns:a16="http://schemas.microsoft.com/office/drawing/2014/main" id="{E27357D1-08E6-13D0-6866-5F16B35F4A36}"/>
              </a:ext>
            </a:extLst>
          </p:cNvPr>
          <p:cNvSpPr/>
          <p:nvPr/>
        </p:nvSpPr>
        <p:spPr>
          <a:xfrm>
            <a:off x="3063240" y="1554480"/>
            <a:ext cx="2286000" cy="5303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600" b="1" dirty="0"/>
              <a:t>28  +  15  =  ?</a:t>
            </a:r>
            <a:endParaRPr lang="en-IN" sz="3200" b="1" dirty="0"/>
          </a:p>
        </p:txBody>
      </p:sp>
      <p:graphicFrame>
        <p:nvGraphicFramePr>
          <p:cNvPr id="7"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109728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8"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632540" y="2542032"/>
            <a:ext cx="163919" cy="786384"/>
          </a:xfrm>
          <a:prstGeom prst="rect">
            <a:avLst/>
          </a:prstGeom>
        </p:spPr>
      </p:pic>
      <p:pic>
        <p:nvPicPr>
          <p:cNvPr id="9"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861140" y="2542032"/>
            <a:ext cx="163919" cy="786384"/>
          </a:xfrm>
          <a:prstGeom prst="rect">
            <a:avLst/>
          </a:prstGeom>
        </p:spPr>
      </p:pic>
      <p:pic>
        <p:nvPicPr>
          <p:cNvPr id="10"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761488" y="2758439"/>
            <a:ext cx="182880" cy="152400"/>
          </a:xfrm>
          <a:prstGeom prst="rect">
            <a:avLst/>
          </a:prstGeom>
        </p:spPr>
      </p:pic>
      <p:pic>
        <p:nvPicPr>
          <p:cNvPr id="11"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980944" y="2758439"/>
            <a:ext cx="182880" cy="152400"/>
          </a:xfrm>
          <a:prstGeom prst="rect">
            <a:avLst/>
          </a:prstGeom>
        </p:spPr>
      </p:pic>
      <p:pic>
        <p:nvPicPr>
          <p:cNvPr id="12"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00400" y="2758439"/>
            <a:ext cx="182880" cy="152400"/>
          </a:xfrm>
          <a:prstGeom prst="rect">
            <a:avLst/>
          </a:prstGeom>
        </p:spPr>
      </p:pic>
      <p:pic>
        <p:nvPicPr>
          <p:cNvPr id="13"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419856" y="2758439"/>
            <a:ext cx="182880" cy="152400"/>
          </a:xfrm>
          <a:prstGeom prst="rect">
            <a:avLst/>
          </a:prstGeom>
        </p:spPr>
      </p:pic>
      <p:pic>
        <p:nvPicPr>
          <p:cNvPr id="1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639312" y="2758439"/>
            <a:ext cx="182880" cy="152400"/>
          </a:xfrm>
          <a:prstGeom prst="rect">
            <a:avLst/>
          </a:prstGeom>
        </p:spPr>
      </p:pic>
      <p:pic>
        <p:nvPicPr>
          <p:cNvPr id="1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980944" y="2959607"/>
            <a:ext cx="182880" cy="152400"/>
          </a:xfrm>
          <a:prstGeom prst="rect">
            <a:avLst/>
          </a:prstGeom>
        </p:spPr>
      </p:pic>
      <p:pic>
        <p:nvPicPr>
          <p:cNvPr id="16"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00400" y="2959607"/>
            <a:ext cx="182880" cy="152400"/>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419856" y="2959607"/>
            <a:ext cx="182880" cy="152400"/>
          </a:xfrm>
          <a:prstGeom prst="rect">
            <a:avLst/>
          </a:prstGeom>
        </p:spPr>
      </p:pic>
      <p:sp>
        <p:nvSpPr>
          <p:cNvPr id="18" name="TextBox 11">
            <a:extLst>
              <a:ext uri="{FF2B5EF4-FFF2-40B4-BE49-F238E27FC236}">
                <a16:creationId xmlns:a16="http://schemas.microsoft.com/office/drawing/2014/main" id="{AE2BDAC4-4AD8-FA83-D665-53753E748874}"/>
              </a:ext>
            </a:extLst>
          </p:cNvPr>
          <p:cNvSpPr txBox="1"/>
          <p:nvPr/>
        </p:nvSpPr>
        <p:spPr>
          <a:xfrm>
            <a:off x="4069080" y="2560320"/>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19"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438912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20"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5038680" y="2542032"/>
            <a:ext cx="163919" cy="786384"/>
          </a:xfrm>
          <a:prstGeom prst="rect">
            <a:avLst/>
          </a:prstGeom>
        </p:spPr>
      </p:pic>
      <p:pic>
        <p:nvPicPr>
          <p:cNvPr id="21"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053328" y="2859023"/>
            <a:ext cx="182880" cy="152400"/>
          </a:xfrm>
          <a:prstGeom prst="rect">
            <a:avLst/>
          </a:prstGeom>
        </p:spPr>
      </p:pic>
      <p:pic>
        <p:nvPicPr>
          <p:cNvPr id="22"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272784" y="2859023"/>
            <a:ext cx="182880" cy="152400"/>
          </a:xfrm>
          <a:prstGeom prst="rect">
            <a:avLst/>
          </a:prstGeom>
        </p:spPr>
      </p:pic>
      <p:pic>
        <p:nvPicPr>
          <p:cNvPr id="23"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492240" y="2859023"/>
            <a:ext cx="182880" cy="152400"/>
          </a:xfrm>
          <a:prstGeom prst="rect">
            <a:avLst/>
          </a:prstGeom>
        </p:spPr>
      </p:pic>
      <p:pic>
        <p:nvPicPr>
          <p:cNvPr id="2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711696" y="2859023"/>
            <a:ext cx="182880" cy="152400"/>
          </a:xfrm>
          <a:prstGeom prst="rect">
            <a:avLst/>
          </a:prstGeom>
        </p:spPr>
      </p:pic>
      <p:pic>
        <p:nvPicPr>
          <p:cNvPr id="2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931152" y="2859023"/>
            <a:ext cx="182880" cy="152400"/>
          </a:xfrm>
          <a:prstGeom prst="rect">
            <a:avLst/>
          </a:prstGeom>
        </p:spPr>
      </p:pic>
      <p:graphicFrame>
        <p:nvGraphicFramePr>
          <p:cNvPr id="26"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2377440" y="3584448"/>
          <a:ext cx="3657600" cy="1188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758657152"/>
                    </a:ext>
                  </a:extLst>
                </a:gridCol>
                <a:gridCol w="182880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14400">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sp>
        <p:nvSpPr>
          <p:cNvPr id="27" name="Rounded Rectangle 26"/>
          <p:cNvSpPr/>
          <p:nvPr/>
        </p:nvSpPr>
        <p:spPr>
          <a:xfrm>
            <a:off x="6199632" y="4041648"/>
            <a:ext cx="1325880" cy="384048"/>
          </a:xfrm>
          <a:prstGeom prst="roundRect">
            <a:avLst>
              <a:gd name="adj" fmla="val 50000"/>
            </a:avLst>
          </a:prstGeom>
          <a:solidFill>
            <a:srgbClr val="F6B41A"/>
          </a:solidFill>
          <a:ln w="15875">
            <a:solidFill>
              <a:srgbClr val="E09A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hi-IN" sz="1300" b="1">
                <a:solidFill>
                  <a:srgbClr val="0B3D8C"/>
                </a:solidFill>
              </a:rPr>
              <a:t>दहाई बनाओ</a:t>
            </a:r>
          </a:p>
        </p:txBody>
      </p:sp>
      <p:sp>
        <p:nvSpPr>
          <p:cNvPr id="28" name="Rectangle: Rounded Corners 24">
            <a:extLst>
              <a:ext uri="{FF2B5EF4-FFF2-40B4-BE49-F238E27FC236}">
                <a16:creationId xmlns:a16="http://schemas.microsoft.com/office/drawing/2014/main" id="{3B550DD0-7960-9392-6690-FEC0F01442CB}"/>
              </a:ext>
            </a:extLst>
          </p:cNvPr>
          <p:cNvSpPr/>
          <p:nvPr/>
        </p:nvSpPr>
        <p:spPr>
          <a:xfrm>
            <a:off x="2148840"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33</a:t>
            </a:r>
            <a:endParaRPr lang="en-IN" sz="4000" b="1" dirty="0"/>
          </a:p>
        </p:txBody>
      </p:sp>
      <p:sp>
        <p:nvSpPr>
          <p:cNvPr id="29" name="Rectangle: Rounded Corners 24">
            <a:extLst>
              <a:ext uri="{FF2B5EF4-FFF2-40B4-BE49-F238E27FC236}">
                <a16:creationId xmlns:a16="http://schemas.microsoft.com/office/drawing/2014/main" id="{3B550DD0-7960-9392-6690-FEC0F01442CB}"/>
              </a:ext>
            </a:extLst>
          </p:cNvPr>
          <p:cNvSpPr/>
          <p:nvPr/>
        </p:nvSpPr>
        <p:spPr>
          <a:xfrm>
            <a:off x="3685032"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16</a:t>
            </a:r>
            <a:endParaRPr lang="en-IN" sz="4000" b="1" dirty="0"/>
          </a:p>
        </p:txBody>
      </p:sp>
      <p:sp>
        <p:nvSpPr>
          <p:cNvPr id="30" name="Rectangle: Rounded Corners 24">
            <a:extLst>
              <a:ext uri="{FF2B5EF4-FFF2-40B4-BE49-F238E27FC236}">
                <a16:creationId xmlns:a16="http://schemas.microsoft.com/office/drawing/2014/main" id="{3B550DD0-7960-9392-6690-FEC0F01442CB}"/>
              </a:ext>
            </a:extLst>
          </p:cNvPr>
          <p:cNvSpPr/>
          <p:nvPr/>
        </p:nvSpPr>
        <p:spPr>
          <a:xfrm>
            <a:off x="5221224"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43</a:t>
            </a:r>
            <a:endParaRPr lang="en-IN" sz="4000" b="1" dirty="0"/>
          </a:p>
        </p:txBody>
      </p:sp>
      <p:sp>
        <p:nvSpPr>
          <p:cNvPr id="31" name="Recommendations"/>
          <p:cNvSpPr txBox="1"/>
          <p:nvPr/>
        </p:nvSpPr>
        <p:spPr>
          <a:xfrm>
            <a:off x="8211312" y="100664"/>
            <a:ext cx="3785616" cy="4739759"/>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Instruction:</a:t>
            </a:r>
            <a:r>
              <a:rPr lang="hi-IN" sz="1100" dirty="0"/>
              <a:t> संख्याएँ जोड़िए।</a:t>
            </a:r>
          </a:p>
          <a:p>
            <a:r>
              <a:rPr lang="en-US" sz="1100" b="1" dirty="0"/>
              <a:t>Equation: 28 + 15 = ?</a:t>
            </a:r>
          </a:p>
          <a:p>
            <a:r>
              <a:rPr lang="en-US" sz="1100" dirty="0"/>
              <a:t>Show the PV tables with the numbers built using blocks one by one. </a:t>
            </a:r>
          </a:p>
          <a:p>
            <a:endParaRPr lang="en-US" sz="1100" b="1" dirty="0"/>
          </a:p>
          <a:p>
            <a:r>
              <a:rPr lang="en-US" sz="1100" b="1" dirty="0"/>
              <a:t>VO1:</a:t>
            </a:r>
            <a:r>
              <a:rPr lang="hi-IN" sz="1100" dirty="0"/>
              <a:t> 28 और 15 को जोड़िए।</a:t>
            </a:r>
            <a:r>
              <a:rPr lang="en-US" sz="1100" dirty="0"/>
              <a:t> </a:t>
            </a:r>
            <a:r>
              <a:rPr lang="en-US" sz="1100" i="1" dirty="0"/>
              <a:t>[Show an empty PV table below for the sum. Show the button “</a:t>
            </a:r>
            <a:r>
              <a:rPr lang="hi-IN" sz="1100" i="1" dirty="0"/>
              <a:t>दहाई बनाओ” </a:t>
            </a:r>
            <a:r>
              <a:rPr lang="en-US" sz="1100" i="1" dirty="0"/>
              <a:t>from beginning. In case of inactivity, provide the relevant  visual hint (pulsate the blocks or button for making a ten or ghost animation for moving new tens to the tens.)]</a:t>
            </a:r>
          </a:p>
          <a:p>
            <a:endParaRPr lang="en-US" sz="1100" i="1" dirty="0"/>
          </a:p>
          <a:p>
            <a:pPr defTabSz="914400" eaLnBrk="0" fontAlgn="base" hangingPunct="0">
              <a:spcBef>
                <a:spcPct val="0"/>
              </a:spcBef>
              <a:spcAft>
                <a:spcPct val="0"/>
              </a:spcAft>
            </a:pPr>
            <a:r>
              <a:rPr lang="en-US" sz="1100" b="1" dirty="0"/>
              <a:t>VO2:</a:t>
            </a:r>
            <a:r>
              <a:rPr lang="hi-IN" sz="1100" dirty="0"/>
              <a:t> बहुत बढ़िया! अब सही जोड़ चुनिए।</a:t>
            </a:r>
            <a:r>
              <a:rPr lang="en-US" altLang="en-US" sz="1100" i="1" dirty="0"/>
              <a:t>[</a:t>
            </a:r>
            <a:r>
              <a:rPr lang="en-US" sz="1100" i="1" dirty="0"/>
              <a:t>Move the sum PV table to the center, replacing the first two PV tables and show the answer options.]</a:t>
            </a:r>
          </a:p>
          <a:p>
            <a:pPr defTabSz="914400" eaLnBrk="0" fontAlgn="base" hangingPunct="0">
              <a:spcBef>
                <a:spcPct val="0"/>
              </a:spcBef>
              <a:spcAft>
                <a:spcPct val="0"/>
              </a:spcAft>
            </a:pPr>
            <a:endParaRPr lang="en-US" sz="1100" dirty="0"/>
          </a:p>
          <a:p>
            <a:r>
              <a:rPr lang="en-US" sz="1100" b="1" dirty="0"/>
              <a:t>CR:</a:t>
            </a:r>
            <a:r>
              <a:rPr lang="hi-IN" sz="1100" dirty="0"/>
              <a:t> शाबाश! 28 जोड़ 15 बराबर 43</a:t>
            </a:r>
          </a:p>
          <a:p>
            <a:r>
              <a:rPr lang="en-US" sz="1100" i="1" dirty="0"/>
              <a:t>[Move the correct answer option to the equation, replacing the “?” symbol.]</a:t>
            </a:r>
          </a:p>
          <a:p>
            <a:endParaRPr lang="en-US" sz="1100" dirty="0"/>
          </a:p>
          <a:p>
            <a:r>
              <a:rPr lang="en-US" sz="1100" b="1" dirty="0"/>
              <a:t>Feedback/hint</a:t>
            </a:r>
          </a:p>
          <a:p>
            <a:r>
              <a:rPr lang="en-US" sz="1100" b="1" dirty="0"/>
              <a:t>WA1:</a:t>
            </a:r>
            <a:r>
              <a:rPr lang="hi-IN" sz="1100" dirty="0"/>
              <a:t> Wiggle + VO: ब्लॉक्स को गिनिए और सही जोड़ चुनिए।</a:t>
            </a:r>
          </a:p>
          <a:p>
            <a:r>
              <a:rPr lang="en-US" sz="1100" b="1" dirty="0"/>
              <a:t>WA2:</a:t>
            </a:r>
            <a:r>
              <a:rPr lang="hi-IN" sz="1100" dirty="0"/>
              <a:t> Wiggle + VO: ध्यान से देखिए, नई दहाई को मिलाकर कुल 4 दहाइयाँ और 3 इकाइयाँ हैं।</a:t>
            </a:r>
            <a:endParaRPr lang="en-US" sz="1100" i="1" dirty="0"/>
          </a:p>
          <a:p>
            <a:r>
              <a:rPr lang="en-US" sz="1100" b="1" dirty="0"/>
              <a:t>WA3:</a:t>
            </a:r>
            <a:r>
              <a:rPr lang="en-US" sz="1100" dirty="0"/>
              <a:t> Wiggle + highlight the correct option + fade out the other options.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8 · 08_SEQUENCE_COMPLETE.png</a:t>
            </a:r>
          </a:p>
        </p:txBody>
      </p:sp>
      <p:pic>
        <p:nvPicPr>
          <p:cNvPr id="3" name="Picture 2" descr="08_SEQUENCE_COMPLETE.png"/>
          <p:cNvPicPr>
            <a:picLocks noChangeAspect="1"/>
          </p:cNvPicPr>
          <p:nvPr/>
        </p:nvPicPr>
        <p:blipFill>
          <a:blip r:embed="rId2"/>
          <a:stretch>
            <a:fillRect/>
          </a:stretch>
        </p:blipFill>
        <p:spPr>
          <a:xfrm>
            <a:off x="91440" y="5788152"/>
            <a:ext cx="1737360" cy="972295"/>
          </a:xfrm>
          <a:prstGeom prst="rect">
            <a:avLst/>
          </a:prstGeom>
        </p:spPr>
      </p:pic>
      <p:pic>
        <p:nvPicPr>
          <p:cNvPr id="4" name="Picture 3" descr="frame_practice.png"/>
          <p:cNvPicPr>
            <a:picLocks noChangeAspect="1"/>
          </p:cNvPicPr>
          <p:nvPr/>
        </p:nvPicPr>
        <p:blipFill>
          <a:blip r:embed="rId3"/>
          <a:stretch>
            <a:fillRect/>
          </a:stretch>
        </p:blipFill>
        <p:spPr>
          <a:xfrm>
            <a:off x="365760" y="731520"/>
            <a:ext cx="7680960" cy="4297680"/>
          </a:xfrm>
          <a:prstGeom prst="rect">
            <a:avLst/>
          </a:prstGeom>
        </p:spPr>
      </p:pic>
      <p:sp>
        <p:nvSpPr>
          <p:cNvPr id="5" name="TextBox 4"/>
          <p:cNvSpPr txBox="1"/>
          <p:nvPr/>
        </p:nvSpPr>
        <p:spPr>
          <a:xfrm>
            <a:off x="1417320" y="1024128"/>
            <a:ext cx="5486400" cy="411480"/>
          </a:xfrm>
          <a:prstGeom prst="rect">
            <a:avLst/>
          </a:prstGeom>
          <a:noFill/>
        </p:spPr>
        <p:txBody>
          <a:bodyPr wrap="square" lIns="0" tIns="0" rIns="0" bIns="0" anchor="ctr">
            <a:spAutoFit/>
          </a:bodyPr>
          <a:lstStyle/>
          <a:p>
            <a:pPr algn="l"/>
            <a:r>
              <a:rPr lang="hi-IN" sz="1800" b="0" i="0">
                <a:solidFill>
                  <a:srgbClr val="1B2A44"/>
                </a:solidFill>
              </a:rPr>
              <a:t>संख्याएँ जोड़िए।</a:t>
            </a:r>
          </a:p>
        </p:txBody>
      </p:sp>
      <p:sp>
        <p:nvSpPr>
          <p:cNvPr id="6" name="Rectangle: Rounded Corners 10">
            <a:extLst>
              <a:ext uri="{FF2B5EF4-FFF2-40B4-BE49-F238E27FC236}">
                <a16:creationId xmlns:a16="http://schemas.microsoft.com/office/drawing/2014/main" id="{E27357D1-08E6-13D0-6866-5F16B35F4A36}"/>
              </a:ext>
            </a:extLst>
          </p:cNvPr>
          <p:cNvSpPr/>
          <p:nvPr/>
        </p:nvSpPr>
        <p:spPr>
          <a:xfrm>
            <a:off x="3063240" y="1554480"/>
            <a:ext cx="2286000" cy="5303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600" b="1" dirty="0"/>
              <a:t>46  +  24  =  ?</a:t>
            </a:r>
            <a:endParaRPr lang="en-IN" sz="3200" b="1" dirty="0"/>
          </a:p>
        </p:txBody>
      </p:sp>
      <p:graphicFrame>
        <p:nvGraphicFramePr>
          <p:cNvPr id="7"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109728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8"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403940" y="2542032"/>
            <a:ext cx="163919" cy="786384"/>
          </a:xfrm>
          <a:prstGeom prst="rect">
            <a:avLst/>
          </a:prstGeom>
        </p:spPr>
      </p:pic>
      <p:pic>
        <p:nvPicPr>
          <p:cNvPr id="9"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632540" y="2542032"/>
            <a:ext cx="163919" cy="786384"/>
          </a:xfrm>
          <a:prstGeom prst="rect">
            <a:avLst/>
          </a:prstGeom>
        </p:spPr>
      </p:pic>
      <p:pic>
        <p:nvPicPr>
          <p:cNvPr id="10"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861140" y="2542032"/>
            <a:ext cx="163919" cy="786384"/>
          </a:xfrm>
          <a:prstGeom prst="rect">
            <a:avLst/>
          </a:prstGeom>
        </p:spPr>
      </p:pic>
      <p:pic>
        <p:nvPicPr>
          <p:cNvPr id="11"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2089740" y="2542032"/>
            <a:ext cx="163919" cy="786384"/>
          </a:xfrm>
          <a:prstGeom prst="rect">
            <a:avLst/>
          </a:prstGeom>
        </p:spPr>
      </p:pic>
      <p:pic>
        <p:nvPicPr>
          <p:cNvPr id="12"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761488" y="2758439"/>
            <a:ext cx="182880" cy="152400"/>
          </a:xfrm>
          <a:prstGeom prst="rect">
            <a:avLst/>
          </a:prstGeom>
        </p:spPr>
      </p:pic>
      <p:pic>
        <p:nvPicPr>
          <p:cNvPr id="13"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980944" y="2758439"/>
            <a:ext cx="182880" cy="152400"/>
          </a:xfrm>
          <a:prstGeom prst="rect">
            <a:avLst/>
          </a:prstGeom>
        </p:spPr>
      </p:pic>
      <p:pic>
        <p:nvPicPr>
          <p:cNvPr id="1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00400" y="2758439"/>
            <a:ext cx="182880" cy="152400"/>
          </a:xfrm>
          <a:prstGeom prst="rect">
            <a:avLst/>
          </a:prstGeom>
        </p:spPr>
      </p:pic>
      <p:pic>
        <p:nvPicPr>
          <p:cNvPr id="1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419856" y="2758439"/>
            <a:ext cx="182880" cy="152400"/>
          </a:xfrm>
          <a:prstGeom prst="rect">
            <a:avLst/>
          </a:prstGeom>
        </p:spPr>
      </p:pic>
      <p:pic>
        <p:nvPicPr>
          <p:cNvPr id="16"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639312" y="2758439"/>
            <a:ext cx="182880" cy="152400"/>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00400" y="2959607"/>
            <a:ext cx="182880" cy="152400"/>
          </a:xfrm>
          <a:prstGeom prst="rect">
            <a:avLst/>
          </a:prstGeom>
        </p:spPr>
      </p:pic>
      <p:sp>
        <p:nvSpPr>
          <p:cNvPr id="18" name="TextBox 11">
            <a:extLst>
              <a:ext uri="{FF2B5EF4-FFF2-40B4-BE49-F238E27FC236}">
                <a16:creationId xmlns:a16="http://schemas.microsoft.com/office/drawing/2014/main" id="{AE2BDAC4-4AD8-FA83-D665-53753E748874}"/>
              </a:ext>
            </a:extLst>
          </p:cNvPr>
          <p:cNvSpPr txBox="1"/>
          <p:nvPr/>
        </p:nvSpPr>
        <p:spPr>
          <a:xfrm>
            <a:off x="4069080" y="2560320"/>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19"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438912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20"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4924380" y="2542032"/>
            <a:ext cx="163919" cy="786384"/>
          </a:xfrm>
          <a:prstGeom prst="rect">
            <a:avLst/>
          </a:prstGeom>
        </p:spPr>
      </p:pic>
      <p:pic>
        <p:nvPicPr>
          <p:cNvPr id="21"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5152980" y="2542032"/>
            <a:ext cx="163919" cy="786384"/>
          </a:xfrm>
          <a:prstGeom prst="rect">
            <a:avLst/>
          </a:prstGeom>
        </p:spPr>
      </p:pic>
      <p:pic>
        <p:nvPicPr>
          <p:cNvPr id="22"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163056" y="2859023"/>
            <a:ext cx="182880" cy="152400"/>
          </a:xfrm>
          <a:prstGeom prst="rect">
            <a:avLst/>
          </a:prstGeom>
        </p:spPr>
      </p:pic>
      <p:pic>
        <p:nvPicPr>
          <p:cNvPr id="23"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382512" y="2859023"/>
            <a:ext cx="182880" cy="152400"/>
          </a:xfrm>
          <a:prstGeom prst="rect">
            <a:avLst/>
          </a:prstGeom>
        </p:spPr>
      </p:pic>
      <p:pic>
        <p:nvPicPr>
          <p:cNvPr id="2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601968" y="2859023"/>
            <a:ext cx="182880" cy="152400"/>
          </a:xfrm>
          <a:prstGeom prst="rect">
            <a:avLst/>
          </a:prstGeom>
        </p:spPr>
      </p:pic>
      <p:pic>
        <p:nvPicPr>
          <p:cNvPr id="2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821424" y="2859023"/>
            <a:ext cx="182880" cy="152400"/>
          </a:xfrm>
          <a:prstGeom prst="rect">
            <a:avLst/>
          </a:prstGeom>
        </p:spPr>
      </p:pic>
      <p:graphicFrame>
        <p:nvGraphicFramePr>
          <p:cNvPr id="26"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2377440" y="3584448"/>
          <a:ext cx="3657600" cy="1188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758657152"/>
                    </a:ext>
                  </a:extLst>
                </a:gridCol>
                <a:gridCol w="182880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14400">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sp>
        <p:nvSpPr>
          <p:cNvPr id="27" name="Rounded Rectangle 26"/>
          <p:cNvSpPr/>
          <p:nvPr/>
        </p:nvSpPr>
        <p:spPr>
          <a:xfrm>
            <a:off x="6199632" y="4041648"/>
            <a:ext cx="1325880" cy="384048"/>
          </a:xfrm>
          <a:prstGeom prst="roundRect">
            <a:avLst>
              <a:gd name="adj" fmla="val 50000"/>
            </a:avLst>
          </a:prstGeom>
          <a:solidFill>
            <a:srgbClr val="F6B41A"/>
          </a:solidFill>
          <a:ln w="15875">
            <a:solidFill>
              <a:srgbClr val="E09A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hi-IN" sz="1300" b="1">
                <a:solidFill>
                  <a:srgbClr val="0B3D8C"/>
                </a:solidFill>
              </a:rPr>
              <a:t>दहाई बनाओ</a:t>
            </a:r>
          </a:p>
        </p:txBody>
      </p:sp>
      <p:sp>
        <p:nvSpPr>
          <p:cNvPr id="28" name="Rectangle: Rounded Corners 24">
            <a:extLst>
              <a:ext uri="{FF2B5EF4-FFF2-40B4-BE49-F238E27FC236}">
                <a16:creationId xmlns:a16="http://schemas.microsoft.com/office/drawing/2014/main" id="{3B550DD0-7960-9392-6690-FEC0F01442CB}"/>
              </a:ext>
            </a:extLst>
          </p:cNvPr>
          <p:cNvSpPr/>
          <p:nvPr/>
        </p:nvSpPr>
        <p:spPr>
          <a:xfrm>
            <a:off x="2148840"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70</a:t>
            </a:r>
            <a:endParaRPr lang="en-IN" sz="4000" b="1" dirty="0"/>
          </a:p>
        </p:txBody>
      </p:sp>
      <p:sp>
        <p:nvSpPr>
          <p:cNvPr id="29" name="Rectangle: Rounded Corners 24">
            <a:extLst>
              <a:ext uri="{FF2B5EF4-FFF2-40B4-BE49-F238E27FC236}">
                <a16:creationId xmlns:a16="http://schemas.microsoft.com/office/drawing/2014/main" id="{3B550DD0-7960-9392-6690-FEC0F01442CB}"/>
              </a:ext>
            </a:extLst>
          </p:cNvPr>
          <p:cNvSpPr/>
          <p:nvPr/>
        </p:nvSpPr>
        <p:spPr>
          <a:xfrm>
            <a:off x="3685032"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61</a:t>
            </a:r>
            <a:endParaRPr lang="en-IN" sz="4000" b="1" dirty="0"/>
          </a:p>
        </p:txBody>
      </p:sp>
      <p:sp>
        <p:nvSpPr>
          <p:cNvPr id="30" name="Rectangle: Rounded Corners 24">
            <a:extLst>
              <a:ext uri="{FF2B5EF4-FFF2-40B4-BE49-F238E27FC236}">
                <a16:creationId xmlns:a16="http://schemas.microsoft.com/office/drawing/2014/main" id="{3B550DD0-7960-9392-6690-FEC0F01442CB}"/>
              </a:ext>
            </a:extLst>
          </p:cNvPr>
          <p:cNvSpPr/>
          <p:nvPr/>
        </p:nvSpPr>
        <p:spPr>
          <a:xfrm>
            <a:off x="5221224"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60</a:t>
            </a:r>
            <a:endParaRPr lang="en-IN" sz="4000" b="1" dirty="0"/>
          </a:p>
        </p:txBody>
      </p:sp>
      <p:sp>
        <p:nvSpPr>
          <p:cNvPr id="31" name="Recommendations"/>
          <p:cNvSpPr txBox="1"/>
          <p:nvPr/>
        </p:nvSpPr>
        <p:spPr>
          <a:xfrm>
            <a:off x="8161357" y="452821"/>
            <a:ext cx="3962400" cy="4739759"/>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Instruction:</a:t>
            </a:r>
            <a:r>
              <a:rPr lang="hi-IN" sz="1100" dirty="0"/>
              <a:t> संख्याएँ जोड़िए।</a:t>
            </a:r>
          </a:p>
          <a:p>
            <a:r>
              <a:rPr lang="en-US" sz="1100" b="1" dirty="0"/>
              <a:t>Equation: 46 + 24 = ?</a:t>
            </a:r>
          </a:p>
          <a:p>
            <a:r>
              <a:rPr lang="en-US" sz="1100" dirty="0"/>
              <a:t>Show the PV tables with the numbers built using blocks one by one. </a:t>
            </a:r>
          </a:p>
          <a:p>
            <a:endParaRPr lang="en-US" sz="1100" b="1" dirty="0"/>
          </a:p>
          <a:p>
            <a:r>
              <a:rPr lang="en-US" sz="1100" b="1" dirty="0"/>
              <a:t>VO1:</a:t>
            </a:r>
            <a:r>
              <a:rPr lang="hi-IN" sz="1100" dirty="0"/>
              <a:t> </a:t>
            </a:r>
            <a:r>
              <a:rPr lang="en-US" sz="1100" dirty="0"/>
              <a:t>46</a:t>
            </a:r>
            <a:r>
              <a:rPr lang="hi-IN" sz="1100" dirty="0"/>
              <a:t> और </a:t>
            </a:r>
            <a:r>
              <a:rPr lang="en-US" sz="1100" dirty="0"/>
              <a:t>24 </a:t>
            </a:r>
            <a:r>
              <a:rPr lang="hi-IN" sz="1100" dirty="0"/>
              <a:t>को जोड़िए।</a:t>
            </a:r>
            <a:r>
              <a:rPr lang="en-US" sz="1100" dirty="0"/>
              <a:t> </a:t>
            </a:r>
            <a:r>
              <a:rPr lang="en-US" sz="1100" i="1" dirty="0"/>
              <a:t>[Show an empty PV table below for the sum. Show the button “</a:t>
            </a:r>
            <a:r>
              <a:rPr lang="hi-IN" sz="1100" i="1" dirty="0"/>
              <a:t>दहाई बनाओ” </a:t>
            </a:r>
            <a:r>
              <a:rPr lang="en-US" sz="1100" i="1" dirty="0"/>
              <a:t>from beginning. In case of inactivity, provide the relevant  visual hint (pulsate the blocks or button for making a ten or ghost animation for moving new tens to the tens.)]</a:t>
            </a:r>
          </a:p>
          <a:p>
            <a:endParaRPr lang="en-US" sz="1100" i="1" strike="sngStrike" dirty="0"/>
          </a:p>
          <a:p>
            <a:r>
              <a:rPr lang="en-US" sz="1100" b="1" dirty="0"/>
              <a:t>VO2:</a:t>
            </a:r>
            <a:r>
              <a:rPr lang="hi-IN" sz="1100" dirty="0"/>
              <a:t> बहुत बढ़िया! अब सही जोड़ चुनिए।</a:t>
            </a:r>
            <a:r>
              <a:rPr lang="en-US" sz="1100" dirty="0"/>
              <a:t> </a:t>
            </a:r>
            <a:r>
              <a:rPr lang="en-US" altLang="en-US" sz="1100" i="1" dirty="0"/>
              <a:t>[</a:t>
            </a:r>
            <a:r>
              <a:rPr lang="en-US" sz="1100" i="1" dirty="0"/>
              <a:t>Move the sum PV table to the center, replacing the first two PV tables and show the answer options.]</a:t>
            </a:r>
          </a:p>
          <a:p>
            <a:endParaRPr lang="hi-IN" sz="1100" dirty="0"/>
          </a:p>
          <a:p>
            <a:r>
              <a:rPr lang="en-US" sz="1100" b="1" dirty="0"/>
              <a:t>CR:</a:t>
            </a:r>
            <a:r>
              <a:rPr lang="hi-IN" sz="1100" dirty="0"/>
              <a:t> शाबाश! 46 जोड़ 24 बराबर 70</a:t>
            </a:r>
          </a:p>
          <a:p>
            <a:r>
              <a:rPr lang="en-US" sz="1100" i="1" dirty="0"/>
              <a:t>[Move the correct answer option to the equation, replacing the “?” symbol.]</a:t>
            </a:r>
          </a:p>
          <a:p>
            <a:endParaRPr lang="en-US" sz="1100" dirty="0"/>
          </a:p>
          <a:p>
            <a:r>
              <a:rPr lang="en-US" sz="1100" b="1" dirty="0"/>
              <a:t>Feedback/hint</a:t>
            </a:r>
          </a:p>
          <a:p>
            <a:r>
              <a:rPr lang="en-US" sz="1100" b="1" dirty="0"/>
              <a:t>WA1:</a:t>
            </a:r>
            <a:r>
              <a:rPr lang="hi-IN" sz="1100" dirty="0"/>
              <a:t> Wiggle + VO: ब्लॉक्स को गिनिए और सही जोड़ चुनिए।</a:t>
            </a:r>
          </a:p>
          <a:p>
            <a:r>
              <a:rPr lang="en-US" sz="1100" b="1" dirty="0"/>
              <a:t>WA2:</a:t>
            </a:r>
            <a:r>
              <a:rPr lang="hi-IN" sz="1100" dirty="0"/>
              <a:t> Wiggle + VO: ध्यान से देखिए, नई दहाई को मिलाकर कुल 7 दहाइयाँ हैं, और</a:t>
            </a:r>
            <a:r>
              <a:rPr lang="en-US" sz="1100" dirty="0"/>
              <a:t> </a:t>
            </a:r>
            <a:r>
              <a:rPr lang="hi-IN" sz="1100" dirty="0"/>
              <a:t>0 इकाई है। </a:t>
            </a:r>
            <a:endParaRPr lang="en-US" sz="1100" i="1" dirty="0"/>
          </a:p>
          <a:p>
            <a:r>
              <a:rPr lang="en-US" sz="1100" b="1" dirty="0"/>
              <a:t>WA3:</a:t>
            </a:r>
            <a:r>
              <a:rPr lang="en-US" sz="1100" dirty="0"/>
              <a:t> Wiggle + highlight the correct option + fade out the other options.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9 · 09_MAKE_SET.png</a:t>
            </a:r>
          </a:p>
        </p:txBody>
      </p:sp>
      <p:pic>
        <p:nvPicPr>
          <p:cNvPr id="3" name="Picture 2" descr="09_MAKE_SET.png"/>
          <p:cNvPicPr>
            <a:picLocks noChangeAspect="1"/>
          </p:cNvPicPr>
          <p:nvPr/>
        </p:nvPicPr>
        <p:blipFill>
          <a:blip r:embed="rId2"/>
          <a:stretch>
            <a:fillRect/>
          </a:stretch>
        </p:blipFill>
        <p:spPr>
          <a:xfrm>
            <a:off x="91440" y="5788152"/>
            <a:ext cx="1737360" cy="972295"/>
          </a:xfrm>
          <a:prstGeom prst="rect">
            <a:avLst/>
          </a:prstGeom>
        </p:spPr>
      </p:pic>
      <p:pic>
        <p:nvPicPr>
          <p:cNvPr id="4" name="Picture 3" descr="frame_practice.png"/>
          <p:cNvPicPr>
            <a:picLocks noChangeAspect="1"/>
          </p:cNvPicPr>
          <p:nvPr/>
        </p:nvPicPr>
        <p:blipFill>
          <a:blip r:embed="rId3"/>
          <a:stretch>
            <a:fillRect/>
          </a:stretch>
        </p:blipFill>
        <p:spPr>
          <a:xfrm>
            <a:off x="365760" y="731520"/>
            <a:ext cx="7680960" cy="4297680"/>
          </a:xfrm>
          <a:prstGeom prst="rect">
            <a:avLst/>
          </a:prstGeom>
        </p:spPr>
      </p:pic>
      <p:sp>
        <p:nvSpPr>
          <p:cNvPr id="5" name="TextBox 4"/>
          <p:cNvSpPr txBox="1"/>
          <p:nvPr/>
        </p:nvSpPr>
        <p:spPr>
          <a:xfrm>
            <a:off x="1417320" y="1024128"/>
            <a:ext cx="5486400" cy="411480"/>
          </a:xfrm>
          <a:prstGeom prst="rect">
            <a:avLst/>
          </a:prstGeom>
          <a:noFill/>
        </p:spPr>
        <p:txBody>
          <a:bodyPr wrap="square" lIns="0" tIns="0" rIns="0" bIns="0" anchor="ctr">
            <a:spAutoFit/>
          </a:bodyPr>
          <a:lstStyle/>
          <a:p>
            <a:pPr algn="l"/>
            <a:r>
              <a:rPr lang="hi-IN" sz="1800" b="0" i="0">
                <a:solidFill>
                  <a:srgbClr val="1B2A44"/>
                </a:solidFill>
              </a:rPr>
              <a:t>संख्याएँ जोड़िए।</a:t>
            </a:r>
          </a:p>
        </p:txBody>
      </p:sp>
      <p:sp>
        <p:nvSpPr>
          <p:cNvPr id="6" name="Rectangle: Rounded Corners 10">
            <a:extLst>
              <a:ext uri="{FF2B5EF4-FFF2-40B4-BE49-F238E27FC236}">
                <a16:creationId xmlns:a16="http://schemas.microsoft.com/office/drawing/2014/main" id="{E27357D1-08E6-13D0-6866-5F16B35F4A36}"/>
              </a:ext>
            </a:extLst>
          </p:cNvPr>
          <p:cNvSpPr/>
          <p:nvPr/>
        </p:nvSpPr>
        <p:spPr>
          <a:xfrm>
            <a:off x="3063240" y="1554480"/>
            <a:ext cx="2286000" cy="5303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600" b="1" dirty="0"/>
              <a:t>58  +  36  =  ?</a:t>
            </a:r>
            <a:endParaRPr lang="en-IN" sz="3200" b="1" dirty="0"/>
          </a:p>
        </p:txBody>
      </p:sp>
      <p:graphicFrame>
        <p:nvGraphicFramePr>
          <p:cNvPr id="7"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109728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8"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289640" y="2542032"/>
            <a:ext cx="163919" cy="786384"/>
          </a:xfrm>
          <a:prstGeom prst="rect">
            <a:avLst/>
          </a:prstGeom>
        </p:spPr>
      </p:pic>
      <p:pic>
        <p:nvPicPr>
          <p:cNvPr id="9"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518240" y="2542032"/>
            <a:ext cx="163919" cy="786384"/>
          </a:xfrm>
          <a:prstGeom prst="rect">
            <a:avLst/>
          </a:prstGeom>
        </p:spPr>
      </p:pic>
      <p:pic>
        <p:nvPicPr>
          <p:cNvPr id="10"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746840" y="2542032"/>
            <a:ext cx="163919" cy="786384"/>
          </a:xfrm>
          <a:prstGeom prst="rect">
            <a:avLst/>
          </a:prstGeom>
        </p:spPr>
      </p:pic>
      <p:pic>
        <p:nvPicPr>
          <p:cNvPr id="11"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975440" y="2542032"/>
            <a:ext cx="163919" cy="786384"/>
          </a:xfrm>
          <a:prstGeom prst="rect">
            <a:avLst/>
          </a:prstGeom>
        </p:spPr>
      </p:pic>
      <p:pic>
        <p:nvPicPr>
          <p:cNvPr id="12"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2204040" y="2542032"/>
            <a:ext cx="163919" cy="786384"/>
          </a:xfrm>
          <a:prstGeom prst="rect">
            <a:avLst/>
          </a:prstGeom>
        </p:spPr>
      </p:pic>
      <p:pic>
        <p:nvPicPr>
          <p:cNvPr id="13"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761488" y="2758439"/>
            <a:ext cx="182880" cy="152400"/>
          </a:xfrm>
          <a:prstGeom prst="rect">
            <a:avLst/>
          </a:prstGeom>
        </p:spPr>
      </p:pic>
      <p:pic>
        <p:nvPicPr>
          <p:cNvPr id="1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980944" y="2758439"/>
            <a:ext cx="182880" cy="152400"/>
          </a:xfrm>
          <a:prstGeom prst="rect">
            <a:avLst/>
          </a:prstGeom>
        </p:spPr>
      </p:pic>
      <p:pic>
        <p:nvPicPr>
          <p:cNvPr id="1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00400" y="2758439"/>
            <a:ext cx="182880" cy="152400"/>
          </a:xfrm>
          <a:prstGeom prst="rect">
            <a:avLst/>
          </a:prstGeom>
        </p:spPr>
      </p:pic>
      <p:pic>
        <p:nvPicPr>
          <p:cNvPr id="16"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419856" y="2758439"/>
            <a:ext cx="182880" cy="152400"/>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639312" y="2758439"/>
            <a:ext cx="182880" cy="152400"/>
          </a:xfrm>
          <a:prstGeom prst="rect">
            <a:avLst/>
          </a:prstGeom>
        </p:spPr>
      </p:pic>
      <p:pic>
        <p:nvPicPr>
          <p:cNvPr id="18"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980944" y="2959607"/>
            <a:ext cx="182880" cy="152400"/>
          </a:xfrm>
          <a:prstGeom prst="rect">
            <a:avLst/>
          </a:prstGeom>
        </p:spPr>
      </p:pic>
      <p:pic>
        <p:nvPicPr>
          <p:cNvPr id="19"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00400" y="2959607"/>
            <a:ext cx="182880" cy="152400"/>
          </a:xfrm>
          <a:prstGeom prst="rect">
            <a:avLst/>
          </a:prstGeom>
        </p:spPr>
      </p:pic>
      <p:pic>
        <p:nvPicPr>
          <p:cNvPr id="20"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419856" y="2959607"/>
            <a:ext cx="182880" cy="152400"/>
          </a:xfrm>
          <a:prstGeom prst="rect">
            <a:avLst/>
          </a:prstGeom>
        </p:spPr>
      </p:pic>
      <p:sp>
        <p:nvSpPr>
          <p:cNvPr id="21" name="TextBox 11">
            <a:extLst>
              <a:ext uri="{FF2B5EF4-FFF2-40B4-BE49-F238E27FC236}">
                <a16:creationId xmlns:a16="http://schemas.microsoft.com/office/drawing/2014/main" id="{AE2BDAC4-4AD8-FA83-D665-53753E748874}"/>
              </a:ext>
            </a:extLst>
          </p:cNvPr>
          <p:cNvSpPr txBox="1"/>
          <p:nvPr/>
        </p:nvSpPr>
        <p:spPr>
          <a:xfrm>
            <a:off x="4069080" y="2560320"/>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22"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438912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23"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4810080" y="2542032"/>
            <a:ext cx="163919" cy="786384"/>
          </a:xfrm>
          <a:prstGeom prst="rect">
            <a:avLst/>
          </a:prstGeom>
        </p:spPr>
      </p:pic>
      <p:pic>
        <p:nvPicPr>
          <p:cNvPr id="24"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5038680" y="2542032"/>
            <a:ext cx="163919" cy="786384"/>
          </a:xfrm>
          <a:prstGeom prst="rect">
            <a:avLst/>
          </a:prstGeom>
        </p:spPr>
      </p:pic>
      <p:pic>
        <p:nvPicPr>
          <p:cNvPr id="25"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5267280" y="2542032"/>
            <a:ext cx="163919" cy="786384"/>
          </a:xfrm>
          <a:prstGeom prst="rect">
            <a:avLst/>
          </a:prstGeom>
        </p:spPr>
      </p:pic>
      <p:pic>
        <p:nvPicPr>
          <p:cNvPr id="26"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053328" y="2758439"/>
            <a:ext cx="182880" cy="152400"/>
          </a:xfrm>
          <a:prstGeom prst="rect">
            <a:avLst/>
          </a:prstGeom>
        </p:spPr>
      </p:pic>
      <p:pic>
        <p:nvPicPr>
          <p:cNvPr id="2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272784" y="2758439"/>
            <a:ext cx="182880" cy="152400"/>
          </a:xfrm>
          <a:prstGeom prst="rect">
            <a:avLst/>
          </a:prstGeom>
        </p:spPr>
      </p:pic>
      <p:pic>
        <p:nvPicPr>
          <p:cNvPr id="28"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492240" y="2758439"/>
            <a:ext cx="182880" cy="152400"/>
          </a:xfrm>
          <a:prstGeom prst="rect">
            <a:avLst/>
          </a:prstGeom>
        </p:spPr>
      </p:pic>
      <p:pic>
        <p:nvPicPr>
          <p:cNvPr id="29"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711696" y="2758439"/>
            <a:ext cx="182880" cy="152400"/>
          </a:xfrm>
          <a:prstGeom prst="rect">
            <a:avLst/>
          </a:prstGeom>
        </p:spPr>
      </p:pic>
      <p:pic>
        <p:nvPicPr>
          <p:cNvPr id="30"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931152" y="2758439"/>
            <a:ext cx="182880" cy="152400"/>
          </a:xfrm>
          <a:prstGeom prst="rect">
            <a:avLst/>
          </a:prstGeom>
        </p:spPr>
      </p:pic>
      <p:pic>
        <p:nvPicPr>
          <p:cNvPr id="31"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492240" y="2959607"/>
            <a:ext cx="182880" cy="152400"/>
          </a:xfrm>
          <a:prstGeom prst="rect">
            <a:avLst/>
          </a:prstGeom>
        </p:spPr>
      </p:pic>
      <p:graphicFrame>
        <p:nvGraphicFramePr>
          <p:cNvPr id="32"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2377440" y="3584448"/>
          <a:ext cx="3657600" cy="1188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758657152"/>
                    </a:ext>
                  </a:extLst>
                </a:gridCol>
                <a:gridCol w="182880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14400">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sp>
        <p:nvSpPr>
          <p:cNvPr id="33" name="Rounded Rectangle 32"/>
          <p:cNvSpPr/>
          <p:nvPr/>
        </p:nvSpPr>
        <p:spPr>
          <a:xfrm>
            <a:off x="6199632" y="4041648"/>
            <a:ext cx="1325880" cy="384048"/>
          </a:xfrm>
          <a:prstGeom prst="roundRect">
            <a:avLst>
              <a:gd name="adj" fmla="val 50000"/>
            </a:avLst>
          </a:prstGeom>
          <a:solidFill>
            <a:srgbClr val="F6B41A"/>
          </a:solidFill>
          <a:ln w="15875">
            <a:solidFill>
              <a:srgbClr val="E09A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hi-IN" sz="1300" b="1">
                <a:solidFill>
                  <a:srgbClr val="0B3D8C"/>
                </a:solidFill>
              </a:rPr>
              <a:t>दहाई बनाओ</a:t>
            </a:r>
          </a:p>
        </p:txBody>
      </p:sp>
      <p:sp>
        <p:nvSpPr>
          <p:cNvPr id="34" name="Rectangle: Rounded Corners 24">
            <a:extLst>
              <a:ext uri="{FF2B5EF4-FFF2-40B4-BE49-F238E27FC236}">
                <a16:creationId xmlns:a16="http://schemas.microsoft.com/office/drawing/2014/main" id="{3B550DD0-7960-9392-6690-FEC0F01442CB}"/>
              </a:ext>
            </a:extLst>
          </p:cNvPr>
          <p:cNvSpPr/>
          <p:nvPr/>
        </p:nvSpPr>
        <p:spPr>
          <a:xfrm>
            <a:off x="2148840"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84</a:t>
            </a:r>
            <a:endParaRPr lang="en-IN" sz="4000" b="1" dirty="0"/>
          </a:p>
        </p:txBody>
      </p:sp>
      <p:sp>
        <p:nvSpPr>
          <p:cNvPr id="35" name="Rectangle: Rounded Corners 24">
            <a:extLst>
              <a:ext uri="{FF2B5EF4-FFF2-40B4-BE49-F238E27FC236}">
                <a16:creationId xmlns:a16="http://schemas.microsoft.com/office/drawing/2014/main" id="{3B550DD0-7960-9392-6690-FEC0F01442CB}"/>
              </a:ext>
            </a:extLst>
          </p:cNvPr>
          <p:cNvSpPr/>
          <p:nvPr/>
        </p:nvSpPr>
        <p:spPr>
          <a:xfrm>
            <a:off x="3685032"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94</a:t>
            </a:r>
            <a:endParaRPr lang="en-IN" sz="4000" b="1" dirty="0"/>
          </a:p>
        </p:txBody>
      </p:sp>
      <p:sp>
        <p:nvSpPr>
          <p:cNvPr id="36" name="Rectangle: Rounded Corners 24">
            <a:extLst>
              <a:ext uri="{FF2B5EF4-FFF2-40B4-BE49-F238E27FC236}">
                <a16:creationId xmlns:a16="http://schemas.microsoft.com/office/drawing/2014/main" id="{3B550DD0-7960-9392-6690-FEC0F01442CB}"/>
              </a:ext>
            </a:extLst>
          </p:cNvPr>
          <p:cNvSpPr/>
          <p:nvPr/>
        </p:nvSpPr>
        <p:spPr>
          <a:xfrm>
            <a:off x="5221224" y="5157216"/>
            <a:ext cx="1051560" cy="658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dirty="0"/>
              <a:t>81</a:t>
            </a:r>
            <a:endParaRPr lang="en-IN" sz="4000" b="1" dirty="0"/>
          </a:p>
        </p:txBody>
      </p:sp>
      <p:sp>
        <p:nvSpPr>
          <p:cNvPr id="37" name="Recommendations"/>
          <p:cNvSpPr txBox="1"/>
          <p:nvPr/>
        </p:nvSpPr>
        <p:spPr>
          <a:xfrm>
            <a:off x="8161020" y="366066"/>
            <a:ext cx="3939540" cy="4739759"/>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Instruction:</a:t>
            </a:r>
            <a:r>
              <a:rPr lang="hi-IN" sz="1100" dirty="0"/>
              <a:t> संख्याएँ जोड़िए।</a:t>
            </a:r>
          </a:p>
          <a:p>
            <a:r>
              <a:rPr lang="en-US" sz="1100" b="1" dirty="0"/>
              <a:t>Equation: 58 + 36 = ?</a:t>
            </a:r>
          </a:p>
          <a:p>
            <a:r>
              <a:rPr lang="en-US" sz="1100" dirty="0"/>
              <a:t>Show the PV tables with the numbers built using blocks one by one. </a:t>
            </a:r>
          </a:p>
          <a:p>
            <a:endParaRPr lang="en-US" sz="1100" b="1" dirty="0"/>
          </a:p>
          <a:p>
            <a:r>
              <a:rPr lang="en-US" sz="1100" b="1" dirty="0"/>
              <a:t>VO1:</a:t>
            </a:r>
            <a:r>
              <a:rPr lang="hi-IN" sz="1100" dirty="0"/>
              <a:t> </a:t>
            </a:r>
            <a:r>
              <a:rPr lang="en-US" sz="1100" dirty="0"/>
              <a:t>58 </a:t>
            </a:r>
            <a:r>
              <a:rPr lang="hi-IN" sz="1100" dirty="0"/>
              <a:t>और </a:t>
            </a:r>
            <a:r>
              <a:rPr lang="en-US" sz="1100" dirty="0"/>
              <a:t>36</a:t>
            </a:r>
            <a:r>
              <a:rPr lang="hi-IN" sz="1100" dirty="0"/>
              <a:t> को जोड़िए।</a:t>
            </a:r>
            <a:r>
              <a:rPr lang="en-US" sz="1100" dirty="0"/>
              <a:t> </a:t>
            </a:r>
            <a:r>
              <a:rPr lang="en-US" sz="1100" i="1" dirty="0"/>
              <a:t>[Show an empty PV table below for the sum. Show the button “</a:t>
            </a:r>
            <a:r>
              <a:rPr lang="hi-IN" sz="1100" i="1" dirty="0"/>
              <a:t>दहाई बनाओ” </a:t>
            </a:r>
            <a:r>
              <a:rPr lang="en-US" sz="1100" i="1" dirty="0"/>
              <a:t>from beginning. In case of inactivity, provide the relevant  visual hint (pulsate the blocks or button for making a ten or ghost animation for moving new tens to the tens.)]</a:t>
            </a:r>
          </a:p>
          <a:p>
            <a:endParaRPr lang="en-US" sz="1100" i="1" dirty="0"/>
          </a:p>
          <a:p>
            <a:r>
              <a:rPr lang="en-US" sz="1100" b="1" dirty="0"/>
              <a:t>VO6:</a:t>
            </a:r>
            <a:r>
              <a:rPr lang="hi-IN" sz="1100" dirty="0"/>
              <a:t> बहुत बढ़िया! अब सही जोड़ चुनिए।</a:t>
            </a:r>
            <a:r>
              <a:rPr lang="en-US" sz="1100" dirty="0"/>
              <a:t> </a:t>
            </a:r>
            <a:r>
              <a:rPr lang="en-US" altLang="en-US" sz="1100" i="1" dirty="0"/>
              <a:t>[</a:t>
            </a:r>
            <a:r>
              <a:rPr lang="en-US" sz="1100" i="1" dirty="0"/>
              <a:t>Move the sum PV table to the center, replacing the first two PV tables and show the answer options.]</a:t>
            </a:r>
          </a:p>
          <a:p>
            <a:endParaRPr lang="en-US" sz="1100" dirty="0"/>
          </a:p>
          <a:p>
            <a:r>
              <a:rPr lang="en-US" sz="1100" b="1" dirty="0"/>
              <a:t>CR:</a:t>
            </a:r>
            <a:r>
              <a:rPr lang="hi-IN" sz="1100" dirty="0"/>
              <a:t> शाबाश! 58 जोड़ 36 बराबर 94</a:t>
            </a:r>
          </a:p>
          <a:p>
            <a:r>
              <a:rPr lang="en-US" sz="1100" i="1" dirty="0"/>
              <a:t>[Move the correct answer option to the equation, replacing the “?” symbol.]</a:t>
            </a:r>
          </a:p>
          <a:p>
            <a:endParaRPr lang="en-US" sz="1100" dirty="0"/>
          </a:p>
          <a:p>
            <a:r>
              <a:rPr lang="en-US" sz="1100" b="1" dirty="0"/>
              <a:t>Feedback/hint</a:t>
            </a:r>
          </a:p>
          <a:p>
            <a:r>
              <a:rPr lang="en-US" sz="1100" b="1" dirty="0"/>
              <a:t>WA1:</a:t>
            </a:r>
            <a:r>
              <a:rPr lang="hi-IN" sz="1100" dirty="0"/>
              <a:t> Wiggle + VO: ब्लॉक्स को गिनिए और सही जोड़ चुनिए।</a:t>
            </a:r>
          </a:p>
          <a:p>
            <a:r>
              <a:rPr lang="en-US" sz="1100" b="1" dirty="0"/>
              <a:t>WA2:</a:t>
            </a:r>
            <a:r>
              <a:rPr lang="hi-IN" sz="1100" dirty="0"/>
              <a:t> Wiggle + VO: ध्यान से देखिए, नई दहाई को मिलाकर कुल 9 दहाइयाँ और 4 इकाइयाँ हैं। </a:t>
            </a:r>
            <a:endParaRPr lang="en-US" sz="1100" i="1" dirty="0"/>
          </a:p>
          <a:p>
            <a:r>
              <a:rPr lang="en-US" sz="1100" b="1" dirty="0"/>
              <a:t>WA3:</a:t>
            </a:r>
            <a:r>
              <a:rPr lang="en-US" sz="1100" dirty="0"/>
              <a:t> Wiggle + highlight the correct option + fade out the other options.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10 · 10_SEQUENCE_NEXT.png</a:t>
            </a:r>
          </a:p>
        </p:txBody>
      </p:sp>
      <p:pic>
        <p:nvPicPr>
          <p:cNvPr id="3" name="Picture 2" descr="10_SEQUENCE_NEXT.png"/>
          <p:cNvPicPr>
            <a:picLocks noChangeAspect="1"/>
          </p:cNvPicPr>
          <p:nvPr/>
        </p:nvPicPr>
        <p:blipFill>
          <a:blip r:embed="rId2"/>
          <a:stretch>
            <a:fillRect/>
          </a:stretch>
        </p:blipFill>
        <p:spPr>
          <a:xfrm>
            <a:off x="91440" y="5788152"/>
            <a:ext cx="1737360" cy="972295"/>
          </a:xfrm>
          <a:prstGeom prst="rect">
            <a:avLst/>
          </a:prstGeom>
        </p:spPr>
      </p:pic>
      <p:pic>
        <p:nvPicPr>
          <p:cNvPr id="4" name="Picture 3" descr="frame_practice.png"/>
          <p:cNvPicPr>
            <a:picLocks noChangeAspect="1"/>
          </p:cNvPicPr>
          <p:nvPr/>
        </p:nvPicPr>
        <p:blipFill>
          <a:blip r:embed="rId3"/>
          <a:stretch>
            <a:fillRect/>
          </a:stretch>
        </p:blipFill>
        <p:spPr>
          <a:xfrm>
            <a:off x="365760" y="731520"/>
            <a:ext cx="7680960" cy="4297680"/>
          </a:xfrm>
          <a:prstGeom prst="rect">
            <a:avLst/>
          </a:prstGeom>
        </p:spPr>
      </p:pic>
      <p:sp>
        <p:nvSpPr>
          <p:cNvPr id="5" name="TextBox 4"/>
          <p:cNvSpPr txBox="1"/>
          <p:nvPr/>
        </p:nvSpPr>
        <p:spPr>
          <a:xfrm>
            <a:off x="1417320" y="1024128"/>
            <a:ext cx="5486400" cy="411480"/>
          </a:xfrm>
          <a:prstGeom prst="rect">
            <a:avLst/>
          </a:prstGeom>
          <a:noFill/>
        </p:spPr>
        <p:txBody>
          <a:bodyPr wrap="square" lIns="0" tIns="0" rIns="0" bIns="0" anchor="ctr">
            <a:spAutoFit/>
          </a:bodyPr>
          <a:lstStyle/>
          <a:p>
            <a:pPr algn="l"/>
            <a:r>
              <a:rPr lang="hi-IN" sz="1800" b="0" i="0">
                <a:solidFill>
                  <a:srgbClr val="1B2A44"/>
                </a:solidFill>
              </a:rPr>
              <a:t>संख्याएँ जोड़िए।</a:t>
            </a:r>
          </a:p>
        </p:txBody>
      </p:sp>
      <p:sp>
        <p:nvSpPr>
          <p:cNvPr id="6" name="Rectangle: Rounded Corners 10">
            <a:extLst>
              <a:ext uri="{FF2B5EF4-FFF2-40B4-BE49-F238E27FC236}">
                <a16:creationId xmlns:a16="http://schemas.microsoft.com/office/drawing/2014/main" id="{E27357D1-08E6-13D0-6866-5F16B35F4A36}"/>
              </a:ext>
            </a:extLst>
          </p:cNvPr>
          <p:cNvSpPr/>
          <p:nvPr/>
        </p:nvSpPr>
        <p:spPr>
          <a:xfrm>
            <a:off x="3063240" y="1554480"/>
            <a:ext cx="2286000" cy="5303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600" b="1" dirty="0"/>
              <a:t>24  +  46  =  ?</a:t>
            </a:r>
            <a:endParaRPr lang="en-IN" sz="3200" b="1" dirty="0"/>
          </a:p>
        </p:txBody>
      </p:sp>
      <p:graphicFrame>
        <p:nvGraphicFramePr>
          <p:cNvPr id="7"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109728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sp>
        <p:nvSpPr>
          <p:cNvPr id="20" name="TextBox 11">
            <a:extLst>
              <a:ext uri="{FF2B5EF4-FFF2-40B4-BE49-F238E27FC236}">
                <a16:creationId xmlns:a16="http://schemas.microsoft.com/office/drawing/2014/main" id="{AE2BDAC4-4AD8-FA83-D665-53753E748874}"/>
              </a:ext>
            </a:extLst>
          </p:cNvPr>
          <p:cNvSpPr txBox="1"/>
          <p:nvPr/>
        </p:nvSpPr>
        <p:spPr>
          <a:xfrm>
            <a:off x="4069080" y="2560320"/>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21"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438912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22"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593846" y="2560320"/>
            <a:ext cx="163919" cy="786384"/>
          </a:xfrm>
          <a:prstGeom prst="rect">
            <a:avLst/>
          </a:prstGeom>
        </p:spPr>
      </p:pic>
      <p:pic>
        <p:nvPicPr>
          <p:cNvPr id="23"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1828800" y="2569464"/>
            <a:ext cx="163919" cy="786384"/>
          </a:xfrm>
          <a:prstGeom prst="rect">
            <a:avLst/>
          </a:prstGeom>
        </p:spPr>
      </p:pic>
      <p:pic>
        <p:nvPicPr>
          <p:cNvPr id="2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2823378" y="2852928"/>
            <a:ext cx="182880" cy="152400"/>
          </a:xfrm>
          <a:prstGeom prst="rect">
            <a:avLst/>
          </a:prstGeom>
        </p:spPr>
      </p:pic>
      <p:pic>
        <p:nvPicPr>
          <p:cNvPr id="2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042834" y="2852928"/>
            <a:ext cx="182880" cy="152400"/>
          </a:xfrm>
          <a:prstGeom prst="rect">
            <a:avLst/>
          </a:prstGeom>
        </p:spPr>
      </p:pic>
      <p:pic>
        <p:nvPicPr>
          <p:cNvPr id="26"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262290" y="2852928"/>
            <a:ext cx="182880" cy="152400"/>
          </a:xfrm>
          <a:prstGeom prst="rect">
            <a:avLst/>
          </a:prstGeom>
        </p:spPr>
      </p:pic>
      <p:pic>
        <p:nvPicPr>
          <p:cNvPr id="2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3481746" y="2852928"/>
            <a:ext cx="182880" cy="152400"/>
          </a:xfrm>
          <a:prstGeom prst="rect">
            <a:avLst/>
          </a:prstGeom>
        </p:spPr>
      </p:pic>
      <p:sp>
        <p:nvSpPr>
          <p:cNvPr id="32" name="Rectangle: Rounded Corners 20">
            <a:extLst>
              <a:ext uri="{FF2B5EF4-FFF2-40B4-BE49-F238E27FC236}">
                <a16:creationId xmlns:a16="http://schemas.microsoft.com/office/drawing/2014/main" id="{26B28058-8B77-F9B6-5331-568719BEDCDC}"/>
              </a:ext>
            </a:extLst>
          </p:cNvPr>
          <p:cNvSpPr/>
          <p:nvPr/>
        </p:nvSpPr>
        <p:spPr>
          <a:xfrm>
            <a:off x="3762836" y="3511296"/>
            <a:ext cx="914400" cy="576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33" name="Picture 2" descr="black and white icons Stock Vector | Adobe Stock">
            <a:extLst>
              <a:ext uri="{FF2B5EF4-FFF2-40B4-BE49-F238E27FC236}">
                <a16:creationId xmlns:a16="http://schemas.microsoft.com/office/drawing/2014/main" id="{58CE7C11-4E1E-C474-1BD7-EF869157634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950" t="13066" r="16336" b="14533"/>
          <a:stretch>
            <a:fillRect/>
          </a:stretch>
        </p:blipFill>
        <p:spPr bwMode="auto">
          <a:xfrm>
            <a:off x="3584448" y="4133088"/>
            <a:ext cx="1280160" cy="1389888"/>
          </a:xfrm>
          <a:prstGeom prst="rect">
            <a:avLst/>
          </a:prstGeom>
          <a:noFill/>
          <a:extLst>
            <a:ext uri="{909E8E84-426E-40DD-AFC4-6F175D3DCCD1}">
              <a14:hiddenFill xmlns:a14="http://schemas.microsoft.com/office/drawing/2010/main">
                <a:solidFill>
                  <a:srgbClr val="FFFFFF"/>
                </a:solidFill>
              </a14:hiddenFill>
            </a:ext>
          </a:extLst>
        </p:spPr>
      </p:pic>
      <p:sp>
        <p:nvSpPr>
          <p:cNvPr id="34" name="Recommendations"/>
          <p:cNvSpPr txBox="1"/>
          <p:nvPr/>
        </p:nvSpPr>
        <p:spPr>
          <a:xfrm>
            <a:off x="8117755" y="393192"/>
            <a:ext cx="3982805" cy="4262705"/>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Instruction:</a:t>
            </a:r>
            <a:r>
              <a:rPr lang="hi-IN" sz="1100" dirty="0"/>
              <a:t> संख्याएँ जोड़िए।</a:t>
            </a:r>
          </a:p>
          <a:p>
            <a:r>
              <a:rPr lang="en-US" sz="1100" b="1" dirty="0"/>
              <a:t>Equation: 24 + 46 = ?</a:t>
            </a:r>
          </a:p>
          <a:p>
            <a:r>
              <a:rPr lang="en-US" sz="1100" dirty="0"/>
              <a:t>Show the PV tables with the numbers built using blocks one by one. </a:t>
            </a:r>
          </a:p>
          <a:p>
            <a:endParaRPr lang="en-US" sz="1100" b="1" dirty="0"/>
          </a:p>
          <a:p>
            <a:r>
              <a:rPr lang="en-US" sz="1100" b="1" dirty="0"/>
              <a:t>VO:</a:t>
            </a:r>
            <a:r>
              <a:rPr lang="hi-IN" sz="1100" dirty="0"/>
              <a:t> </a:t>
            </a:r>
            <a:r>
              <a:rPr lang="en-US" sz="1100" dirty="0"/>
              <a:t>24</a:t>
            </a:r>
            <a:r>
              <a:rPr lang="hi-IN" sz="1100" dirty="0"/>
              <a:t> और </a:t>
            </a:r>
            <a:r>
              <a:rPr lang="en-US" sz="1100" dirty="0"/>
              <a:t>46 </a:t>
            </a:r>
            <a:r>
              <a:rPr lang="hi-IN" sz="1100" dirty="0"/>
              <a:t>को जोड़िए</a:t>
            </a:r>
            <a:r>
              <a:rPr lang="en-US" sz="1100" dirty="0"/>
              <a:t> </a:t>
            </a:r>
            <a:r>
              <a:rPr lang="hi-IN" sz="1100" dirty="0"/>
              <a:t>और सही जोड़ टाइप करिए। </a:t>
            </a:r>
            <a:r>
              <a:rPr lang="hi-IN" sz="1100" i="1" dirty="0"/>
              <a:t>[</a:t>
            </a:r>
            <a:r>
              <a:rPr lang="en-US" sz="1100" i="1" dirty="0"/>
              <a:t>Show PV tables for both the numbers and </a:t>
            </a:r>
            <a:r>
              <a:rPr lang="en-IN" sz="1100" i="1" dirty="0"/>
              <a:t>an answer counter below with a hand nudge. On tap, open the number pad for the child to enter the answer.]</a:t>
            </a:r>
          </a:p>
          <a:p>
            <a:endParaRPr lang="en-US" sz="1100" i="1" dirty="0"/>
          </a:p>
          <a:p>
            <a:r>
              <a:rPr lang="en-US" sz="1100" b="1" dirty="0"/>
              <a:t>CR:</a:t>
            </a:r>
            <a:r>
              <a:rPr lang="hi-IN" sz="1100" dirty="0"/>
              <a:t> शाबाश! </a:t>
            </a:r>
            <a:r>
              <a:rPr lang="en-US" sz="1100" dirty="0"/>
              <a:t>24</a:t>
            </a:r>
            <a:r>
              <a:rPr lang="hi-IN" sz="1100" dirty="0"/>
              <a:t> जोड़ </a:t>
            </a:r>
            <a:r>
              <a:rPr lang="en-US" sz="1100" dirty="0"/>
              <a:t>46</a:t>
            </a:r>
            <a:r>
              <a:rPr lang="hi-IN" sz="1100" dirty="0"/>
              <a:t> बराबर </a:t>
            </a:r>
            <a:r>
              <a:rPr lang="en-US" sz="1100" dirty="0"/>
              <a:t>70</a:t>
            </a:r>
            <a:endParaRPr lang="hi-IN" sz="1100" dirty="0"/>
          </a:p>
          <a:p>
            <a:r>
              <a:rPr lang="en-US" sz="1100" i="1" dirty="0"/>
              <a:t>[Move the typed answer to the equation, replacing the “?” symbol.]</a:t>
            </a:r>
          </a:p>
          <a:p>
            <a:endParaRPr lang="en-US" sz="1100" dirty="0"/>
          </a:p>
          <a:p>
            <a:r>
              <a:rPr lang="en-US" sz="1100" b="1" dirty="0"/>
              <a:t>Feedback/hint</a:t>
            </a:r>
          </a:p>
          <a:p>
            <a:r>
              <a:rPr lang="en-US" sz="1100" b="1" dirty="0"/>
              <a:t>WA1:</a:t>
            </a:r>
            <a:r>
              <a:rPr lang="hi-IN" sz="1100" dirty="0"/>
              <a:t> Wiggle + VO: </a:t>
            </a:r>
            <a:r>
              <a:rPr lang="hi-IN" sz="1100" b="1" dirty="0"/>
              <a:t>ब्लॉक्स को गिनिए और सही जोड़ टाइप करिए।</a:t>
            </a:r>
          </a:p>
          <a:p>
            <a:r>
              <a:rPr lang="en-US" sz="1100" b="1" dirty="0"/>
              <a:t>WA2:</a:t>
            </a:r>
            <a:r>
              <a:rPr lang="hi-IN" sz="1100" dirty="0"/>
              <a:t> Wiggle +</a:t>
            </a:r>
            <a:r>
              <a:rPr lang="en-US" sz="1100" dirty="0"/>
              <a:t> Animate the blocks moving to a third PV table, then remove the first two tables and center the sum PV table + </a:t>
            </a:r>
            <a:r>
              <a:rPr lang="hi-IN" sz="1100" dirty="0"/>
              <a:t>VO: </a:t>
            </a:r>
            <a:r>
              <a:rPr lang="hi-IN" sz="1100" b="1" dirty="0"/>
              <a:t>ध्यान से देखिए, नई दहाई को मिलाकर कुल</a:t>
            </a:r>
            <a:r>
              <a:rPr lang="en-US" sz="1100" b="1" dirty="0"/>
              <a:t> 7</a:t>
            </a:r>
            <a:r>
              <a:rPr lang="hi-IN" sz="1100" b="1" dirty="0"/>
              <a:t> दहाइयाँ और </a:t>
            </a:r>
            <a:r>
              <a:rPr lang="en-US" sz="1100" b="1" dirty="0"/>
              <a:t>0</a:t>
            </a:r>
            <a:r>
              <a:rPr lang="hi-IN" sz="1100" b="1" dirty="0"/>
              <a:t> इकाई हैं।</a:t>
            </a:r>
            <a:endParaRPr lang="en-US" sz="1100" b="1" dirty="0"/>
          </a:p>
          <a:p>
            <a:r>
              <a:rPr lang="en-US" sz="1100" b="1" dirty="0"/>
              <a:t>WA3:</a:t>
            </a:r>
            <a:r>
              <a:rPr lang="en-US" sz="1100" dirty="0"/>
              <a:t> Wiggle + highlight the correct digit buttons in sequence (7, then 0). As the child taps them, enter the digits in the answer counter.</a:t>
            </a:r>
          </a:p>
        </p:txBody>
      </p:sp>
      <p:pic>
        <p:nvPicPr>
          <p:cNvPr id="39"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4677236" y="2578608"/>
            <a:ext cx="163919" cy="786384"/>
          </a:xfrm>
          <a:prstGeom prst="rect">
            <a:avLst/>
          </a:prstGeom>
        </p:spPr>
      </p:pic>
      <p:pic>
        <p:nvPicPr>
          <p:cNvPr id="40"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4905836" y="2578608"/>
            <a:ext cx="163919" cy="786384"/>
          </a:xfrm>
          <a:prstGeom prst="rect">
            <a:avLst/>
          </a:prstGeom>
        </p:spPr>
      </p:pic>
      <p:pic>
        <p:nvPicPr>
          <p:cNvPr id="41" name="Picture 40"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4"/>
          <a:srcRect l="32916" r="35816"/>
          <a:stretch>
            <a:fillRect/>
          </a:stretch>
        </p:blipFill>
        <p:spPr>
          <a:xfrm>
            <a:off x="5134436" y="2578608"/>
            <a:ext cx="163919" cy="786384"/>
          </a:xfrm>
          <a:prstGeom prst="rect">
            <a:avLst/>
          </a:prstGeom>
        </p:spPr>
      </p:pic>
      <p:pic>
        <p:nvPicPr>
          <p:cNvPr id="42"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050954" y="2795015"/>
            <a:ext cx="182880" cy="152400"/>
          </a:xfrm>
          <a:prstGeom prst="rect">
            <a:avLst/>
          </a:prstGeom>
        </p:spPr>
      </p:pic>
      <p:pic>
        <p:nvPicPr>
          <p:cNvPr id="43"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270410" y="2795015"/>
            <a:ext cx="182880" cy="152400"/>
          </a:xfrm>
          <a:prstGeom prst="rect">
            <a:avLst/>
          </a:prstGeom>
        </p:spPr>
      </p:pic>
      <p:pic>
        <p:nvPicPr>
          <p:cNvPr id="44"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489866" y="2795015"/>
            <a:ext cx="182880" cy="152400"/>
          </a:xfrm>
          <a:prstGeom prst="rect">
            <a:avLst/>
          </a:prstGeom>
        </p:spPr>
      </p:pic>
      <p:pic>
        <p:nvPicPr>
          <p:cNvPr id="45"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709322" y="2795015"/>
            <a:ext cx="182880" cy="152400"/>
          </a:xfrm>
          <a:prstGeom prst="rect">
            <a:avLst/>
          </a:prstGeom>
        </p:spPr>
      </p:pic>
      <p:pic>
        <p:nvPicPr>
          <p:cNvPr id="46"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928778" y="2795015"/>
            <a:ext cx="182880" cy="152400"/>
          </a:xfrm>
          <a:prstGeom prst="rect">
            <a:avLst/>
          </a:prstGeom>
        </p:spPr>
      </p:pic>
      <p:pic>
        <p:nvPicPr>
          <p:cNvPr id="4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5"/>
          <a:stretch>
            <a:fillRect/>
          </a:stretch>
        </p:blipFill>
        <p:spPr>
          <a:xfrm>
            <a:off x="6061285" y="2996183"/>
            <a:ext cx="182880" cy="152400"/>
          </a:xfrm>
          <a:prstGeom prst="rect">
            <a:avLst/>
          </a:prstGeom>
        </p:spPr>
      </p:pic>
      <p:pic>
        <p:nvPicPr>
          <p:cNvPr id="48" name="Picture 47" descr="A green rectangular object with black background&#10;&#10;AI-generated content may be incorrect.">
            <a:extLst>
              <a:ext uri="{FF2B5EF4-FFF2-40B4-BE49-F238E27FC236}">
                <a16:creationId xmlns:a16="http://schemas.microsoft.com/office/drawing/2014/main" id="{75919672-73AB-B585-9E5E-56CDB03AB01B}"/>
              </a:ext>
            </a:extLst>
          </p:cNvPr>
          <p:cNvPicPr>
            <a:picLocks noChangeAspect="1"/>
          </p:cNvPicPr>
          <p:nvPr/>
        </p:nvPicPr>
        <p:blipFill>
          <a:blip r:embed="rId4"/>
          <a:srcRect l="32916" r="35816"/>
          <a:stretch>
            <a:fillRect/>
          </a:stretch>
        </p:blipFill>
        <p:spPr>
          <a:xfrm>
            <a:off x="5348726" y="2569464"/>
            <a:ext cx="163919" cy="7863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11 · 11_MAKE_SET.png</a:t>
            </a:r>
          </a:p>
        </p:txBody>
      </p:sp>
      <p:pic>
        <p:nvPicPr>
          <p:cNvPr id="3" name="Picture 2" descr="11_MAKE_SET.png"/>
          <p:cNvPicPr>
            <a:picLocks noChangeAspect="1"/>
          </p:cNvPicPr>
          <p:nvPr/>
        </p:nvPicPr>
        <p:blipFill>
          <a:blip r:embed="rId2"/>
          <a:stretch>
            <a:fillRect/>
          </a:stretch>
        </p:blipFill>
        <p:spPr>
          <a:xfrm>
            <a:off x="91440" y="5788152"/>
            <a:ext cx="1737360" cy="972295"/>
          </a:xfrm>
          <a:prstGeom prst="rect">
            <a:avLst/>
          </a:prstGeom>
        </p:spPr>
      </p:pic>
      <p:pic>
        <p:nvPicPr>
          <p:cNvPr id="4" name="Picture 3" descr="frame_practice.png"/>
          <p:cNvPicPr>
            <a:picLocks noChangeAspect="1"/>
          </p:cNvPicPr>
          <p:nvPr/>
        </p:nvPicPr>
        <p:blipFill>
          <a:blip r:embed="rId3"/>
          <a:stretch>
            <a:fillRect/>
          </a:stretch>
        </p:blipFill>
        <p:spPr>
          <a:xfrm>
            <a:off x="365760" y="731520"/>
            <a:ext cx="7680960" cy="4297680"/>
          </a:xfrm>
          <a:prstGeom prst="rect">
            <a:avLst/>
          </a:prstGeom>
        </p:spPr>
      </p:pic>
      <p:sp>
        <p:nvSpPr>
          <p:cNvPr id="5" name="TextBox 4"/>
          <p:cNvSpPr txBox="1"/>
          <p:nvPr/>
        </p:nvSpPr>
        <p:spPr>
          <a:xfrm>
            <a:off x="1417320" y="1024128"/>
            <a:ext cx="5486400" cy="411480"/>
          </a:xfrm>
          <a:prstGeom prst="rect">
            <a:avLst/>
          </a:prstGeom>
          <a:noFill/>
        </p:spPr>
        <p:txBody>
          <a:bodyPr wrap="square" lIns="0" tIns="0" rIns="0" bIns="0" anchor="ctr">
            <a:spAutoFit/>
          </a:bodyPr>
          <a:lstStyle/>
          <a:p>
            <a:pPr algn="l"/>
            <a:r>
              <a:rPr lang="hi-IN" sz="1800" b="0" i="0">
                <a:solidFill>
                  <a:srgbClr val="1B2A44"/>
                </a:solidFill>
              </a:rPr>
              <a:t>संख्याएँ जोड़िए।</a:t>
            </a:r>
          </a:p>
        </p:txBody>
      </p:sp>
      <p:sp>
        <p:nvSpPr>
          <p:cNvPr id="11" name="Rectangle: Rounded Corners 10">
            <a:extLst>
              <a:ext uri="{FF2B5EF4-FFF2-40B4-BE49-F238E27FC236}">
                <a16:creationId xmlns:a16="http://schemas.microsoft.com/office/drawing/2014/main" id="{39589A96-D99A-6A24-B383-8EE5DD6FA549}"/>
              </a:ext>
            </a:extLst>
          </p:cNvPr>
          <p:cNvSpPr/>
          <p:nvPr/>
        </p:nvSpPr>
        <p:spPr>
          <a:xfrm>
            <a:off x="3063240" y="1554480"/>
            <a:ext cx="2286000" cy="5303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600" b="1" dirty="0"/>
              <a:t>39  +  26  =  ?</a:t>
            </a:r>
            <a:endParaRPr lang="en-IN" sz="3200" b="1" dirty="0"/>
          </a:p>
        </p:txBody>
      </p:sp>
      <p:graphicFrame>
        <p:nvGraphicFramePr>
          <p:cNvPr id="12" name="Table 11">
            <a:extLst>
              <a:ext uri="{FF2B5EF4-FFF2-40B4-BE49-F238E27FC236}">
                <a16:creationId xmlns:a16="http://schemas.microsoft.com/office/drawing/2014/main" id="{D35894E0-2A51-52C9-48D3-BC16700A328D}"/>
              </a:ext>
            </a:extLst>
          </p:cNvPr>
          <p:cNvGraphicFramePr>
            <a:graphicFrameLocks noGrp="1"/>
          </p:cNvGraphicFramePr>
          <p:nvPr>
            <p:extLst>
              <p:ext uri="{D42A27DB-BD31-4B8C-83A1-F6EECF244321}">
                <p14:modId xmlns:p14="http://schemas.microsoft.com/office/powerpoint/2010/main" val="130144572"/>
              </p:ext>
            </p:extLst>
          </p:nvPr>
        </p:nvGraphicFramePr>
        <p:xfrm>
          <a:off x="109728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13" name="Picture 9" descr="A green rectangular object with black background&#10;&#10;AI-generated content may be incorrect.">
            <a:extLst>
              <a:ext uri="{FF2B5EF4-FFF2-40B4-BE49-F238E27FC236}">
                <a16:creationId xmlns:a16="http://schemas.microsoft.com/office/drawing/2014/main" id="{E36D98EF-B3B5-1E1D-6A1B-713BD4726E35}"/>
              </a:ext>
            </a:extLst>
          </p:cNvPr>
          <p:cNvPicPr>
            <a:picLocks noChangeAspect="1"/>
          </p:cNvPicPr>
          <p:nvPr/>
        </p:nvPicPr>
        <p:blipFill>
          <a:blip r:embed="rId4"/>
          <a:srcRect l="32916" r="35816"/>
          <a:stretch>
            <a:fillRect/>
          </a:stretch>
        </p:blipFill>
        <p:spPr>
          <a:xfrm>
            <a:off x="1518240" y="2542032"/>
            <a:ext cx="163919" cy="786384"/>
          </a:xfrm>
          <a:prstGeom prst="rect">
            <a:avLst/>
          </a:prstGeom>
        </p:spPr>
      </p:pic>
      <p:pic>
        <p:nvPicPr>
          <p:cNvPr id="14" name="Picture 9" descr="A green rectangular object with black background&#10;&#10;AI-generated content may be incorrect.">
            <a:extLst>
              <a:ext uri="{FF2B5EF4-FFF2-40B4-BE49-F238E27FC236}">
                <a16:creationId xmlns:a16="http://schemas.microsoft.com/office/drawing/2014/main" id="{0725198B-69CE-13D6-79E9-006C2CFCE604}"/>
              </a:ext>
            </a:extLst>
          </p:cNvPr>
          <p:cNvPicPr>
            <a:picLocks noChangeAspect="1"/>
          </p:cNvPicPr>
          <p:nvPr/>
        </p:nvPicPr>
        <p:blipFill>
          <a:blip r:embed="rId4"/>
          <a:srcRect l="32916" r="35816"/>
          <a:stretch>
            <a:fillRect/>
          </a:stretch>
        </p:blipFill>
        <p:spPr>
          <a:xfrm>
            <a:off x="1746840" y="2542032"/>
            <a:ext cx="163919" cy="786384"/>
          </a:xfrm>
          <a:prstGeom prst="rect">
            <a:avLst/>
          </a:prstGeom>
        </p:spPr>
      </p:pic>
      <p:pic>
        <p:nvPicPr>
          <p:cNvPr id="15" name="Picture 14" descr="A green rectangular object with black background&#10;&#10;AI-generated content may be incorrect.">
            <a:extLst>
              <a:ext uri="{FF2B5EF4-FFF2-40B4-BE49-F238E27FC236}">
                <a16:creationId xmlns:a16="http://schemas.microsoft.com/office/drawing/2014/main" id="{40364BDA-1CD5-C620-8CA9-C59B1ED77F43}"/>
              </a:ext>
            </a:extLst>
          </p:cNvPr>
          <p:cNvPicPr>
            <a:picLocks noChangeAspect="1"/>
          </p:cNvPicPr>
          <p:nvPr/>
        </p:nvPicPr>
        <p:blipFill>
          <a:blip r:embed="rId4"/>
          <a:srcRect l="32916" r="35816"/>
          <a:stretch>
            <a:fillRect/>
          </a:stretch>
        </p:blipFill>
        <p:spPr>
          <a:xfrm>
            <a:off x="1975440" y="2542032"/>
            <a:ext cx="163919" cy="786384"/>
          </a:xfrm>
          <a:prstGeom prst="rect">
            <a:avLst/>
          </a:prstGeom>
        </p:spPr>
      </p:pic>
      <p:pic>
        <p:nvPicPr>
          <p:cNvPr id="16" name="Picture 16" descr="A yellow cube with black background&#10;&#10;AI-generated content may be incorrect.">
            <a:extLst>
              <a:ext uri="{FF2B5EF4-FFF2-40B4-BE49-F238E27FC236}">
                <a16:creationId xmlns:a16="http://schemas.microsoft.com/office/drawing/2014/main" id="{40BA18FB-DAF5-F503-AF63-7C62969AF6C8}"/>
              </a:ext>
            </a:extLst>
          </p:cNvPr>
          <p:cNvPicPr>
            <a:picLocks noChangeAspect="1"/>
          </p:cNvPicPr>
          <p:nvPr/>
        </p:nvPicPr>
        <p:blipFill>
          <a:blip r:embed="rId5"/>
          <a:stretch>
            <a:fillRect/>
          </a:stretch>
        </p:blipFill>
        <p:spPr>
          <a:xfrm>
            <a:off x="2761488" y="2758439"/>
            <a:ext cx="182880" cy="152400"/>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39DBF7BD-5600-51C3-80CE-BC6681845C8F}"/>
              </a:ext>
            </a:extLst>
          </p:cNvPr>
          <p:cNvPicPr>
            <a:picLocks noChangeAspect="1"/>
          </p:cNvPicPr>
          <p:nvPr/>
        </p:nvPicPr>
        <p:blipFill>
          <a:blip r:embed="rId5"/>
          <a:stretch>
            <a:fillRect/>
          </a:stretch>
        </p:blipFill>
        <p:spPr>
          <a:xfrm>
            <a:off x="2980944" y="2758439"/>
            <a:ext cx="182880" cy="152400"/>
          </a:xfrm>
          <a:prstGeom prst="rect">
            <a:avLst/>
          </a:prstGeom>
        </p:spPr>
      </p:pic>
      <p:pic>
        <p:nvPicPr>
          <p:cNvPr id="18" name="Picture 16" descr="A yellow cube with black background&#10;&#10;AI-generated content may be incorrect.">
            <a:extLst>
              <a:ext uri="{FF2B5EF4-FFF2-40B4-BE49-F238E27FC236}">
                <a16:creationId xmlns:a16="http://schemas.microsoft.com/office/drawing/2014/main" id="{CF07D6D6-C6CB-E047-BCD9-58B25514AE61}"/>
              </a:ext>
            </a:extLst>
          </p:cNvPr>
          <p:cNvPicPr>
            <a:picLocks noChangeAspect="1"/>
          </p:cNvPicPr>
          <p:nvPr/>
        </p:nvPicPr>
        <p:blipFill>
          <a:blip r:embed="rId5"/>
          <a:stretch>
            <a:fillRect/>
          </a:stretch>
        </p:blipFill>
        <p:spPr>
          <a:xfrm>
            <a:off x="3200400" y="2758439"/>
            <a:ext cx="182880" cy="152400"/>
          </a:xfrm>
          <a:prstGeom prst="rect">
            <a:avLst/>
          </a:prstGeom>
        </p:spPr>
      </p:pic>
      <p:pic>
        <p:nvPicPr>
          <p:cNvPr id="19" name="Picture 16" descr="A yellow cube with black background&#10;&#10;AI-generated content may be incorrect.">
            <a:extLst>
              <a:ext uri="{FF2B5EF4-FFF2-40B4-BE49-F238E27FC236}">
                <a16:creationId xmlns:a16="http://schemas.microsoft.com/office/drawing/2014/main" id="{E8D68FED-1C0C-C386-F27A-397BDCC9EA26}"/>
              </a:ext>
            </a:extLst>
          </p:cNvPr>
          <p:cNvPicPr>
            <a:picLocks noChangeAspect="1"/>
          </p:cNvPicPr>
          <p:nvPr/>
        </p:nvPicPr>
        <p:blipFill>
          <a:blip r:embed="rId5"/>
          <a:stretch>
            <a:fillRect/>
          </a:stretch>
        </p:blipFill>
        <p:spPr>
          <a:xfrm>
            <a:off x="3419856" y="2758439"/>
            <a:ext cx="182880" cy="152400"/>
          </a:xfrm>
          <a:prstGeom prst="rect">
            <a:avLst/>
          </a:prstGeom>
        </p:spPr>
      </p:pic>
      <p:pic>
        <p:nvPicPr>
          <p:cNvPr id="20" name="Picture 16" descr="A yellow cube with black background&#10;&#10;AI-generated content may be incorrect.">
            <a:extLst>
              <a:ext uri="{FF2B5EF4-FFF2-40B4-BE49-F238E27FC236}">
                <a16:creationId xmlns:a16="http://schemas.microsoft.com/office/drawing/2014/main" id="{7CBEE10A-18E9-5866-1BF3-48011EEF3779}"/>
              </a:ext>
            </a:extLst>
          </p:cNvPr>
          <p:cNvPicPr>
            <a:picLocks noChangeAspect="1"/>
          </p:cNvPicPr>
          <p:nvPr/>
        </p:nvPicPr>
        <p:blipFill>
          <a:blip r:embed="rId5"/>
          <a:stretch>
            <a:fillRect/>
          </a:stretch>
        </p:blipFill>
        <p:spPr>
          <a:xfrm>
            <a:off x="3639312" y="2758439"/>
            <a:ext cx="182880" cy="152400"/>
          </a:xfrm>
          <a:prstGeom prst="rect">
            <a:avLst/>
          </a:prstGeom>
        </p:spPr>
      </p:pic>
      <p:pic>
        <p:nvPicPr>
          <p:cNvPr id="21" name="Picture 16" descr="A yellow cube with black background&#10;&#10;AI-generated content may be incorrect.">
            <a:extLst>
              <a:ext uri="{FF2B5EF4-FFF2-40B4-BE49-F238E27FC236}">
                <a16:creationId xmlns:a16="http://schemas.microsoft.com/office/drawing/2014/main" id="{4C247C62-A783-A5C6-57DA-4299A938F582}"/>
              </a:ext>
            </a:extLst>
          </p:cNvPr>
          <p:cNvPicPr>
            <a:picLocks noChangeAspect="1"/>
          </p:cNvPicPr>
          <p:nvPr/>
        </p:nvPicPr>
        <p:blipFill>
          <a:blip r:embed="rId5"/>
          <a:stretch>
            <a:fillRect/>
          </a:stretch>
        </p:blipFill>
        <p:spPr>
          <a:xfrm>
            <a:off x="2871216" y="2959607"/>
            <a:ext cx="182880" cy="152400"/>
          </a:xfrm>
          <a:prstGeom prst="rect">
            <a:avLst/>
          </a:prstGeom>
        </p:spPr>
      </p:pic>
      <p:pic>
        <p:nvPicPr>
          <p:cNvPr id="22" name="Picture 21" descr="A yellow cube with black background&#10;&#10;AI-generated content may be incorrect.">
            <a:extLst>
              <a:ext uri="{FF2B5EF4-FFF2-40B4-BE49-F238E27FC236}">
                <a16:creationId xmlns:a16="http://schemas.microsoft.com/office/drawing/2014/main" id="{1EAB04B9-AA7C-E160-4CBE-FC1FC9B4FDCD}"/>
              </a:ext>
            </a:extLst>
          </p:cNvPr>
          <p:cNvPicPr>
            <a:picLocks noChangeAspect="1"/>
          </p:cNvPicPr>
          <p:nvPr/>
        </p:nvPicPr>
        <p:blipFill>
          <a:blip r:embed="rId5"/>
          <a:stretch>
            <a:fillRect/>
          </a:stretch>
        </p:blipFill>
        <p:spPr>
          <a:xfrm>
            <a:off x="3090672" y="2959607"/>
            <a:ext cx="182880" cy="152400"/>
          </a:xfrm>
          <a:prstGeom prst="rect">
            <a:avLst/>
          </a:prstGeom>
        </p:spPr>
      </p:pic>
      <p:pic>
        <p:nvPicPr>
          <p:cNvPr id="23" name="Picture 16" descr="A yellow cube with black background&#10;&#10;AI-generated content may be incorrect.">
            <a:extLst>
              <a:ext uri="{FF2B5EF4-FFF2-40B4-BE49-F238E27FC236}">
                <a16:creationId xmlns:a16="http://schemas.microsoft.com/office/drawing/2014/main" id="{AA1D1FA0-AEDD-C4F9-260D-225DF6FC3E15}"/>
              </a:ext>
            </a:extLst>
          </p:cNvPr>
          <p:cNvPicPr>
            <a:picLocks noChangeAspect="1"/>
          </p:cNvPicPr>
          <p:nvPr/>
        </p:nvPicPr>
        <p:blipFill>
          <a:blip r:embed="rId5"/>
          <a:stretch>
            <a:fillRect/>
          </a:stretch>
        </p:blipFill>
        <p:spPr>
          <a:xfrm>
            <a:off x="3310128" y="2959607"/>
            <a:ext cx="182880" cy="152400"/>
          </a:xfrm>
          <a:prstGeom prst="rect">
            <a:avLst/>
          </a:prstGeom>
        </p:spPr>
      </p:pic>
      <p:pic>
        <p:nvPicPr>
          <p:cNvPr id="24" name="Picture 16" descr="A yellow cube with black background&#10;&#10;AI-generated content may be incorrect.">
            <a:extLst>
              <a:ext uri="{FF2B5EF4-FFF2-40B4-BE49-F238E27FC236}">
                <a16:creationId xmlns:a16="http://schemas.microsoft.com/office/drawing/2014/main" id="{C7AA3DED-6AE5-B81A-D74D-F4531B213FA1}"/>
              </a:ext>
            </a:extLst>
          </p:cNvPr>
          <p:cNvPicPr>
            <a:picLocks noChangeAspect="1"/>
          </p:cNvPicPr>
          <p:nvPr/>
        </p:nvPicPr>
        <p:blipFill>
          <a:blip r:embed="rId5"/>
          <a:stretch>
            <a:fillRect/>
          </a:stretch>
        </p:blipFill>
        <p:spPr>
          <a:xfrm>
            <a:off x="3529584" y="2959607"/>
            <a:ext cx="182880" cy="152400"/>
          </a:xfrm>
          <a:prstGeom prst="rect">
            <a:avLst/>
          </a:prstGeom>
        </p:spPr>
      </p:pic>
      <p:sp>
        <p:nvSpPr>
          <p:cNvPr id="25" name="TextBox 11">
            <a:extLst>
              <a:ext uri="{FF2B5EF4-FFF2-40B4-BE49-F238E27FC236}">
                <a16:creationId xmlns:a16="http://schemas.microsoft.com/office/drawing/2014/main" id="{A60E65DD-3095-FF3E-31A3-183B70BE0165}"/>
              </a:ext>
            </a:extLst>
          </p:cNvPr>
          <p:cNvSpPr txBox="1"/>
          <p:nvPr/>
        </p:nvSpPr>
        <p:spPr>
          <a:xfrm>
            <a:off x="4069080" y="2560320"/>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26" name="Table 6">
            <a:extLst>
              <a:ext uri="{FF2B5EF4-FFF2-40B4-BE49-F238E27FC236}">
                <a16:creationId xmlns:a16="http://schemas.microsoft.com/office/drawing/2014/main" id="{EDD98F10-CCBF-046A-AF5C-467DC83DA2F9}"/>
              </a:ext>
            </a:extLst>
          </p:cNvPr>
          <p:cNvGraphicFramePr>
            <a:graphicFrameLocks noGrp="1"/>
          </p:cNvGraphicFramePr>
          <p:nvPr>
            <p:extLst>
              <p:ext uri="{D42A27DB-BD31-4B8C-83A1-F6EECF244321}">
                <p14:modId xmlns:p14="http://schemas.microsoft.com/office/powerpoint/2010/main" val="1231433268"/>
              </p:ext>
            </p:extLst>
          </p:nvPr>
        </p:nvGraphicFramePr>
        <p:xfrm>
          <a:off x="4389120" y="2194560"/>
          <a:ext cx="2926080" cy="120700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758657152"/>
                    </a:ext>
                  </a:extLst>
                </a:gridCol>
                <a:gridCol w="1463040">
                  <a:extLst>
                    <a:ext uri="{9D8B030D-6E8A-4147-A177-3AD203B41FA5}">
                      <a16:colId xmlns:a16="http://schemas.microsoft.com/office/drawing/2014/main" val="4045408627"/>
                    </a:ext>
                  </a:extLst>
                </a:gridCol>
              </a:tblGrid>
              <a:tr h="274320">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32688">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27" name="Picture 9" descr="A green rectangular object with black background&#10;&#10;AI-generated content may be incorrect.">
            <a:extLst>
              <a:ext uri="{FF2B5EF4-FFF2-40B4-BE49-F238E27FC236}">
                <a16:creationId xmlns:a16="http://schemas.microsoft.com/office/drawing/2014/main" id="{C6E5759C-AA77-8B76-4C3B-4EDCBFFEE27F}"/>
              </a:ext>
            </a:extLst>
          </p:cNvPr>
          <p:cNvPicPr>
            <a:picLocks noChangeAspect="1"/>
          </p:cNvPicPr>
          <p:nvPr/>
        </p:nvPicPr>
        <p:blipFill>
          <a:blip r:embed="rId4"/>
          <a:srcRect l="32916" r="35816"/>
          <a:stretch>
            <a:fillRect/>
          </a:stretch>
        </p:blipFill>
        <p:spPr>
          <a:xfrm>
            <a:off x="4924380" y="2542032"/>
            <a:ext cx="163919" cy="786384"/>
          </a:xfrm>
          <a:prstGeom prst="rect">
            <a:avLst/>
          </a:prstGeom>
        </p:spPr>
      </p:pic>
      <p:pic>
        <p:nvPicPr>
          <p:cNvPr id="28" name="Picture 9" descr="A green rectangular object with black background&#10;&#10;AI-generated content may be incorrect.">
            <a:extLst>
              <a:ext uri="{FF2B5EF4-FFF2-40B4-BE49-F238E27FC236}">
                <a16:creationId xmlns:a16="http://schemas.microsoft.com/office/drawing/2014/main" id="{E94CB139-8D20-008C-EF67-BC231125EA6D}"/>
              </a:ext>
            </a:extLst>
          </p:cNvPr>
          <p:cNvPicPr>
            <a:picLocks noChangeAspect="1"/>
          </p:cNvPicPr>
          <p:nvPr/>
        </p:nvPicPr>
        <p:blipFill>
          <a:blip r:embed="rId4"/>
          <a:srcRect l="32916" r="35816"/>
          <a:stretch>
            <a:fillRect/>
          </a:stretch>
        </p:blipFill>
        <p:spPr>
          <a:xfrm>
            <a:off x="5152980" y="2542032"/>
            <a:ext cx="163919" cy="786384"/>
          </a:xfrm>
          <a:prstGeom prst="rect">
            <a:avLst/>
          </a:prstGeom>
        </p:spPr>
      </p:pic>
      <p:pic>
        <p:nvPicPr>
          <p:cNvPr id="29" name="Picture 16" descr="A yellow cube with black background&#10;&#10;AI-generated content may be incorrect.">
            <a:extLst>
              <a:ext uri="{FF2B5EF4-FFF2-40B4-BE49-F238E27FC236}">
                <a16:creationId xmlns:a16="http://schemas.microsoft.com/office/drawing/2014/main" id="{703EEB42-0CAF-A19E-C445-8A9B62C41891}"/>
              </a:ext>
            </a:extLst>
          </p:cNvPr>
          <p:cNvPicPr>
            <a:picLocks noChangeAspect="1"/>
          </p:cNvPicPr>
          <p:nvPr/>
        </p:nvPicPr>
        <p:blipFill>
          <a:blip r:embed="rId5"/>
          <a:stretch>
            <a:fillRect/>
          </a:stretch>
        </p:blipFill>
        <p:spPr>
          <a:xfrm>
            <a:off x="6053328" y="2758439"/>
            <a:ext cx="182880" cy="152400"/>
          </a:xfrm>
          <a:prstGeom prst="rect">
            <a:avLst/>
          </a:prstGeom>
        </p:spPr>
      </p:pic>
      <p:pic>
        <p:nvPicPr>
          <p:cNvPr id="30" name="Picture 16" descr="A yellow cube with black background&#10;&#10;AI-generated content may be incorrect.">
            <a:extLst>
              <a:ext uri="{FF2B5EF4-FFF2-40B4-BE49-F238E27FC236}">
                <a16:creationId xmlns:a16="http://schemas.microsoft.com/office/drawing/2014/main" id="{617C8C30-8C11-0D78-39ED-A42AB5AEA4B8}"/>
              </a:ext>
            </a:extLst>
          </p:cNvPr>
          <p:cNvPicPr>
            <a:picLocks noChangeAspect="1"/>
          </p:cNvPicPr>
          <p:nvPr/>
        </p:nvPicPr>
        <p:blipFill>
          <a:blip r:embed="rId5"/>
          <a:stretch>
            <a:fillRect/>
          </a:stretch>
        </p:blipFill>
        <p:spPr>
          <a:xfrm>
            <a:off x="6272784" y="2758439"/>
            <a:ext cx="182880" cy="152400"/>
          </a:xfrm>
          <a:prstGeom prst="rect">
            <a:avLst/>
          </a:prstGeom>
        </p:spPr>
      </p:pic>
      <p:pic>
        <p:nvPicPr>
          <p:cNvPr id="31" name="Picture 16" descr="A yellow cube with black background&#10;&#10;AI-generated content may be incorrect.">
            <a:extLst>
              <a:ext uri="{FF2B5EF4-FFF2-40B4-BE49-F238E27FC236}">
                <a16:creationId xmlns:a16="http://schemas.microsoft.com/office/drawing/2014/main" id="{FCD69D1B-CE3E-29D4-54CE-BB5B1F8CA419}"/>
              </a:ext>
            </a:extLst>
          </p:cNvPr>
          <p:cNvPicPr>
            <a:picLocks noChangeAspect="1"/>
          </p:cNvPicPr>
          <p:nvPr/>
        </p:nvPicPr>
        <p:blipFill>
          <a:blip r:embed="rId5"/>
          <a:stretch>
            <a:fillRect/>
          </a:stretch>
        </p:blipFill>
        <p:spPr>
          <a:xfrm>
            <a:off x="6492240" y="2758439"/>
            <a:ext cx="182880" cy="152400"/>
          </a:xfrm>
          <a:prstGeom prst="rect">
            <a:avLst/>
          </a:prstGeom>
        </p:spPr>
      </p:pic>
      <p:pic>
        <p:nvPicPr>
          <p:cNvPr id="32" name="Picture 16" descr="A yellow cube with black background&#10;&#10;AI-generated content may be incorrect.">
            <a:extLst>
              <a:ext uri="{FF2B5EF4-FFF2-40B4-BE49-F238E27FC236}">
                <a16:creationId xmlns:a16="http://schemas.microsoft.com/office/drawing/2014/main" id="{983A1C11-1569-EB3F-7EC3-2B835AFEF9E1}"/>
              </a:ext>
            </a:extLst>
          </p:cNvPr>
          <p:cNvPicPr>
            <a:picLocks noChangeAspect="1"/>
          </p:cNvPicPr>
          <p:nvPr/>
        </p:nvPicPr>
        <p:blipFill>
          <a:blip r:embed="rId5"/>
          <a:stretch>
            <a:fillRect/>
          </a:stretch>
        </p:blipFill>
        <p:spPr>
          <a:xfrm>
            <a:off x="6711696" y="2758439"/>
            <a:ext cx="182880" cy="152400"/>
          </a:xfrm>
          <a:prstGeom prst="rect">
            <a:avLst/>
          </a:prstGeom>
        </p:spPr>
      </p:pic>
      <p:pic>
        <p:nvPicPr>
          <p:cNvPr id="33" name="Picture 16" descr="A yellow cube with black background&#10;&#10;AI-generated content may be incorrect.">
            <a:extLst>
              <a:ext uri="{FF2B5EF4-FFF2-40B4-BE49-F238E27FC236}">
                <a16:creationId xmlns:a16="http://schemas.microsoft.com/office/drawing/2014/main" id="{B1B8B0DC-ABFE-2F71-7005-169EC867DB24}"/>
              </a:ext>
            </a:extLst>
          </p:cNvPr>
          <p:cNvPicPr>
            <a:picLocks noChangeAspect="1"/>
          </p:cNvPicPr>
          <p:nvPr/>
        </p:nvPicPr>
        <p:blipFill>
          <a:blip r:embed="rId5"/>
          <a:stretch>
            <a:fillRect/>
          </a:stretch>
        </p:blipFill>
        <p:spPr>
          <a:xfrm>
            <a:off x="6931152" y="2758439"/>
            <a:ext cx="182880" cy="152400"/>
          </a:xfrm>
          <a:prstGeom prst="rect">
            <a:avLst/>
          </a:prstGeom>
        </p:spPr>
      </p:pic>
      <p:pic>
        <p:nvPicPr>
          <p:cNvPr id="34" name="Picture 16" descr="A yellow cube with black background&#10;&#10;AI-generated content may be incorrect.">
            <a:extLst>
              <a:ext uri="{FF2B5EF4-FFF2-40B4-BE49-F238E27FC236}">
                <a16:creationId xmlns:a16="http://schemas.microsoft.com/office/drawing/2014/main" id="{6EA48183-678D-F486-727E-3579CB428EFB}"/>
              </a:ext>
            </a:extLst>
          </p:cNvPr>
          <p:cNvPicPr>
            <a:picLocks noChangeAspect="1"/>
          </p:cNvPicPr>
          <p:nvPr/>
        </p:nvPicPr>
        <p:blipFill>
          <a:blip r:embed="rId5"/>
          <a:stretch>
            <a:fillRect/>
          </a:stretch>
        </p:blipFill>
        <p:spPr>
          <a:xfrm>
            <a:off x="6492240" y="2959607"/>
            <a:ext cx="182880" cy="152400"/>
          </a:xfrm>
          <a:prstGeom prst="rect">
            <a:avLst/>
          </a:prstGeom>
        </p:spPr>
      </p:pic>
      <p:sp>
        <p:nvSpPr>
          <p:cNvPr id="37" name="Rectangle: Rounded Corners 20">
            <a:extLst>
              <a:ext uri="{FF2B5EF4-FFF2-40B4-BE49-F238E27FC236}">
                <a16:creationId xmlns:a16="http://schemas.microsoft.com/office/drawing/2014/main" id="{A92D6CFD-EC93-680A-E6D4-33244166A9B5}"/>
              </a:ext>
            </a:extLst>
          </p:cNvPr>
          <p:cNvSpPr/>
          <p:nvPr/>
        </p:nvSpPr>
        <p:spPr>
          <a:xfrm>
            <a:off x="3794760" y="3575304"/>
            <a:ext cx="914400" cy="576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38" name="Picture 2" descr="black and white icons Stock Vector | Adobe Stock">
            <a:extLst>
              <a:ext uri="{FF2B5EF4-FFF2-40B4-BE49-F238E27FC236}">
                <a16:creationId xmlns:a16="http://schemas.microsoft.com/office/drawing/2014/main" id="{F2840874-FC08-E9DF-4314-FE16073261D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950" t="13066" r="16336" b="14533"/>
          <a:stretch>
            <a:fillRect/>
          </a:stretch>
        </p:blipFill>
        <p:spPr bwMode="auto">
          <a:xfrm>
            <a:off x="3621024" y="4197096"/>
            <a:ext cx="1280160" cy="1389888"/>
          </a:xfrm>
          <a:prstGeom prst="rect">
            <a:avLst/>
          </a:prstGeom>
          <a:noFill/>
          <a:extLst>
            <a:ext uri="{909E8E84-426E-40DD-AFC4-6F175D3DCCD1}">
              <a14:hiddenFill xmlns:a14="http://schemas.microsoft.com/office/drawing/2010/main">
                <a:solidFill>
                  <a:srgbClr val="FFFFFF"/>
                </a:solidFill>
              </a14:hiddenFill>
            </a:ext>
          </a:extLst>
        </p:spPr>
      </p:pic>
      <p:sp>
        <p:nvSpPr>
          <p:cNvPr id="39" name="Recommendations">
            <a:extLst>
              <a:ext uri="{FF2B5EF4-FFF2-40B4-BE49-F238E27FC236}">
                <a16:creationId xmlns:a16="http://schemas.microsoft.com/office/drawing/2014/main" id="{762B18FF-D0BD-DC22-83BE-3BEE80607532}"/>
              </a:ext>
            </a:extLst>
          </p:cNvPr>
          <p:cNvSpPr txBox="1"/>
          <p:nvPr/>
        </p:nvSpPr>
        <p:spPr>
          <a:xfrm>
            <a:off x="8138160" y="393192"/>
            <a:ext cx="3962400" cy="4616648"/>
          </a:xfrm>
          <a:prstGeom prst="rect">
            <a:avLst/>
          </a:prstGeom>
          <a:noFill/>
        </p:spPr>
        <p:txBody>
          <a:bodyPr wrap="square">
            <a:spAutoFit/>
          </a:bodyPr>
          <a:lstStyle/>
          <a:p>
            <a:r>
              <a:rPr lang="en-US" sz="1600" b="1" dirty="0">
                <a:solidFill>
                  <a:srgbClr val="0B3D8C"/>
                </a:solidFill>
              </a:rPr>
              <a:t>Recommendations</a:t>
            </a:r>
          </a:p>
          <a:p>
            <a:r>
              <a:rPr lang="en-US" sz="1100" dirty="0"/>
              <a:t>Replace the entire slide content with the following:</a:t>
            </a:r>
          </a:p>
          <a:p>
            <a:r>
              <a:rPr lang="en-US" sz="1100" b="1" dirty="0"/>
              <a:t>Instruction:</a:t>
            </a:r>
            <a:r>
              <a:rPr lang="hi-IN" sz="1100" dirty="0"/>
              <a:t> संख्याएँ जोड़िए।</a:t>
            </a:r>
          </a:p>
          <a:p>
            <a:r>
              <a:rPr lang="en-US" sz="1100" b="1" dirty="0"/>
              <a:t>Equation: 39 + 26 = ?</a:t>
            </a:r>
          </a:p>
          <a:p>
            <a:r>
              <a:rPr lang="en-US" sz="1100" dirty="0"/>
              <a:t>Show the PV tables with the numbers built using blocks one by one. </a:t>
            </a:r>
          </a:p>
          <a:p>
            <a:endParaRPr lang="en-US" sz="1100" dirty="0"/>
          </a:p>
          <a:p>
            <a:r>
              <a:rPr lang="en-US" sz="1100" b="1" dirty="0"/>
              <a:t>VO:</a:t>
            </a:r>
            <a:r>
              <a:rPr lang="hi-IN" sz="1100" dirty="0"/>
              <a:t> </a:t>
            </a:r>
            <a:r>
              <a:rPr lang="en-US" sz="1100" dirty="0"/>
              <a:t>39</a:t>
            </a:r>
            <a:r>
              <a:rPr lang="hi-IN" sz="1100" dirty="0"/>
              <a:t> और </a:t>
            </a:r>
            <a:r>
              <a:rPr lang="en-US" sz="1100" dirty="0"/>
              <a:t>26 </a:t>
            </a:r>
            <a:r>
              <a:rPr lang="hi-IN" sz="1100" dirty="0"/>
              <a:t>को जोड़िए</a:t>
            </a:r>
            <a:r>
              <a:rPr lang="en-US" sz="1100" dirty="0"/>
              <a:t> </a:t>
            </a:r>
            <a:r>
              <a:rPr lang="hi-IN" sz="1100" dirty="0"/>
              <a:t>और सही जोड़ टाइप करिए। </a:t>
            </a:r>
            <a:r>
              <a:rPr lang="hi-IN" sz="1100" i="1" dirty="0"/>
              <a:t>[</a:t>
            </a:r>
            <a:r>
              <a:rPr lang="en-US" sz="1100" i="1" dirty="0"/>
              <a:t>Show PV tables for both the numbers and </a:t>
            </a:r>
            <a:r>
              <a:rPr lang="en-IN" sz="1100" i="1" dirty="0"/>
              <a:t>an answer counter below with a hand nudge. On tap, open the number pad for the child to enter the answer.]</a:t>
            </a:r>
          </a:p>
          <a:p>
            <a:endParaRPr lang="en-US" sz="1100" i="1" dirty="0"/>
          </a:p>
          <a:p>
            <a:r>
              <a:rPr lang="en-US" sz="1100" b="1" dirty="0"/>
              <a:t>CR:</a:t>
            </a:r>
            <a:r>
              <a:rPr lang="hi-IN" sz="1100" dirty="0"/>
              <a:t> शाबाश! 39 जोड़ 26 बराबर 65</a:t>
            </a:r>
          </a:p>
          <a:p>
            <a:r>
              <a:rPr lang="en-US" sz="1100" i="1" dirty="0"/>
              <a:t>[Move the typed answer to the equation, replacing the “?” symbol.]</a:t>
            </a:r>
          </a:p>
          <a:p>
            <a:endParaRPr lang="en-US" sz="1100" dirty="0"/>
          </a:p>
          <a:p>
            <a:r>
              <a:rPr lang="en-US" sz="1100" b="1" dirty="0"/>
              <a:t>Feedback/hint</a:t>
            </a:r>
          </a:p>
          <a:p>
            <a:r>
              <a:rPr lang="en-US" sz="1100" b="1" dirty="0"/>
              <a:t>WA1:</a:t>
            </a:r>
            <a:r>
              <a:rPr lang="hi-IN" sz="1100" dirty="0"/>
              <a:t> Wiggle + VO: </a:t>
            </a:r>
            <a:r>
              <a:rPr lang="hi-IN" sz="1100" b="1" dirty="0"/>
              <a:t>ब्लॉक्स को गिनिए और सही जोड़ टाइप करिए।</a:t>
            </a:r>
          </a:p>
          <a:p>
            <a:r>
              <a:rPr lang="en-US" sz="1100" b="1" dirty="0"/>
              <a:t>WA2:</a:t>
            </a:r>
            <a:r>
              <a:rPr lang="hi-IN" sz="1100" dirty="0"/>
              <a:t> Wiggle +</a:t>
            </a:r>
            <a:r>
              <a:rPr lang="en-US" sz="1100" dirty="0"/>
              <a:t> Animate the blocks moving to a third PV table, then remove the first two tables and center the sum PV table + </a:t>
            </a:r>
            <a:r>
              <a:rPr lang="hi-IN" sz="1100" dirty="0"/>
              <a:t>VO: </a:t>
            </a:r>
            <a:r>
              <a:rPr lang="hi-IN" sz="1100" b="1" dirty="0"/>
              <a:t>ध्यान से देखिए, नई दहाई को मिलाकर कुल 6 दहाइयाँ और 5 इकाइयाँ हैं।</a:t>
            </a:r>
            <a:endParaRPr lang="en-US" sz="1100" b="1" dirty="0"/>
          </a:p>
          <a:p>
            <a:r>
              <a:rPr lang="en-US" sz="1100" b="1" dirty="0"/>
              <a:t>WA3:</a:t>
            </a:r>
            <a:r>
              <a:rPr lang="en-US" sz="1100" dirty="0"/>
              <a:t> Wiggle + highlight the correct digit buttons in sequence (6, then 5). As the child taps them, enter the digits in the answer counter.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12 · 12_SEQUENCE_NEXT.png</a:t>
            </a:r>
          </a:p>
        </p:txBody>
      </p:sp>
      <p:pic>
        <p:nvPicPr>
          <p:cNvPr id="3" name="Picture 2" descr="12_SEQUENCE_NEXT.png"/>
          <p:cNvPicPr>
            <a:picLocks noChangeAspect="1"/>
          </p:cNvPicPr>
          <p:nvPr/>
        </p:nvPicPr>
        <p:blipFill>
          <a:blip r:embed="rId2"/>
          <a:stretch>
            <a:fillRect/>
          </a:stretch>
        </p:blipFill>
        <p:spPr>
          <a:xfrm>
            <a:off x="365760" y="731520"/>
            <a:ext cx="7680960" cy="4298571"/>
          </a:xfrm>
          <a:prstGeom prst="rect">
            <a:avLst/>
          </a:prstGeom>
        </p:spPr>
      </p:pic>
      <p:sp>
        <p:nvSpPr>
          <p:cNvPr id="5" name="Rectangle: Rounded Corners 10">
            <a:extLst>
              <a:ext uri="{FF2B5EF4-FFF2-40B4-BE49-F238E27FC236}">
                <a16:creationId xmlns:a16="http://schemas.microsoft.com/office/drawing/2014/main" id="{891A9442-DD34-50CF-51B1-2B50C10C1578}"/>
              </a:ext>
            </a:extLst>
          </p:cNvPr>
          <p:cNvSpPr/>
          <p:nvPr/>
        </p:nvSpPr>
        <p:spPr>
          <a:xfrm>
            <a:off x="2746248" y="1984247"/>
            <a:ext cx="2560320" cy="6858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37  +  5  =  ?</a:t>
            </a:r>
            <a:endParaRPr lang="en-IN" sz="3200" b="1" dirty="0"/>
          </a:p>
        </p:txBody>
      </p:sp>
      <p:sp>
        <p:nvSpPr>
          <p:cNvPr id="6" name="Rectangle: Rounded Corners 24">
            <a:extLst>
              <a:ext uri="{FF2B5EF4-FFF2-40B4-BE49-F238E27FC236}">
                <a16:creationId xmlns:a16="http://schemas.microsoft.com/office/drawing/2014/main" id="{03FE1461-ABC5-5D16-B6B8-342C56208A96}"/>
              </a:ext>
            </a:extLst>
          </p:cNvPr>
          <p:cNvSpPr/>
          <p:nvPr/>
        </p:nvSpPr>
        <p:spPr>
          <a:xfrm>
            <a:off x="1786128" y="3355848"/>
            <a:ext cx="1143000" cy="7680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316</a:t>
            </a:r>
            <a:endParaRPr lang="en-IN" sz="4000" b="1" dirty="0"/>
          </a:p>
        </p:txBody>
      </p:sp>
      <p:sp>
        <p:nvSpPr>
          <p:cNvPr id="7" name="Rectangle: Rounded Corners 24">
            <a:extLst>
              <a:ext uri="{FF2B5EF4-FFF2-40B4-BE49-F238E27FC236}">
                <a16:creationId xmlns:a16="http://schemas.microsoft.com/office/drawing/2014/main" id="{A0074E39-2DF2-20E3-EA32-E7C112D4579F}"/>
              </a:ext>
            </a:extLst>
          </p:cNvPr>
          <p:cNvSpPr/>
          <p:nvPr/>
        </p:nvSpPr>
        <p:spPr>
          <a:xfrm>
            <a:off x="3642360" y="3355848"/>
            <a:ext cx="1143000" cy="7680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42</a:t>
            </a:r>
            <a:endParaRPr lang="en-IN" sz="4000" b="1" dirty="0"/>
          </a:p>
        </p:txBody>
      </p:sp>
      <p:sp>
        <p:nvSpPr>
          <p:cNvPr id="8" name="Rectangle: Rounded Corners 24">
            <a:extLst>
              <a:ext uri="{FF2B5EF4-FFF2-40B4-BE49-F238E27FC236}">
                <a16:creationId xmlns:a16="http://schemas.microsoft.com/office/drawing/2014/main" id="{0C774C4C-2B79-47D7-6EFD-7FDD16A7D7CE}"/>
              </a:ext>
            </a:extLst>
          </p:cNvPr>
          <p:cNvSpPr/>
          <p:nvPr/>
        </p:nvSpPr>
        <p:spPr>
          <a:xfrm>
            <a:off x="5489448" y="3355848"/>
            <a:ext cx="1143000" cy="7680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19</a:t>
            </a:r>
            <a:endParaRPr lang="en-IN" sz="4000" b="1" dirty="0"/>
          </a:p>
        </p:txBody>
      </p:sp>
      <p:sp>
        <p:nvSpPr>
          <p:cNvPr id="9" name="Recommendations">
            <a:extLst>
              <a:ext uri="{FF2B5EF4-FFF2-40B4-BE49-F238E27FC236}">
                <a16:creationId xmlns:a16="http://schemas.microsoft.com/office/drawing/2014/main" id="{30E0E20B-DE69-BBC2-9C46-10C74C031984}"/>
              </a:ext>
            </a:extLst>
          </p:cNvPr>
          <p:cNvSpPr txBox="1"/>
          <p:nvPr/>
        </p:nvSpPr>
        <p:spPr>
          <a:xfrm>
            <a:off x="8232648" y="932688"/>
            <a:ext cx="3593592" cy="4401205"/>
          </a:xfrm>
          <a:prstGeom prst="rect">
            <a:avLst/>
          </a:prstGeom>
          <a:noFill/>
        </p:spPr>
        <p:txBody>
          <a:bodyPr wrap="square">
            <a:spAutoFit/>
          </a:bodyPr>
          <a:lstStyle/>
          <a:p>
            <a:r>
              <a:rPr lang="en-US" sz="1600" b="1" dirty="0">
                <a:solidFill>
                  <a:srgbClr val="0B3D8C"/>
                </a:solidFill>
              </a:rPr>
              <a:t>Recommendations</a:t>
            </a:r>
          </a:p>
          <a:p>
            <a:r>
              <a:rPr lang="en-US" sz="1200" dirty="0"/>
              <a:t>Replace the entire slide content with the following:</a:t>
            </a:r>
          </a:p>
          <a:p>
            <a:r>
              <a:rPr lang="en-US" sz="1200" b="1" dirty="0"/>
              <a:t>Instruction:</a:t>
            </a:r>
            <a:r>
              <a:rPr lang="hi-IN" sz="1200" dirty="0"/>
              <a:t> संख्याएँ जोड़िए।</a:t>
            </a:r>
          </a:p>
          <a:p>
            <a:r>
              <a:rPr lang="en-US" sz="1200" b="1" dirty="0"/>
              <a:t>Equation: 37 + 9 = ?</a:t>
            </a:r>
          </a:p>
          <a:p>
            <a:r>
              <a:rPr lang="en-US" sz="1200" dirty="0"/>
              <a:t>Show three answer options below. The child solves the addition mentally and selects the correct answer.</a:t>
            </a:r>
          </a:p>
          <a:p>
            <a:endParaRPr lang="en-US" sz="1200" dirty="0"/>
          </a:p>
          <a:p>
            <a:r>
              <a:rPr lang="en-US" sz="1200" b="1" dirty="0"/>
              <a:t>VO:</a:t>
            </a:r>
            <a:r>
              <a:rPr lang="hi-IN" sz="1200" dirty="0"/>
              <a:t> सही जोड़ चुनिए।</a:t>
            </a:r>
          </a:p>
          <a:p>
            <a:endParaRPr lang="en-US" sz="1200" dirty="0"/>
          </a:p>
          <a:p>
            <a:r>
              <a:rPr lang="en-US" sz="1200" b="1" dirty="0"/>
              <a:t>CR:</a:t>
            </a:r>
            <a:r>
              <a:rPr lang="hi-IN" sz="1200" dirty="0"/>
              <a:t> शाबाश! </a:t>
            </a:r>
            <a:r>
              <a:rPr lang="en-US" sz="1200" dirty="0"/>
              <a:t>37</a:t>
            </a:r>
            <a:r>
              <a:rPr lang="hi-IN" sz="1200" dirty="0"/>
              <a:t> जोड़ </a:t>
            </a:r>
            <a:r>
              <a:rPr lang="en-US" sz="1200" dirty="0"/>
              <a:t>9</a:t>
            </a:r>
            <a:r>
              <a:rPr lang="hi-IN" sz="1200" dirty="0"/>
              <a:t> बराबर </a:t>
            </a:r>
            <a:r>
              <a:rPr lang="en-US" sz="1200" dirty="0"/>
              <a:t>46 </a:t>
            </a:r>
            <a:r>
              <a:rPr lang="en-US" sz="1200" i="1" dirty="0"/>
              <a:t>[Move the correct answer option to the equation, replacing the “?” symbol.]</a:t>
            </a:r>
          </a:p>
          <a:p>
            <a:endParaRPr lang="en-US" sz="1200" dirty="0"/>
          </a:p>
          <a:p>
            <a:r>
              <a:rPr lang="en-US" sz="1200" b="1" dirty="0"/>
              <a:t>Feedback/Hint</a:t>
            </a:r>
          </a:p>
          <a:p>
            <a:r>
              <a:rPr lang="en-US" sz="1200" b="1" dirty="0"/>
              <a:t>WA1:</a:t>
            </a:r>
            <a:r>
              <a:rPr lang="hi-IN" sz="1200" dirty="0"/>
              <a:t> Wiggle + </a:t>
            </a:r>
            <a:r>
              <a:rPr lang="en-US" sz="1200" dirty="0"/>
              <a:t>Show the PV tables with the numbers built using blocks one by one + </a:t>
            </a:r>
            <a:r>
              <a:rPr lang="hi-IN" sz="1200" dirty="0"/>
              <a:t>VO: </a:t>
            </a:r>
            <a:r>
              <a:rPr lang="hi-IN" sz="1200" b="1" dirty="0"/>
              <a:t>ध्यान से देखिए, क्या इकाइयों से नई दहाई बन</a:t>
            </a:r>
            <a:r>
              <a:rPr lang="en-US" sz="1200" b="1" dirty="0"/>
              <a:t> </a:t>
            </a:r>
            <a:r>
              <a:rPr lang="hi-IN" sz="1200" b="1" dirty="0"/>
              <a:t>रही है?</a:t>
            </a:r>
          </a:p>
          <a:p>
            <a:r>
              <a:rPr lang="en-US" sz="1200" b="1" dirty="0"/>
              <a:t>WA2:</a:t>
            </a:r>
            <a:r>
              <a:rPr lang="hi-IN" sz="1200" dirty="0"/>
              <a:t> Wiggle +</a:t>
            </a:r>
            <a:r>
              <a:rPr lang="en-US" sz="1200" dirty="0"/>
              <a:t> </a:t>
            </a:r>
            <a:r>
              <a:rPr lang="en-IN" sz="1200" dirty="0"/>
              <a:t>Animate the blocks moving to a third PV table. Hide the answer options during the animation. Once complete, remove the first two PV tables, </a:t>
            </a:r>
            <a:r>
              <a:rPr lang="en-IN" sz="1200" dirty="0" err="1"/>
              <a:t>center</a:t>
            </a:r>
            <a:r>
              <a:rPr lang="en-IN" sz="1200" dirty="0"/>
              <a:t> the sum PV table</a:t>
            </a:r>
            <a:r>
              <a:rPr lang="en-US" sz="1200" dirty="0"/>
              <a:t> </a:t>
            </a:r>
            <a:r>
              <a:rPr lang="en-IN" sz="1200" dirty="0"/>
              <a:t>+ VO: </a:t>
            </a:r>
            <a:r>
              <a:rPr lang="hi-IN" sz="1200" b="1" dirty="0"/>
              <a:t>ब्लॉक्स को गिनिए और सही जोड़ चुनिए।</a:t>
            </a:r>
            <a:endParaRPr lang="en-US" sz="1200" i="1" dirty="0"/>
          </a:p>
          <a:p>
            <a:r>
              <a:rPr lang="en-US" sz="1200" b="1" dirty="0"/>
              <a:t>WA3:</a:t>
            </a:r>
            <a:r>
              <a:rPr lang="en-US" sz="1200" dirty="0"/>
              <a:t> Wiggle + highlight the correct option.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13 · 13_COUNT_DRAG_MATCH.png</a:t>
            </a:r>
          </a:p>
        </p:txBody>
      </p:sp>
      <p:pic>
        <p:nvPicPr>
          <p:cNvPr id="3" name="Picture 2" descr="13_COUNT_DRAG_MATCH.png"/>
          <p:cNvPicPr>
            <a:picLocks noChangeAspect="1"/>
          </p:cNvPicPr>
          <p:nvPr/>
        </p:nvPicPr>
        <p:blipFill>
          <a:blip r:embed="rId2"/>
          <a:stretch>
            <a:fillRect/>
          </a:stretch>
        </p:blipFill>
        <p:spPr>
          <a:xfrm>
            <a:off x="365760" y="731520"/>
            <a:ext cx="7680960" cy="4298571"/>
          </a:xfrm>
          <a:prstGeom prst="rect">
            <a:avLst/>
          </a:prstGeom>
        </p:spPr>
      </p:pic>
      <p:sp>
        <p:nvSpPr>
          <p:cNvPr id="5" name="Rectangle: Rounded Corners 10">
            <a:extLst>
              <a:ext uri="{FF2B5EF4-FFF2-40B4-BE49-F238E27FC236}">
                <a16:creationId xmlns:a16="http://schemas.microsoft.com/office/drawing/2014/main" id="{1B6BCEE9-C43F-89DA-5A12-D5C63029831E}"/>
              </a:ext>
            </a:extLst>
          </p:cNvPr>
          <p:cNvSpPr/>
          <p:nvPr/>
        </p:nvSpPr>
        <p:spPr>
          <a:xfrm>
            <a:off x="2746248" y="1984247"/>
            <a:ext cx="2560320" cy="6858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18  +  14  =  ?</a:t>
            </a:r>
            <a:endParaRPr lang="en-IN" sz="3200" b="1" dirty="0"/>
          </a:p>
        </p:txBody>
      </p:sp>
      <p:sp>
        <p:nvSpPr>
          <p:cNvPr id="6" name="Rectangle: Rounded Corners 24">
            <a:extLst>
              <a:ext uri="{FF2B5EF4-FFF2-40B4-BE49-F238E27FC236}">
                <a16:creationId xmlns:a16="http://schemas.microsoft.com/office/drawing/2014/main" id="{E3079A67-6B35-6291-6D05-C37110609A8E}"/>
              </a:ext>
            </a:extLst>
          </p:cNvPr>
          <p:cNvSpPr/>
          <p:nvPr/>
        </p:nvSpPr>
        <p:spPr>
          <a:xfrm>
            <a:off x="1786128" y="3355848"/>
            <a:ext cx="1143000" cy="7680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212</a:t>
            </a:r>
            <a:endParaRPr lang="en-IN" sz="4000" b="1" dirty="0"/>
          </a:p>
        </p:txBody>
      </p:sp>
      <p:sp>
        <p:nvSpPr>
          <p:cNvPr id="7" name="Rectangle: Rounded Corners 24">
            <a:extLst>
              <a:ext uri="{FF2B5EF4-FFF2-40B4-BE49-F238E27FC236}">
                <a16:creationId xmlns:a16="http://schemas.microsoft.com/office/drawing/2014/main" id="{BB5B7D7B-B51A-80DE-22B7-D83A1B8D7751}"/>
              </a:ext>
            </a:extLst>
          </p:cNvPr>
          <p:cNvSpPr/>
          <p:nvPr/>
        </p:nvSpPr>
        <p:spPr>
          <a:xfrm>
            <a:off x="3642360" y="3355848"/>
            <a:ext cx="1143000" cy="7680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32</a:t>
            </a:r>
            <a:endParaRPr lang="en-IN" sz="4000" b="1" dirty="0"/>
          </a:p>
        </p:txBody>
      </p:sp>
      <p:sp>
        <p:nvSpPr>
          <p:cNvPr id="8" name="Rectangle: Rounded Corners 24">
            <a:extLst>
              <a:ext uri="{FF2B5EF4-FFF2-40B4-BE49-F238E27FC236}">
                <a16:creationId xmlns:a16="http://schemas.microsoft.com/office/drawing/2014/main" id="{8DEA0AC0-AAEA-908F-2973-3A445C24E33D}"/>
              </a:ext>
            </a:extLst>
          </p:cNvPr>
          <p:cNvSpPr/>
          <p:nvPr/>
        </p:nvSpPr>
        <p:spPr>
          <a:xfrm>
            <a:off x="5489448" y="3355848"/>
            <a:ext cx="1143000" cy="7680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22</a:t>
            </a:r>
            <a:endParaRPr lang="en-IN" sz="4000" b="1" dirty="0"/>
          </a:p>
        </p:txBody>
      </p:sp>
      <p:sp>
        <p:nvSpPr>
          <p:cNvPr id="9" name="Recommendations">
            <a:extLst>
              <a:ext uri="{FF2B5EF4-FFF2-40B4-BE49-F238E27FC236}">
                <a16:creationId xmlns:a16="http://schemas.microsoft.com/office/drawing/2014/main" id="{337F0E8F-D47A-E3F8-D871-0C24A48A654C}"/>
              </a:ext>
            </a:extLst>
          </p:cNvPr>
          <p:cNvSpPr txBox="1"/>
          <p:nvPr/>
        </p:nvSpPr>
        <p:spPr>
          <a:xfrm>
            <a:off x="8232648" y="932688"/>
            <a:ext cx="3593592" cy="4401205"/>
          </a:xfrm>
          <a:prstGeom prst="rect">
            <a:avLst/>
          </a:prstGeom>
          <a:noFill/>
        </p:spPr>
        <p:txBody>
          <a:bodyPr wrap="square">
            <a:spAutoFit/>
          </a:bodyPr>
          <a:lstStyle/>
          <a:p>
            <a:r>
              <a:rPr lang="en-US" sz="1600" b="1" dirty="0">
                <a:solidFill>
                  <a:srgbClr val="0B3D8C"/>
                </a:solidFill>
              </a:rPr>
              <a:t>Recommendations</a:t>
            </a:r>
          </a:p>
          <a:p>
            <a:r>
              <a:rPr lang="en-US" sz="1200" dirty="0"/>
              <a:t>Replace the entire slide content with the following:</a:t>
            </a:r>
          </a:p>
          <a:p>
            <a:r>
              <a:rPr lang="en-US" sz="1200" b="1" dirty="0"/>
              <a:t>Instruction:</a:t>
            </a:r>
            <a:r>
              <a:rPr lang="hi-IN" sz="1200" dirty="0"/>
              <a:t> संख्याएँ जोड़िए।</a:t>
            </a:r>
          </a:p>
          <a:p>
            <a:r>
              <a:rPr lang="en-US" sz="1200" b="1" dirty="0"/>
              <a:t>Equation: 18 + 14 = ?</a:t>
            </a:r>
          </a:p>
          <a:p>
            <a:r>
              <a:rPr lang="en-US" sz="1200" dirty="0"/>
              <a:t>Show three answer options below. The child solves the addition mentally and selects the correct answer.</a:t>
            </a:r>
          </a:p>
          <a:p>
            <a:endParaRPr lang="en-US" sz="1200" dirty="0"/>
          </a:p>
          <a:p>
            <a:r>
              <a:rPr lang="en-US" sz="1200" b="1" dirty="0"/>
              <a:t>VO:</a:t>
            </a:r>
            <a:r>
              <a:rPr lang="hi-IN" sz="1200" dirty="0"/>
              <a:t> सही जोड़ चुनिए।</a:t>
            </a:r>
          </a:p>
          <a:p>
            <a:endParaRPr lang="en-US" sz="1200" dirty="0"/>
          </a:p>
          <a:p>
            <a:r>
              <a:rPr lang="en-US" sz="1200" b="1" dirty="0"/>
              <a:t>CR:</a:t>
            </a:r>
            <a:r>
              <a:rPr lang="hi-IN" sz="1200" dirty="0"/>
              <a:t> शाबाश! 18 जोड़ 14 बराबर 32</a:t>
            </a:r>
            <a:r>
              <a:rPr lang="en-US" sz="1200" dirty="0"/>
              <a:t> </a:t>
            </a:r>
            <a:r>
              <a:rPr lang="en-US" sz="1200" i="1" dirty="0"/>
              <a:t>[Move the correct answer option to the equation, replacing the “?” symbol.]</a:t>
            </a:r>
          </a:p>
          <a:p>
            <a:endParaRPr lang="en-US" sz="1200" dirty="0"/>
          </a:p>
          <a:p>
            <a:r>
              <a:rPr lang="en-US" sz="1200" b="1" dirty="0"/>
              <a:t>Feedback/Hint</a:t>
            </a:r>
          </a:p>
          <a:p>
            <a:r>
              <a:rPr lang="en-US" sz="1200" b="1" dirty="0"/>
              <a:t>WA1:</a:t>
            </a:r>
            <a:r>
              <a:rPr lang="hi-IN" sz="1200" dirty="0"/>
              <a:t> Wiggle + + </a:t>
            </a:r>
            <a:r>
              <a:rPr lang="en-US" sz="1200" dirty="0"/>
              <a:t>Show the PV tables with the numbers built using blocks one by one </a:t>
            </a:r>
            <a:r>
              <a:rPr lang="hi-IN" sz="1200" dirty="0"/>
              <a:t>+ VO: </a:t>
            </a:r>
            <a:r>
              <a:rPr lang="hi-IN" sz="1200" b="1" dirty="0"/>
              <a:t>ध्यान से देखिए - क्या इकाइयों से नई दहाई बन रही है?</a:t>
            </a:r>
          </a:p>
          <a:p>
            <a:r>
              <a:rPr lang="en-US" sz="1200" b="1" dirty="0"/>
              <a:t>WA2:</a:t>
            </a:r>
            <a:r>
              <a:rPr lang="hi-IN" sz="1200" dirty="0"/>
              <a:t> Wiggle </a:t>
            </a:r>
            <a:r>
              <a:rPr lang="en-US" sz="1200" dirty="0"/>
              <a:t>+ </a:t>
            </a:r>
            <a:r>
              <a:rPr lang="en-IN" sz="1200" dirty="0"/>
              <a:t>Animate the blocks moving to a third PV table. Hide the answer options during the animation. Once complete, remove the first two PV tables, </a:t>
            </a:r>
            <a:r>
              <a:rPr lang="en-IN" sz="1200" dirty="0" err="1"/>
              <a:t>center</a:t>
            </a:r>
            <a:r>
              <a:rPr lang="en-IN" sz="1200" dirty="0"/>
              <a:t> the sum PV table + VO: </a:t>
            </a:r>
            <a:r>
              <a:rPr lang="hi-IN" sz="1200" b="1" dirty="0"/>
              <a:t>ब्लॉक्स को गिनिए और सही जोड़ चुनिए।</a:t>
            </a:r>
            <a:r>
              <a:rPr lang="en-US" sz="1200" i="1" dirty="0"/>
              <a:t> </a:t>
            </a:r>
          </a:p>
          <a:p>
            <a:r>
              <a:rPr lang="en-US" sz="1200" b="1" dirty="0"/>
              <a:t>WA3:</a:t>
            </a:r>
            <a:r>
              <a:rPr lang="en-US" sz="1200" dirty="0"/>
              <a:t> Wiggle + highlight the correct option.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14 · 14_SEQUENCE_COMPLETE.png</a:t>
            </a:r>
          </a:p>
        </p:txBody>
      </p:sp>
      <p:pic>
        <p:nvPicPr>
          <p:cNvPr id="3" name="Picture 2" descr="14_SEQUENCE_COMPLETE.png"/>
          <p:cNvPicPr>
            <a:picLocks noChangeAspect="1"/>
          </p:cNvPicPr>
          <p:nvPr/>
        </p:nvPicPr>
        <p:blipFill>
          <a:blip r:embed="rId2"/>
          <a:stretch>
            <a:fillRect/>
          </a:stretch>
        </p:blipFill>
        <p:spPr>
          <a:xfrm>
            <a:off x="365760" y="731520"/>
            <a:ext cx="7680960" cy="4298571"/>
          </a:xfrm>
          <a:prstGeom prst="rect">
            <a:avLst/>
          </a:prstGeom>
        </p:spPr>
      </p:pic>
      <p:sp>
        <p:nvSpPr>
          <p:cNvPr id="4" name="Recommendations"/>
          <p:cNvSpPr txBox="1"/>
          <p:nvPr/>
        </p:nvSpPr>
        <p:spPr>
          <a:xfrm>
            <a:off x="8229600" y="731520"/>
            <a:ext cx="3593592" cy="523220"/>
          </a:xfrm>
          <a:prstGeom prst="rect">
            <a:avLst/>
          </a:prstGeom>
          <a:noFill/>
        </p:spPr>
        <p:txBody>
          <a:bodyPr wrap="square">
            <a:spAutoFit/>
          </a:bodyPr>
          <a:lstStyle/>
          <a:p>
            <a:r>
              <a:rPr lang="en-US" sz="1600" b="1" dirty="0">
                <a:solidFill>
                  <a:srgbClr val="0B3D8C"/>
                </a:solidFill>
              </a:rPr>
              <a:t>Recommendations</a:t>
            </a:r>
          </a:p>
          <a:p>
            <a:r>
              <a:rPr lang="en-US" sz="1200" dirty="0"/>
              <a:t>Delete this slide.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15 · 15_COUNT_DRAG_MATCH.png</a:t>
            </a:r>
          </a:p>
        </p:txBody>
      </p:sp>
      <p:pic>
        <p:nvPicPr>
          <p:cNvPr id="3" name="Picture 2" descr="15_COUNT_DRAG_MATCH.png"/>
          <p:cNvPicPr>
            <a:picLocks noChangeAspect="1"/>
          </p:cNvPicPr>
          <p:nvPr/>
        </p:nvPicPr>
        <p:blipFill>
          <a:blip r:embed="rId2"/>
          <a:stretch>
            <a:fillRect/>
          </a:stretch>
        </p:blipFill>
        <p:spPr>
          <a:xfrm>
            <a:off x="795528" y="484632"/>
            <a:ext cx="5624527" cy="3147709"/>
          </a:xfrm>
          <a:prstGeom prst="rect">
            <a:avLst/>
          </a:prstGeom>
        </p:spPr>
      </p:pic>
      <p:sp>
        <p:nvSpPr>
          <p:cNvPr id="4" name="Recommendations"/>
          <p:cNvSpPr txBox="1"/>
          <p:nvPr/>
        </p:nvSpPr>
        <p:spPr>
          <a:xfrm>
            <a:off x="8229600" y="731520"/>
            <a:ext cx="3593592" cy="523220"/>
          </a:xfrm>
          <a:prstGeom prst="rect">
            <a:avLst/>
          </a:prstGeom>
          <a:noFill/>
        </p:spPr>
        <p:txBody>
          <a:bodyPr wrap="square">
            <a:spAutoFit/>
          </a:bodyPr>
          <a:lstStyle/>
          <a:p>
            <a:r>
              <a:rPr lang="en-US" sz="1600" b="1" dirty="0">
                <a:solidFill>
                  <a:srgbClr val="0B3D8C"/>
                </a:solidFill>
              </a:rPr>
              <a:t>Recommendations</a:t>
            </a:r>
          </a:p>
          <a:p>
            <a:r>
              <a:rPr lang="en-US" sz="1200" dirty="0"/>
              <a:t>Delete this slide.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16 · 16_SEQUENCE_NEXT.png</a:t>
            </a:r>
          </a:p>
        </p:txBody>
      </p:sp>
      <p:pic>
        <p:nvPicPr>
          <p:cNvPr id="3" name="Picture 2" descr="16_SEQUENCE_NEXT.png"/>
          <p:cNvPicPr>
            <a:picLocks noChangeAspect="1"/>
          </p:cNvPicPr>
          <p:nvPr/>
        </p:nvPicPr>
        <p:blipFill>
          <a:blip r:embed="rId2"/>
          <a:stretch>
            <a:fillRect/>
          </a:stretch>
        </p:blipFill>
        <p:spPr>
          <a:xfrm>
            <a:off x="365760" y="731520"/>
            <a:ext cx="7680960" cy="4298571"/>
          </a:xfrm>
          <a:prstGeom prst="rect">
            <a:avLst/>
          </a:prstGeom>
        </p:spPr>
      </p:pic>
      <p:sp>
        <p:nvSpPr>
          <p:cNvPr id="4" name="Recommendations"/>
          <p:cNvSpPr txBox="1"/>
          <p:nvPr/>
        </p:nvSpPr>
        <p:spPr>
          <a:xfrm>
            <a:off x="8229600" y="731520"/>
            <a:ext cx="3593592" cy="523220"/>
          </a:xfrm>
          <a:prstGeom prst="rect">
            <a:avLst/>
          </a:prstGeom>
          <a:noFill/>
        </p:spPr>
        <p:txBody>
          <a:bodyPr wrap="square">
            <a:spAutoFit/>
          </a:bodyPr>
          <a:lstStyle/>
          <a:p>
            <a:r>
              <a:rPr lang="en-US" sz="1600" b="1" dirty="0">
                <a:solidFill>
                  <a:srgbClr val="0B3D8C"/>
                </a:solidFill>
              </a:rPr>
              <a:t>Recommendations</a:t>
            </a:r>
          </a:p>
          <a:p>
            <a:r>
              <a:rPr lang="en-US" sz="1200" dirty="0"/>
              <a:t>Delete this slide.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17 · 17_SEQUENCE_COMPLETE.png</a:t>
            </a:r>
          </a:p>
        </p:txBody>
      </p:sp>
      <p:pic>
        <p:nvPicPr>
          <p:cNvPr id="3" name="Picture 2" descr="17_SEQUENCE_COMPLETE.png"/>
          <p:cNvPicPr>
            <a:picLocks noChangeAspect="1"/>
          </p:cNvPicPr>
          <p:nvPr/>
        </p:nvPicPr>
        <p:blipFill>
          <a:blip r:embed="rId2"/>
          <a:stretch>
            <a:fillRect/>
          </a:stretch>
        </p:blipFill>
        <p:spPr>
          <a:xfrm>
            <a:off x="365760" y="731520"/>
            <a:ext cx="7680960" cy="4298571"/>
          </a:xfrm>
          <a:prstGeom prst="rect">
            <a:avLst/>
          </a:prstGeom>
        </p:spPr>
      </p:pic>
      <p:sp>
        <p:nvSpPr>
          <p:cNvPr id="4" name="Recommendations"/>
          <p:cNvSpPr txBox="1"/>
          <p:nvPr/>
        </p:nvSpPr>
        <p:spPr>
          <a:xfrm>
            <a:off x="8229600" y="731520"/>
            <a:ext cx="3593592" cy="523220"/>
          </a:xfrm>
          <a:prstGeom prst="rect">
            <a:avLst/>
          </a:prstGeom>
          <a:noFill/>
        </p:spPr>
        <p:txBody>
          <a:bodyPr wrap="square">
            <a:spAutoFit/>
          </a:bodyPr>
          <a:lstStyle/>
          <a:p>
            <a:r>
              <a:rPr lang="en-US" sz="1600" b="1" dirty="0">
                <a:solidFill>
                  <a:srgbClr val="0B3D8C"/>
                </a:solidFill>
              </a:rPr>
              <a:t>Recommendations</a:t>
            </a:r>
          </a:p>
          <a:p>
            <a:r>
              <a:rPr lang="en-US" sz="1200" dirty="0"/>
              <a:t>Delete this slide.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18 · 18_CELEBRATION.png</a:t>
            </a:r>
          </a:p>
        </p:txBody>
      </p:sp>
      <p:pic>
        <p:nvPicPr>
          <p:cNvPr id="3" name="Picture 2" descr="18_CELEBRATION.png"/>
          <p:cNvPicPr>
            <a:picLocks noChangeAspect="1"/>
          </p:cNvPicPr>
          <p:nvPr/>
        </p:nvPicPr>
        <p:blipFill>
          <a:blip r:embed="rId2"/>
          <a:stretch>
            <a:fillRect/>
          </a:stretch>
        </p:blipFill>
        <p:spPr>
          <a:xfrm>
            <a:off x="365760" y="731520"/>
            <a:ext cx="7680960" cy="4298571"/>
          </a:xfrm>
          <a:prstGeom prst="rect">
            <a:avLst/>
          </a:prstGeom>
        </p:spPr>
      </p:pic>
      <p:sp>
        <p:nvSpPr>
          <p:cNvPr id="4" name="Recommendations"/>
          <p:cNvSpPr txBox="1"/>
          <p:nvPr/>
        </p:nvSpPr>
        <p:spPr>
          <a:xfrm>
            <a:off x="8229600" y="731520"/>
            <a:ext cx="3593592" cy="1631216"/>
          </a:xfrm>
          <a:prstGeom prst="rect">
            <a:avLst/>
          </a:prstGeom>
          <a:noFill/>
        </p:spPr>
        <p:txBody>
          <a:bodyPr wrap="square">
            <a:spAutoFit/>
          </a:bodyPr>
          <a:lstStyle/>
          <a:p>
            <a:r>
              <a:rPr lang="en-US" sz="1600" b="1" dirty="0">
                <a:solidFill>
                  <a:srgbClr val="0B3D8C"/>
                </a:solidFill>
              </a:rPr>
              <a:t>Recommendations</a:t>
            </a:r>
          </a:p>
          <a:p>
            <a:endParaRPr lang="en-US" sz="1200" dirty="0"/>
          </a:p>
          <a:p>
            <a:r>
              <a:rPr lang="hi-IN" sz="1200" dirty="0"/>
              <a:t>Replace “शाबाश! आप नया बंडल बनाकर जोड़ सकते हैं!” with “शाबाश! अब आप नई दहाई बनाकर जोड़ सकते हैं!”</a:t>
            </a:r>
            <a:endParaRPr lang="en-US" sz="1200" i="1" dirty="0"/>
          </a:p>
          <a:p>
            <a:endParaRPr lang="en-US" sz="1200" dirty="0"/>
          </a:p>
          <a:p>
            <a:r>
              <a:rPr lang="en-US" sz="1200" b="1" dirty="0"/>
              <a:t>VO:</a:t>
            </a:r>
            <a:r>
              <a:rPr lang="hi-IN" sz="1200" dirty="0"/>
              <a:t> शाबाश! अब आप नई दहाई बनाकर संख्याएँ जोड़ सकते 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TotalTime>
  <Words>3579</Words>
  <Application>Microsoft Office PowerPoint</Application>
  <PresentationFormat>Widescreen</PresentationFormat>
  <Paragraphs>345</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ADLaM Display</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Suresh Kumar</cp:lastModifiedBy>
  <cp:revision>6</cp:revision>
  <dcterms:created xsi:type="dcterms:W3CDTF">2013-01-27T09:14:16Z</dcterms:created>
  <dcterms:modified xsi:type="dcterms:W3CDTF">2026-10-06T09:51:55Z</dcterms:modified>
  <cp:category/>
</cp:coreProperties>
</file>